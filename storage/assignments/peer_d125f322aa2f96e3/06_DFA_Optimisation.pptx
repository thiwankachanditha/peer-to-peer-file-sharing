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82" r:id="rId17"/>
    <p:sldId id="256" r:id="rId18"/>
    <p:sldId id="284" r:id="rId19"/>
    <p:sldId id="285" r:id="rId20"/>
    <p:sldId id="290" r:id="rId21"/>
    <p:sldId id="291" r:id="rId22"/>
    <p:sldId id="289" r:id="rId23"/>
    <p:sldId id="292" r:id="rId24"/>
    <p:sldId id="296" r:id="rId25"/>
    <p:sldId id="297" r:id="rId26"/>
    <p:sldId id="298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71A3C-0914-463E-9479-D8AE11A2C3E8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E696E-68D0-4E01-9A9F-FA97F2B739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3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63AF28-D145-4695-BFAD-BADD749442B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0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9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0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2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7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2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7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9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05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21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10898125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704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188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530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16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8F0F4-41DE-40E3-83CB-C9E7323E1C07}" type="datetimeFigureOut">
              <a:rPr lang="en-US" smtClean="0"/>
              <a:pPr/>
              <a:t>7/16/2021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B5171-742B-4002-B1F4-BF2D88CCE0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85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bg object 18"/>
          <p:cNvSpPr/>
          <p:nvPr/>
        </p:nvSpPr>
        <p:spPr>
          <a:xfrm>
            <a:off x="9182101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0" y="0"/>
                </a:moveTo>
                <a:lnTo>
                  <a:pt x="2042483" y="0"/>
                </a:lnTo>
                <a:lnTo>
                  <a:pt x="0" y="6857996"/>
                </a:lnTo>
                <a:lnTo>
                  <a:pt x="3006850" y="6857996"/>
                </a:lnTo>
                <a:lnTo>
                  <a:pt x="300685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4" y="0"/>
                </a:moveTo>
                <a:lnTo>
                  <a:pt x="0" y="0"/>
                </a:lnTo>
                <a:lnTo>
                  <a:pt x="1208190" y="6857996"/>
                </a:lnTo>
                <a:lnTo>
                  <a:pt x="2587664" y="6857996"/>
                </a:lnTo>
                <a:lnTo>
                  <a:pt x="2587664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0" y="6857996"/>
                </a:lnTo>
                <a:lnTo>
                  <a:pt x="2851161" y="6857996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bg object 22"/>
          <p:cNvSpPr/>
          <p:nvPr/>
        </p:nvSpPr>
        <p:spPr>
          <a:xfrm>
            <a:off x="10898125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7" y="0"/>
                </a:moveTo>
                <a:lnTo>
                  <a:pt x="1018958" y="0"/>
                </a:lnTo>
                <a:lnTo>
                  <a:pt x="0" y="6857996"/>
                </a:lnTo>
                <a:lnTo>
                  <a:pt x="1290827" y="6857996"/>
                </a:lnTo>
                <a:lnTo>
                  <a:pt x="1290827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bg object 23"/>
          <p:cNvSpPr/>
          <p:nvPr/>
        </p:nvSpPr>
        <p:spPr>
          <a:xfrm>
            <a:off x="10940749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0" y="6857996"/>
                </a:lnTo>
                <a:lnTo>
                  <a:pt x="1248203" y="6857996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bg object 24"/>
          <p:cNvSpPr/>
          <p:nvPr/>
        </p:nvSpPr>
        <p:spPr>
          <a:xfrm>
            <a:off x="10372344" y="3590543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3062"/>
            <a:ext cx="550799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90C2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5510" y="2059407"/>
            <a:ext cx="10780979" cy="299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7/16/2021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76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66268" y="2544874"/>
            <a:ext cx="58103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1375" algn="l"/>
                <a:tab pos="4041775" algn="l"/>
              </a:tabLst>
            </a:pPr>
            <a:r>
              <a:rPr sz="48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Optimization</a:t>
            </a:r>
            <a:r>
              <a:rPr lang="en-US" sz="4800" b="1" spc="-5" dirty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48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of</a:t>
            </a:r>
            <a:r>
              <a:rPr lang="en-US" sz="48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48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D</a:t>
            </a:r>
            <a:r>
              <a:rPr sz="4800" b="1" spc="-36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F</a:t>
            </a:r>
            <a:r>
              <a:rPr sz="4800" b="1" spc="-5" dirty="0" smtClean="0">
                <a:solidFill>
                  <a:srgbClr val="FF0000"/>
                </a:solidFill>
                <a:latin typeface="Bell MT" panose="02020503060305020303" pitchFamily="18" charset="0"/>
                <a:cs typeface="Times New Roman"/>
              </a:rPr>
              <a:t>A</a:t>
            </a:r>
            <a:endParaRPr sz="4800" b="1" dirty="0">
              <a:solidFill>
                <a:srgbClr val="FF0000"/>
              </a:solidFill>
              <a:latin typeface="Bell MT" panose="02020503060305020303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837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610" y="140298"/>
            <a:ext cx="386331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7810" y="1365757"/>
            <a:ext cx="9349715" cy="55554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 algn="just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Minimization/optimization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 a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deterministic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finite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automaton</a:t>
            </a:r>
            <a:r>
              <a:rPr lang="en-US" sz="2400" spc="-5" dirty="0" smtClean="0">
                <a:latin typeface="Bell MT" panose="02020503060305020303" pitchFamily="18" charset="0"/>
                <a:cs typeface="Times New Roman"/>
              </a:rPr>
              <a:t> (DFA)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refers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to the 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detection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those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 a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DFA,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whose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presence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or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absence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45" dirty="0">
                <a:latin typeface="Bell MT" panose="02020503060305020303" pitchFamily="18" charset="0"/>
                <a:cs typeface="Times New Roman"/>
              </a:rPr>
              <a:t>DFA</a:t>
            </a:r>
            <a:r>
              <a:rPr sz="2400" spc="-1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does </a:t>
            </a:r>
            <a:r>
              <a:rPr sz="2400" spc="-484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not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affect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language</a:t>
            </a:r>
            <a:r>
              <a:rPr sz="2400" spc="-4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accepted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by the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automata.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469900" marR="5080" indent="-457200" algn="just">
              <a:lnSpc>
                <a:spcPct val="150000"/>
              </a:lnSpc>
              <a:spcBef>
                <a:spcPts val="105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The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that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can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be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eliminated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 from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automata,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without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affecting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 </a:t>
            </a:r>
            <a:r>
              <a:rPr sz="2400" spc="-484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language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accepted</a:t>
            </a:r>
            <a:r>
              <a:rPr lang="en-US" sz="240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by</a:t>
            </a:r>
            <a:r>
              <a:rPr sz="2400" spc="-3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automata,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are:</a:t>
            </a:r>
            <a:endParaRPr lang="en-US" sz="2400" dirty="0" smtClean="0">
              <a:latin typeface="Bell MT" panose="02020503060305020303" pitchFamily="18" charset="0"/>
              <a:cs typeface="Times New Roman"/>
            </a:endParaRPr>
          </a:p>
          <a:p>
            <a:pPr marL="1727200" marR="5080" lvl="3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Unreachable</a:t>
            </a:r>
            <a:r>
              <a:rPr sz="2400" spc="-5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or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inaccessible</a:t>
            </a:r>
            <a:r>
              <a:rPr sz="2400" spc="-4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states.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1727200" marR="5080" lvl="3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Dead</a:t>
            </a:r>
            <a:r>
              <a:rPr sz="2400" spc="-3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states.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1727200" marR="5080" lvl="3" indent="-342900" algn="just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Non-distinguishable</a:t>
            </a:r>
            <a:r>
              <a:rPr sz="2400" spc="-2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or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indistinguishable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 or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equivalent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states.</a:t>
            </a:r>
            <a:endParaRPr sz="2400" dirty="0">
              <a:latin typeface="Bell MT" panose="02020503060305020303" pitchFamily="18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70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560" y="108712"/>
            <a:ext cx="4379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Minimizing DFA’s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6310" y="2059480"/>
            <a:ext cx="6977990" cy="1529906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90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Lots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methods</a:t>
            </a:r>
            <a:r>
              <a:rPr lang="en-US" sz="2400" dirty="0" smtClean="0">
                <a:latin typeface="Bell MT" panose="02020503060305020303" pitchFamily="18" charset="0"/>
                <a:cs typeface="Times New Roman"/>
              </a:rPr>
              <a:t>.</a:t>
            </a: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All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involve finding equivalent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states</a:t>
            </a:r>
            <a:endParaRPr lang="en-US" sz="2400" dirty="0" smtClean="0">
              <a:latin typeface="Bell MT" panose="02020503060305020303" pitchFamily="18" charset="0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090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States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that go to equivalent states under all inputs</a:t>
            </a:r>
          </a:p>
        </p:txBody>
      </p:sp>
    </p:spTree>
    <p:extLst>
      <p:ext uri="{BB962C8B-B14F-4D97-AF65-F5344CB8AC3E}">
        <p14:creationId xmlns:p14="http://schemas.microsoft.com/office/powerpoint/2010/main" val="194392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235" y="118531"/>
            <a:ext cx="967356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Minimizing DFA’s by Partitioning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385" y="1565782"/>
            <a:ext cx="4968215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Consider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 following DFA: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2509" y="5613666"/>
            <a:ext cx="5273015" cy="1020792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0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sz="2400" dirty="0">
                <a:latin typeface="Bell MT" panose="02020503060305020303" pitchFamily="18" charset="0"/>
                <a:cs typeface="Times New Roman"/>
              </a:rPr>
              <a:t>Accepting states are </a:t>
            </a:r>
            <a:r>
              <a:rPr sz="2400" b="1" dirty="0" smtClean="0">
                <a:solidFill>
                  <a:srgbClr val="FFC000"/>
                </a:solidFill>
                <a:latin typeface="Bell MT" panose="02020503060305020303" pitchFamily="18" charset="0"/>
                <a:cs typeface="Times New Roman"/>
              </a:rPr>
              <a:t>yellow</a:t>
            </a:r>
            <a:endParaRPr lang="en-US" sz="2400" b="1" dirty="0" smtClean="0">
              <a:solidFill>
                <a:srgbClr val="FFC000"/>
              </a:solidFill>
              <a:latin typeface="Bell MT" panose="02020503060305020303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100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§"/>
              <a:tabLst>
                <a:tab pos="354965" algn="l"/>
                <a:tab pos="355600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Non-accepting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states are </a:t>
            </a:r>
            <a:r>
              <a:rPr sz="2400" b="1" dirty="0">
                <a:solidFill>
                  <a:srgbClr val="002060"/>
                </a:solidFill>
                <a:latin typeface="Bell MT" panose="02020503060305020303" pitchFamily="18" charset="0"/>
                <a:cs typeface="Times New Roman"/>
              </a:rPr>
              <a:t>blue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8492" y="2113026"/>
            <a:ext cx="4808208" cy="308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7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8535" y="3620998"/>
            <a:ext cx="7612990" cy="306173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b="1" spc="5" dirty="0">
                <a:solidFill>
                  <a:srgbClr val="FFC000"/>
                </a:solidFill>
                <a:latin typeface="Bell MT" panose="02020503060305020303" pitchFamily="18" charset="0"/>
                <a:cs typeface="Times New Roman"/>
              </a:rPr>
              <a:t>S</a:t>
            </a:r>
            <a:r>
              <a:rPr sz="2400" b="1" spc="7" baseline="-21367" dirty="0">
                <a:solidFill>
                  <a:srgbClr val="FFC000"/>
                </a:solidFill>
                <a:latin typeface="Bell MT" panose="02020503060305020303" pitchFamily="18" charset="0"/>
                <a:cs typeface="Times New Roman"/>
              </a:rPr>
              <a:t>2</a:t>
            </a:r>
            <a:r>
              <a:rPr sz="2400" spc="-7" baseline="-21367" dirty="0">
                <a:solidFill>
                  <a:srgbClr val="FFFF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and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b="1" spc="5" dirty="0">
                <a:solidFill>
                  <a:srgbClr val="FFC000"/>
                </a:solidFill>
                <a:latin typeface="Bell MT" panose="02020503060305020303" pitchFamily="18" charset="0"/>
                <a:cs typeface="Times New Roman"/>
              </a:rPr>
              <a:t>S</a:t>
            </a:r>
            <a:r>
              <a:rPr sz="2400" b="1" spc="7" baseline="-21367" dirty="0">
                <a:solidFill>
                  <a:srgbClr val="FFC000"/>
                </a:solidFill>
                <a:latin typeface="Bell MT" panose="02020503060305020303" pitchFamily="18" charset="0"/>
                <a:cs typeface="Times New Roman"/>
              </a:rPr>
              <a:t>7</a:t>
            </a:r>
            <a:r>
              <a:rPr sz="2400" b="1" baseline="-21367" dirty="0">
                <a:solidFill>
                  <a:srgbClr val="FFFF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are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really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same: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1295400" lvl="2" indent="-342900"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Both</a:t>
            </a:r>
            <a:r>
              <a:rPr sz="2400" spc="-2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Final</a:t>
            </a:r>
            <a:r>
              <a:rPr sz="2400" spc="-4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states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1295400" lvl="2" indent="-342900"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Both</a:t>
            </a:r>
            <a:r>
              <a:rPr sz="2400" spc="-1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go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to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b="1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S6</a:t>
            </a:r>
            <a:r>
              <a:rPr sz="2400" spc="-20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under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input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i="1" dirty="0" smtClean="0">
                <a:latin typeface="Bell MT" panose="02020503060305020303" pitchFamily="18" charset="0"/>
                <a:cs typeface="Times New Roman"/>
              </a:rPr>
              <a:t>b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1295400" lvl="2" indent="-342900"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Both</a:t>
            </a:r>
            <a:r>
              <a:rPr sz="2400" spc="-2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go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to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b="1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S3</a:t>
            </a:r>
            <a:r>
              <a:rPr sz="2400" spc="-20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under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an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i="1" dirty="0" smtClean="0">
                <a:latin typeface="Bell MT" panose="02020503060305020303" pitchFamily="18" charset="0"/>
                <a:cs typeface="Times New Roman"/>
              </a:rPr>
              <a:t>a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381000" indent="-342900"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b="1" dirty="0" smtClean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S0</a:t>
            </a:r>
            <a:r>
              <a:rPr lang="en-US" sz="2400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and</a:t>
            </a:r>
            <a:r>
              <a:rPr sz="2400" spc="-2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b="1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S5</a:t>
            </a:r>
            <a:r>
              <a:rPr sz="2400" spc="475" dirty="0">
                <a:solidFill>
                  <a:srgbClr val="0066FF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really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same.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381000" indent="-342900">
              <a:spcBef>
                <a:spcPts val="1095"/>
              </a:spcBef>
              <a:buClr>
                <a:schemeClr val="tx1">
                  <a:lumMod val="95000"/>
                  <a:lumOff val="5000"/>
                </a:schemeClr>
              </a:buClr>
              <a:buSzPct val="80000"/>
              <a:buFont typeface="Wingdings" panose="05000000000000000000" pitchFamily="2" charset="2"/>
              <a:buChar char="Ø"/>
              <a:tabLst>
                <a:tab pos="380365" algn="l"/>
                <a:tab pos="381000" algn="l"/>
              </a:tabLst>
            </a:pPr>
            <a:r>
              <a:rPr sz="2400" spc="-70" dirty="0" smtClean="0">
                <a:latin typeface="Bell MT" panose="02020503060305020303" pitchFamily="18" charset="0"/>
                <a:cs typeface="Times New Roman"/>
              </a:rPr>
              <a:t>We</a:t>
            </a:r>
            <a:r>
              <a:rPr sz="2400" spc="-3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can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merge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 equivalent</a:t>
            </a:r>
            <a:r>
              <a:rPr sz="2400" spc="-5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into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1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165" y="455082"/>
            <a:ext cx="4740960" cy="257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5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272" y="6185"/>
            <a:ext cx="592745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5427" y="1608175"/>
            <a:ext cx="5059680" cy="20896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  <a:tabLst>
                <a:tab pos="3549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First</a:t>
            </a:r>
            <a:r>
              <a:rPr lang="en-US" sz="2400" dirty="0" smtClean="0">
                <a:latin typeface="Bell MT" panose="02020503060305020303" pitchFamily="18" charset="0"/>
                <a:cs typeface="Times New Roman"/>
              </a:rPr>
              <a:t>, d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ivide</a:t>
            </a:r>
            <a:r>
              <a:rPr sz="2400" spc="-3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set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into</a:t>
            </a:r>
          </a:p>
          <a:p>
            <a:pPr marL="927100">
              <a:lnSpc>
                <a:spcPct val="100000"/>
              </a:lnSpc>
              <a:spcBef>
                <a:spcPts val="530"/>
              </a:spcBef>
            </a:pPr>
            <a:r>
              <a:rPr sz="2400" spc="-155" dirty="0">
                <a:solidFill>
                  <a:srgbClr val="90C225"/>
                </a:solidFill>
                <a:latin typeface="Bell MT" panose="02020503060305020303" pitchFamily="18" charset="0"/>
                <a:cs typeface="Lucida Sans Unicode"/>
              </a:rPr>
              <a:t>▶</a:t>
            </a:r>
            <a:r>
              <a:rPr sz="2400" spc="-114" dirty="0">
                <a:solidFill>
                  <a:srgbClr val="90C225"/>
                </a:solidFill>
                <a:latin typeface="Bell MT" panose="02020503060305020303" pitchFamily="18" charset="0"/>
                <a:cs typeface="Lucida Sans Unicode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Final</a:t>
            </a:r>
            <a:r>
              <a:rPr sz="2400" spc="-3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and</a:t>
            </a:r>
          </a:p>
          <a:p>
            <a:pPr marL="927100">
              <a:lnSpc>
                <a:spcPct val="100000"/>
              </a:lnSpc>
              <a:spcBef>
                <a:spcPts val="515"/>
              </a:spcBef>
            </a:pPr>
            <a:r>
              <a:rPr sz="2400" spc="-160" dirty="0">
                <a:solidFill>
                  <a:srgbClr val="90C225"/>
                </a:solidFill>
                <a:latin typeface="Bell MT" panose="02020503060305020303" pitchFamily="18" charset="0"/>
                <a:cs typeface="Lucida Sans Unicode"/>
              </a:rPr>
              <a:t>▶</a:t>
            </a:r>
            <a:r>
              <a:rPr sz="2400" spc="-110" dirty="0">
                <a:solidFill>
                  <a:srgbClr val="90C225"/>
                </a:solidFill>
                <a:latin typeface="Bell MT" panose="02020503060305020303" pitchFamily="18" charset="0"/>
                <a:cs typeface="Lucida Sans Unicode"/>
              </a:rPr>
              <a:t> 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Non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-fi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n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al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st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a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e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s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5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000" b="1" dirty="0">
                <a:solidFill>
                  <a:srgbClr val="0066FF"/>
                </a:solidFill>
                <a:latin typeface="Times New Roman"/>
                <a:cs typeface="Times New Roman"/>
              </a:rPr>
              <a:t>Partition</a:t>
            </a:r>
            <a:r>
              <a:rPr sz="2000" b="1" spc="-6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6FF"/>
                </a:solidFill>
                <a:latin typeface="Times New Roman"/>
                <a:cs typeface="Times New Roman"/>
              </a:rPr>
              <a:t>I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4085" y="5625185"/>
            <a:ext cx="12585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C000"/>
                </a:solidFill>
                <a:latin typeface="Times New Roman"/>
                <a:cs typeface="Times New Roman"/>
              </a:rPr>
              <a:t>Partition</a:t>
            </a:r>
            <a:r>
              <a:rPr sz="2000" b="1" spc="-105" dirty="0">
                <a:solidFill>
                  <a:srgbClr val="FFC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II</a:t>
            </a:r>
            <a:endParaRPr sz="2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076238"/>
              </p:ext>
            </p:extLst>
          </p:nvPr>
        </p:nvGraphicFramePr>
        <p:xfrm>
          <a:off x="5623496" y="1582737"/>
          <a:ext cx="4038600" cy="46666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4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4932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5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541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41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566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*S</a:t>
                      </a:r>
                      <a:r>
                        <a:rPr sz="2775" b="1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775" baseline="-25525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51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*S</a:t>
                      </a:r>
                      <a:r>
                        <a:rPr sz="2775" b="1" spc="7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775" baseline="-25525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900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C0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 dirty="0">
                        <a:solidFill>
                          <a:srgbClr val="FFC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79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057" y="135612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3046" y="1577714"/>
            <a:ext cx="5245735" cy="326371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10"/>
              </a:spcBef>
              <a:tabLst>
                <a:tab pos="405765" algn="l"/>
              </a:tabLst>
            </a:pPr>
            <a:r>
              <a:rPr sz="2400" spc="5" dirty="0" smtClean="0">
                <a:latin typeface="Bell MT" panose="02020503060305020303" pitchFamily="18" charset="0"/>
                <a:cs typeface="Times New Roman"/>
              </a:rPr>
              <a:t>Now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05765" algn="l"/>
              </a:tabLst>
            </a:pPr>
            <a:r>
              <a:rPr sz="2400" dirty="0" smtClean="0">
                <a:latin typeface="Bell MT" panose="02020503060305020303" pitchFamily="18" charset="0"/>
                <a:cs typeface="Times New Roman"/>
              </a:rPr>
              <a:t>See</a:t>
            </a:r>
            <a:r>
              <a:rPr sz="2400" spc="-1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if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each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partition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each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go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to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the</a:t>
            </a:r>
            <a:r>
              <a:rPr lang="en-US" sz="240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same</a:t>
            </a:r>
            <a:r>
              <a:rPr sz="2400" spc="-2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partition</a:t>
            </a:r>
            <a:endParaRPr lang="en-US" sz="2400" dirty="0">
              <a:latin typeface="Bell MT" panose="02020503060305020303" pitchFamily="18" charset="0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05765" algn="l"/>
              </a:tabLst>
            </a:pPr>
            <a:r>
              <a:rPr sz="2400" spc="5" dirty="0" smtClean="0">
                <a:latin typeface="Bell MT" panose="02020503060305020303" pitchFamily="18" charset="0"/>
                <a:cs typeface="Times New Roman"/>
              </a:rPr>
              <a:t>S</a:t>
            </a:r>
            <a:r>
              <a:rPr sz="2400" spc="7" baseline="-25641" dirty="0" smtClean="0">
                <a:latin typeface="Bell MT" panose="02020503060305020303" pitchFamily="18" charset="0"/>
                <a:cs typeface="Times New Roman"/>
              </a:rPr>
              <a:t>1</a:t>
            </a:r>
            <a:r>
              <a:rPr sz="2400" baseline="-25641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&amp;</a:t>
            </a:r>
            <a:r>
              <a:rPr sz="2400" spc="-17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5" dirty="0">
                <a:latin typeface="Bell MT" panose="02020503060305020303" pitchFamily="18" charset="0"/>
                <a:cs typeface="Times New Roman"/>
              </a:rPr>
              <a:t>S</a:t>
            </a:r>
            <a:r>
              <a:rPr sz="2400" spc="7" baseline="-25641" dirty="0">
                <a:latin typeface="Bell MT" panose="02020503060305020303" pitchFamily="18" charset="0"/>
                <a:cs typeface="Times New Roman"/>
              </a:rPr>
              <a:t>6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are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different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from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</a:t>
            </a:r>
            <a:r>
              <a:rPr sz="2400" spc="-1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rest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of the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states </a:t>
            </a:r>
            <a:r>
              <a:rPr sz="2400" spc="-484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in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Partition</a:t>
            </a:r>
            <a:r>
              <a:rPr sz="2400" spc="-4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I(but</a:t>
            </a:r>
            <a:r>
              <a:rPr sz="24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like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each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 smtClean="0">
                <a:latin typeface="Bell MT" panose="02020503060305020303" pitchFamily="18" charset="0"/>
                <a:cs typeface="Times New Roman"/>
              </a:rPr>
              <a:t>other)</a:t>
            </a:r>
            <a:endParaRPr lang="en-US" sz="2400" dirty="0" smtClean="0">
              <a:latin typeface="Bell MT" panose="02020503060305020303" pitchFamily="18" charset="0"/>
              <a:cs typeface="Times New Roman"/>
            </a:endParaRPr>
          </a:p>
          <a:p>
            <a:pPr marL="4064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405765" algn="l"/>
              </a:tabLst>
            </a:pPr>
            <a:r>
              <a:rPr sz="2400" spc="-70" dirty="0" smtClean="0">
                <a:latin typeface="Bell MT" panose="02020503060305020303" pitchFamily="18" charset="0"/>
                <a:cs typeface="Times New Roman"/>
              </a:rPr>
              <a:t>We</a:t>
            </a:r>
            <a:r>
              <a:rPr sz="2400" spc="-3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will</a:t>
            </a:r>
            <a:r>
              <a:rPr sz="2400" spc="-20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move</a:t>
            </a:r>
            <a:r>
              <a:rPr sz="24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them</a:t>
            </a:r>
            <a:r>
              <a:rPr sz="24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dirty="0">
                <a:latin typeface="Bell MT" panose="02020503060305020303" pitchFamily="18" charset="0"/>
                <a:cs typeface="Times New Roman"/>
              </a:rPr>
              <a:t>to </a:t>
            </a:r>
            <a:r>
              <a:rPr sz="2400" dirty="0">
                <a:solidFill>
                  <a:srgbClr val="00CC00"/>
                </a:solidFill>
                <a:latin typeface="Bell MT" panose="02020503060305020303" pitchFamily="18" charset="0"/>
                <a:cs typeface="Times New Roman"/>
              </a:rPr>
              <a:t>their</a:t>
            </a:r>
            <a:r>
              <a:rPr sz="2400" spc="-30" dirty="0">
                <a:solidFill>
                  <a:srgbClr val="00CC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5" dirty="0">
                <a:solidFill>
                  <a:srgbClr val="00CC00"/>
                </a:solidFill>
                <a:latin typeface="Bell MT" panose="02020503060305020303" pitchFamily="18" charset="0"/>
                <a:cs typeface="Times New Roman"/>
              </a:rPr>
              <a:t>own</a:t>
            </a:r>
            <a:r>
              <a:rPr sz="2400" spc="-15" dirty="0">
                <a:solidFill>
                  <a:srgbClr val="00CC00"/>
                </a:solidFill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>
                <a:solidFill>
                  <a:srgbClr val="00CC00"/>
                </a:solidFill>
                <a:latin typeface="Bell MT" panose="02020503060305020303" pitchFamily="18" charset="0"/>
                <a:cs typeface="Times New Roman"/>
              </a:rPr>
              <a:t>partition</a:t>
            </a:r>
            <a:endParaRPr sz="2400" dirty="0">
              <a:latin typeface="Bell MT" panose="02020503060305020303" pitchFamily="18" charset="0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848985"/>
              </p:ext>
            </p:extLst>
          </p:nvPr>
        </p:nvGraphicFramePr>
        <p:xfrm>
          <a:off x="6166548" y="1315402"/>
          <a:ext cx="4038600" cy="5175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2800" b="1" spc="-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 dirty="0">
                        <a:solidFill>
                          <a:srgbClr val="C0000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i="1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i="1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i="1" spc="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i="1" spc="7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5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i="1" spc="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i="1" spc="7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2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1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i="1" spc="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i="1" spc="7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i="1" spc="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i="1" spc="7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i="1" spc="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i="1" spc="7" baseline="-25525" dirty="0">
                          <a:solidFill>
                            <a:srgbClr val="6699FF"/>
                          </a:solidFill>
                          <a:latin typeface="Times New Roman"/>
                          <a:cs typeface="Times New Roman"/>
                        </a:rPr>
                        <a:t>7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0274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6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6	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85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8482" y="0"/>
            <a:ext cx="708140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123496"/>
              </p:ext>
            </p:extLst>
          </p:nvPr>
        </p:nvGraphicFramePr>
        <p:xfrm>
          <a:off x="3012249" y="1805876"/>
          <a:ext cx="4114800" cy="46787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472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S2</a:t>
                      </a: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S7</a:t>
                      </a: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1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440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41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48145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5365" y="1611693"/>
            <a:ext cx="4743449" cy="2894382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10"/>
              </a:spcBef>
              <a:tabLst>
                <a:tab pos="3803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Now again</a:t>
            </a:r>
            <a:endParaRPr lang="en-US" sz="2400" spc="-5" dirty="0" smtClean="0">
              <a:latin typeface="Bell MT" panose="02020503060305020303" pitchFamily="18" charset="0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See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if states in each partition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each</a:t>
            </a:r>
            <a:r>
              <a:rPr lang="en-US" sz="2400" spc="-5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go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to the same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partition</a:t>
            </a:r>
            <a:endParaRPr lang="en-US" sz="2400" spc="-5" dirty="0" smtClean="0">
              <a:latin typeface="Bell MT" panose="02020503060305020303" pitchFamily="18" charset="0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In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Partition I, S3 goes  to a different partition  from S0, S5  and </a:t>
            </a: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S4</a:t>
            </a:r>
            <a:endParaRPr lang="en-US" sz="2400" spc="-5" dirty="0" smtClean="0">
              <a:latin typeface="Bell MT" panose="02020503060305020303" pitchFamily="18" charset="0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610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sz="2400" spc="-5" dirty="0" smtClean="0">
                <a:latin typeface="Bell MT" panose="02020503060305020303" pitchFamily="18" charset="0"/>
                <a:cs typeface="Times New Roman"/>
              </a:rPr>
              <a:t>We’ll </a:t>
            </a:r>
            <a:r>
              <a:rPr sz="2400" spc="-5" dirty="0">
                <a:latin typeface="Bell MT" panose="02020503060305020303" pitchFamily="18" charset="0"/>
                <a:cs typeface="Times New Roman"/>
              </a:rPr>
              <a:t>move S3 to its own partition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749455"/>
              </p:ext>
            </p:extLst>
          </p:nvPr>
        </p:nvGraphicFramePr>
        <p:xfrm>
          <a:off x="6153594" y="1611693"/>
          <a:ext cx="4038600" cy="4663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sz="2775" b="1" spc="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III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S2</a:t>
                      </a:r>
                      <a:r>
                        <a:rPr lang="en-US"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</a:t>
                      </a:r>
                      <a:r>
                        <a:rPr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S7 </a:t>
                      </a:r>
                      <a:r>
                        <a:rPr lang="en-US"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34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en-US" sz="2775" b="1" spc="7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en-US" sz="2775" b="1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sz="2800" b="1" kern="1200" spc="-5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5"/>
                        </a:spcBef>
                        <a:tabLst>
                          <a:tab pos="724535" algn="l"/>
                        </a:tabLst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kern="1200" spc="-5" dirty="0" smtClean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Arial"/>
                        </a:rPr>
                        <a:t>III</a:t>
                      </a:r>
                      <a:endParaRPr sz="2800" b="1" kern="1200" spc="-5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28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3989" y="62737"/>
            <a:ext cx="725285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4560" y="2133345"/>
            <a:ext cx="301180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latin typeface="Bell MT" panose="02020503060305020303" pitchFamily="18" charset="0"/>
                <a:cs typeface="Times New Roman"/>
              </a:rPr>
              <a:t>Note</a:t>
            </a:r>
            <a:r>
              <a:rPr sz="28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changes</a:t>
            </a:r>
            <a:r>
              <a:rPr sz="2800" spc="-3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in</a:t>
            </a:r>
            <a:r>
              <a:rPr sz="2800" spc="-1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10" dirty="0">
                <a:latin typeface="Bell MT" panose="02020503060305020303" pitchFamily="18" charset="0"/>
                <a:cs typeface="Times New Roman"/>
              </a:rPr>
              <a:t>S</a:t>
            </a:r>
            <a:r>
              <a:rPr sz="2800" spc="15" baseline="-21367" dirty="0">
                <a:latin typeface="Bell MT" panose="02020503060305020303" pitchFamily="18" charset="0"/>
                <a:cs typeface="Times New Roman"/>
              </a:rPr>
              <a:t>6,</a:t>
            </a:r>
            <a:r>
              <a:rPr sz="2800" spc="-7" baseline="-21367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5" dirty="0">
                <a:latin typeface="Bell MT" panose="02020503060305020303" pitchFamily="18" charset="0"/>
                <a:cs typeface="Times New Roman"/>
              </a:rPr>
              <a:t>S</a:t>
            </a:r>
            <a:r>
              <a:rPr sz="2800" spc="7" baseline="-21367" dirty="0">
                <a:latin typeface="Bell MT" panose="02020503060305020303" pitchFamily="18" charset="0"/>
                <a:cs typeface="Times New Roman"/>
              </a:rPr>
              <a:t>2 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and</a:t>
            </a:r>
            <a:r>
              <a:rPr sz="2800" spc="-25" dirty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spc="5" dirty="0">
                <a:latin typeface="Bell MT" panose="02020503060305020303" pitchFamily="18" charset="0"/>
                <a:cs typeface="Times New Roman"/>
              </a:rPr>
              <a:t>S</a:t>
            </a:r>
            <a:r>
              <a:rPr sz="2800" spc="7" baseline="-21367" dirty="0">
                <a:latin typeface="Bell MT" panose="02020503060305020303" pitchFamily="18" charset="0"/>
                <a:cs typeface="Times New Roman"/>
              </a:rPr>
              <a:t>7</a:t>
            </a:r>
            <a:endParaRPr sz="2800" baseline="-21367" dirty="0">
              <a:latin typeface="Bell MT" panose="02020503060305020303" pitchFamily="18" charset="0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911738"/>
              </p:ext>
            </p:extLst>
          </p:nvPr>
        </p:nvGraphicFramePr>
        <p:xfrm>
          <a:off x="6037770" y="1818830"/>
          <a:ext cx="4038600" cy="4663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spc="-5" dirty="0" smtClean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spc="-5" dirty="0" smtClean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spc="-5" dirty="0" smtClean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spc="-5" dirty="0" smtClean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spc="-5" dirty="0" smtClean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spc="-5" dirty="0" smtClean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775" baseline="-25525" dirty="0">
                        <a:solidFill>
                          <a:srgbClr val="7030A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775" b="1" spc="-44" baseline="-25525" dirty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b="1" spc="-5" dirty="0" smtClean="0">
                          <a:solidFill>
                            <a:srgbClr val="7030A0"/>
                          </a:solidFill>
                          <a:latin typeface="Arial"/>
                          <a:cs typeface="Arial"/>
                        </a:rPr>
                        <a:t>IV</a:t>
                      </a:r>
                      <a:endParaRPr sz="2800" dirty="0">
                        <a:solidFill>
                          <a:srgbClr val="7030A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 smtClean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 smtClean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en-US" sz="2775" b="1" spc="7" baseline="-25525" dirty="0" smtClean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775" b="1" spc="-44" baseline="-25525" dirty="0" smtClean="0">
                          <a:solidFill>
                            <a:srgbClr val="7030A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7030A0"/>
                          </a:solidFill>
                          <a:latin typeface="Arial"/>
                          <a:cs typeface="Arial"/>
                        </a:rPr>
                        <a:t>IV</a:t>
                      </a:r>
                      <a:endParaRPr sz="2800" dirty="0">
                        <a:solidFill>
                          <a:srgbClr val="7030A0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44" baseline="-25525" dirty="0" smtClean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spc="-5" dirty="0" smtClean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S2 </a:t>
                      </a:r>
                      <a:r>
                        <a:rPr lang="en-US"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</a:t>
                      </a:r>
                      <a:r>
                        <a:rPr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II</a:t>
                      </a:r>
                      <a:endParaRPr sz="2800" b="1" kern="1200" spc="5" dirty="0">
                        <a:solidFill>
                          <a:srgbClr val="FFC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</a:t>
                      </a:r>
                      <a:r>
                        <a:rPr lang="en-US"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 </a:t>
                      </a:r>
                      <a:r>
                        <a:rPr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  <a:endParaRPr sz="2800" b="1" kern="1200" spc="5" dirty="0">
                        <a:solidFill>
                          <a:srgbClr val="7030A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S7</a:t>
                      </a:r>
                      <a:r>
                        <a:rPr lang="en-US"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</a:t>
                      </a:r>
                      <a:r>
                        <a:rPr sz="2800" b="1" kern="1200" spc="5" dirty="0" smtClean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34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</a:t>
                      </a:r>
                      <a:r>
                        <a:rPr lang="en-US"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 </a:t>
                      </a:r>
                      <a:r>
                        <a:rPr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  <a:endParaRPr sz="2800" b="1" kern="1200" spc="5" dirty="0">
                        <a:solidFill>
                          <a:srgbClr val="7030A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lang="en-US" sz="2775" b="1" spc="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</a:t>
                      </a:r>
                      <a:r>
                        <a:rPr lang="en-US"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  </a:t>
                      </a:r>
                      <a:r>
                        <a:rPr sz="2800" b="1" kern="1200" spc="5" dirty="0" smtClean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  <a:endParaRPr sz="2800" b="1" kern="1200" spc="5" dirty="0">
                        <a:solidFill>
                          <a:srgbClr val="7030A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2775" b="1" spc="-37" baseline="-25525" dirty="0" smtClean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sz="2800" b="1" spc="-5" dirty="0" smtClean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09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8544" y="0"/>
            <a:ext cx="717121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4389" y="2032619"/>
            <a:ext cx="5596411" cy="26500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sz="2800" dirty="0" smtClean="0">
                <a:latin typeface="Bell MT" panose="02020503060305020303" pitchFamily="18" charset="0"/>
                <a:cs typeface="Times New Roman"/>
              </a:rPr>
              <a:t>Now 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S6 goes to a different partition on </a:t>
            </a:r>
            <a:r>
              <a:rPr sz="2800" dirty="0" smtClean="0">
                <a:latin typeface="Bell MT" panose="02020503060305020303" pitchFamily="18" charset="0"/>
                <a:cs typeface="Times New Roman"/>
              </a:rPr>
              <a:t>an</a:t>
            </a:r>
            <a:r>
              <a:rPr lang="en-US" sz="2800" dirty="0" smtClean="0">
                <a:latin typeface="Bell MT" panose="02020503060305020303" pitchFamily="18" charset="0"/>
                <a:cs typeface="Times New Roman"/>
              </a:rPr>
              <a:t> </a:t>
            </a:r>
            <a:r>
              <a:rPr sz="2800" dirty="0" smtClean="0">
                <a:latin typeface="Bell MT" panose="02020503060305020303" pitchFamily="18" charset="0"/>
                <a:cs typeface="Times New Roman"/>
              </a:rPr>
              <a:t>a 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from </a:t>
            </a:r>
            <a:r>
              <a:rPr sz="2800" dirty="0" smtClean="0">
                <a:latin typeface="Bell MT" panose="02020503060305020303" pitchFamily="18" charset="0"/>
                <a:cs typeface="Times New Roman"/>
              </a:rPr>
              <a:t>S1</a:t>
            </a:r>
            <a:endParaRPr lang="en-US" sz="2800" dirty="0" smtClean="0">
              <a:latin typeface="Bell MT" panose="02020503060305020303" pitchFamily="18" charset="0"/>
              <a:cs typeface="Times New Roman"/>
            </a:endParaRPr>
          </a:p>
          <a:p>
            <a:pPr marL="952500" lvl="1" indent="-4572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lang="en-US" sz="2800" dirty="0">
                <a:latin typeface="Bell MT" panose="02020503060305020303" pitchFamily="18" charset="0"/>
                <a:cs typeface="Times New Roman"/>
              </a:rPr>
              <a:t>S</a:t>
            </a:r>
            <a:r>
              <a:rPr lang="en-US" sz="2800" baseline="-25000" dirty="0">
                <a:latin typeface="Bell MT" panose="02020503060305020303" pitchFamily="18" charset="0"/>
                <a:cs typeface="Times New Roman"/>
              </a:rPr>
              <a:t>6</a:t>
            </a:r>
            <a:r>
              <a:rPr lang="en-US" sz="2800" dirty="0">
                <a:latin typeface="Bell MT" panose="02020503060305020303" pitchFamily="18" charset="0"/>
                <a:cs typeface="Times New Roman"/>
              </a:rPr>
              <a:t>gets its own partition</a:t>
            </a:r>
          </a:p>
          <a:p>
            <a:pPr marL="952500" lvl="1" indent="-4572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lang="en-US" sz="2800" dirty="0">
                <a:latin typeface="Bell MT" panose="02020503060305020303" pitchFamily="18" charset="0"/>
                <a:cs typeface="Times New Roman"/>
              </a:rPr>
              <a:t>We now have 5 partitions</a:t>
            </a:r>
          </a:p>
          <a:p>
            <a:pPr marL="952500" lvl="1" indent="-4572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r>
              <a:rPr lang="en-US" sz="2800" dirty="0">
                <a:latin typeface="Bell MT" panose="02020503060305020303" pitchFamily="18" charset="0"/>
                <a:cs typeface="Times New Roman"/>
              </a:rPr>
              <a:t>Note changes in S</a:t>
            </a:r>
            <a:r>
              <a:rPr lang="en-US" sz="2800" baseline="-25000" dirty="0">
                <a:latin typeface="Bell MT" panose="02020503060305020303" pitchFamily="18" charset="0"/>
                <a:cs typeface="Times New Roman"/>
              </a:rPr>
              <a:t>2</a:t>
            </a:r>
            <a:r>
              <a:rPr lang="en-US" sz="2800" dirty="0">
                <a:latin typeface="Bell MT" panose="02020503060305020303" pitchFamily="18" charset="0"/>
                <a:cs typeface="Times New Roman"/>
              </a:rPr>
              <a:t> and S</a:t>
            </a:r>
            <a:r>
              <a:rPr lang="en-US" sz="2800" baseline="-25000" dirty="0">
                <a:latin typeface="Bell MT" panose="02020503060305020303" pitchFamily="18" charset="0"/>
                <a:cs typeface="Times New Roman"/>
              </a:rPr>
              <a:t>7</a:t>
            </a:r>
          </a:p>
          <a:p>
            <a:pPr marL="952500" lvl="1" indent="-45720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80365" algn="l"/>
              </a:tabLst>
            </a:pPr>
            <a:endParaRPr sz="2800" dirty="0">
              <a:latin typeface="Bell MT" panose="02020503060305020303" pitchFamily="18" charset="0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34449"/>
              </p:ext>
            </p:extLst>
          </p:nvPr>
        </p:nvGraphicFramePr>
        <p:xfrm>
          <a:off x="7270832" y="1722335"/>
          <a:ext cx="4114800" cy="46634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3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775" b="1" spc="-3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S2 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S7 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44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3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81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4154" y="0"/>
            <a:ext cx="702425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6310" y="2159254"/>
            <a:ext cx="5815940" cy="18652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90C225"/>
                </a:solidFill>
                <a:latin typeface="Lucida Sans Unicode"/>
                <a:cs typeface="Lucida Sans Unicode"/>
              </a:rPr>
              <a:t>▶	</a:t>
            </a:r>
            <a:r>
              <a:rPr sz="2800" dirty="0">
                <a:latin typeface="Bell MT" panose="02020503060305020303" pitchFamily="18" charset="0"/>
                <a:cs typeface="Times New Roman"/>
              </a:rPr>
              <a:t>All states within each of the 5 partitions are  identical.</a:t>
            </a:r>
          </a:p>
          <a:p>
            <a:pPr marL="355600" marR="83185" indent="-3429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2800" dirty="0">
                <a:latin typeface="Bell MT" panose="02020503060305020303" pitchFamily="18" charset="0"/>
                <a:cs typeface="Times New Roman"/>
              </a:rPr>
              <a:t>▶	We might as well call the states I, II III, IV  and V.</a:t>
            </a:r>
          </a:p>
        </p:txBody>
      </p:sp>
      <p:graphicFrame>
        <p:nvGraphicFramePr>
          <p:cNvPr id="6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26495"/>
              </p:ext>
            </p:extLst>
          </p:nvPr>
        </p:nvGraphicFramePr>
        <p:xfrm>
          <a:off x="7270832" y="1722335"/>
          <a:ext cx="4114800" cy="46634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3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775" b="1" spc="-37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800" b="1" spc="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775" b="1" spc="-44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775" b="1" spc="-37" baseline="-25525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S2 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775" baseline="-25525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S7 II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*S2</a:t>
                      </a: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spc="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spc="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44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*S7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S3 IV</a:t>
                      </a: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75" b="1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775" b="1" spc="-37" baseline="-25525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5823" y="0"/>
            <a:ext cx="853464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6310" y="2184907"/>
            <a:ext cx="15963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-160" dirty="0">
                <a:solidFill>
                  <a:srgbClr val="90C225"/>
                </a:solidFill>
                <a:latin typeface="Lucida Sans Unicode"/>
                <a:cs typeface="Lucida Sans Unicode"/>
              </a:rPr>
              <a:t>▶	</a:t>
            </a:r>
            <a:r>
              <a:rPr sz="2000" dirty="0">
                <a:latin typeface="Times New Roman"/>
                <a:cs typeface="Times New Roman"/>
              </a:rPr>
              <a:t>Here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are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888545"/>
              </p:ext>
            </p:extLst>
          </p:nvPr>
        </p:nvGraphicFramePr>
        <p:xfrm>
          <a:off x="3146361" y="2791650"/>
          <a:ext cx="4038600" cy="3621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a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i="1" dirty="0">
                          <a:latin typeface="Arial"/>
                          <a:cs typeface="Arial"/>
                        </a:rPr>
                        <a:t>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spc="-5" dirty="0">
                          <a:solidFill>
                            <a:srgbClr val="00CC00"/>
                          </a:solidFill>
                          <a:latin typeface="Arial"/>
                          <a:cs typeface="Arial"/>
                        </a:rPr>
                        <a:t>III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*II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800" b="1" spc="-5" dirty="0">
                          <a:solidFill>
                            <a:srgbClr val="00CC00"/>
                          </a:solidFill>
                          <a:latin typeface="Times New Roman"/>
                          <a:cs typeface="Times New Roman"/>
                        </a:rPr>
                        <a:t>III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dirty="0">
                          <a:solidFill>
                            <a:srgbClr val="0066FF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13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II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</a:p>
                  </a:txBody>
                  <a:tcPr marL="0" marR="0" marT="336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024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Times New Roman"/>
                          <a:cs typeface="Times New Roman"/>
                        </a:rPr>
                        <a:t>V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 defTabSz="914400" rtl="0" eaLnBrk="1" latinLnBrk="0" hangingPunct="1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800" b="1" kern="1200" spc="5" dirty="0">
                          <a:solidFill>
                            <a:srgbClr val="7030A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IV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kern="1200" spc="5" dirty="0">
                          <a:solidFill>
                            <a:srgbClr val="FFC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II</a:t>
                      </a: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34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310" y="977264"/>
            <a:ext cx="20351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000" b="0" spc="-5" dirty="0" smtClean="0">
                <a:solidFill>
                  <a:srgbClr val="000000"/>
                </a:solidFill>
                <a:latin typeface="Times New Roman"/>
                <a:cs typeface="Times New Roman"/>
              </a:rPr>
              <a:t>Minimized</a:t>
            </a:r>
            <a:r>
              <a:rPr sz="2000" b="0" spc="-6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000" b="0" spc="-50" dirty="0">
                <a:solidFill>
                  <a:srgbClr val="000000"/>
                </a:solidFill>
                <a:latin typeface="Times New Roman"/>
                <a:cs typeface="Times New Roman"/>
              </a:rPr>
              <a:t>DFA</a:t>
            </a:r>
            <a:endParaRPr sz="20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6080" y="2238736"/>
            <a:ext cx="4354830" cy="2686050"/>
            <a:chOff x="2976080" y="2238736"/>
            <a:chExt cx="4354830" cy="2686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6080" y="2238736"/>
              <a:ext cx="2839307" cy="26857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74896" y="3178301"/>
              <a:ext cx="1307465" cy="1082040"/>
            </a:xfrm>
            <a:custGeom>
              <a:avLst/>
              <a:gdLst/>
              <a:ahLst/>
              <a:cxnLst/>
              <a:rect l="l" t="t" r="r" b="b"/>
              <a:pathLst>
                <a:path w="1307464" h="1082039">
                  <a:moveTo>
                    <a:pt x="1207101" y="58006"/>
                  </a:moveTo>
                  <a:lnTo>
                    <a:pt x="0" y="1052068"/>
                  </a:lnTo>
                  <a:lnTo>
                    <a:pt x="24129" y="1081532"/>
                  </a:lnTo>
                  <a:lnTo>
                    <a:pt x="1231302" y="87412"/>
                  </a:lnTo>
                  <a:lnTo>
                    <a:pt x="1207101" y="58006"/>
                  </a:lnTo>
                  <a:close/>
                </a:path>
                <a:path w="1307464" h="1082039">
                  <a:moveTo>
                    <a:pt x="1287083" y="45847"/>
                  </a:moveTo>
                  <a:lnTo>
                    <a:pt x="1221866" y="45847"/>
                  </a:lnTo>
                  <a:lnTo>
                    <a:pt x="1245997" y="75311"/>
                  </a:lnTo>
                  <a:lnTo>
                    <a:pt x="1231302" y="87412"/>
                  </a:lnTo>
                  <a:lnTo>
                    <a:pt x="1255522" y="116839"/>
                  </a:lnTo>
                  <a:lnTo>
                    <a:pt x="1287083" y="45847"/>
                  </a:lnTo>
                  <a:close/>
                </a:path>
                <a:path w="1307464" h="1082039">
                  <a:moveTo>
                    <a:pt x="1221866" y="45847"/>
                  </a:moveTo>
                  <a:lnTo>
                    <a:pt x="1207101" y="58006"/>
                  </a:lnTo>
                  <a:lnTo>
                    <a:pt x="1231302" y="87412"/>
                  </a:lnTo>
                  <a:lnTo>
                    <a:pt x="1245997" y="75311"/>
                  </a:lnTo>
                  <a:lnTo>
                    <a:pt x="1221866" y="45847"/>
                  </a:lnTo>
                  <a:close/>
                </a:path>
                <a:path w="1307464" h="1082039">
                  <a:moveTo>
                    <a:pt x="1307464" y="0"/>
                  </a:moveTo>
                  <a:lnTo>
                    <a:pt x="1182877" y="28575"/>
                  </a:lnTo>
                  <a:lnTo>
                    <a:pt x="1207101" y="58006"/>
                  </a:lnTo>
                  <a:lnTo>
                    <a:pt x="1221866" y="45847"/>
                  </a:lnTo>
                  <a:lnTo>
                    <a:pt x="1287083" y="45847"/>
                  </a:lnTo>
                  <a:lnTo>
                    <a:pt x="1307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77761" y="3102101"/>
              <a:ext cx="838200" cy="762000"/>
            </a:xfrm>
            <a:custGeom>
              <a:avLst/>
              <a:gdLst/>
              <a:ahLst/>
              <a:cxnLst/>
              <a:rect l="l" t="t" r="r" b="b"/>
              <a:pathLst>
                <a:path w="838200" h="762000">
                  <a:moveTo>
                    <a:pt x="0" y="381000"/>
                  </a:moveTo>
                  <a:lnTo>
                    <a:pt x="2818" y="336563"/>
                  </a:lnTo>
                  <a:lnTo>
                    <a:pt x="11065" y="293634"/>
                  </a:lnTo>
                  <a:lnTo>
                    <a:pt x="24426" y="252497"/>
                  </a:lnTo>
                  <a:lnTo>
                    <a:pt x="42587" y="213437"/>
                  </a:lnTo>
                  <a:lnTo>
                    <a:pt x="65234" y="176742"/>
                  </a:lnTo>
                  <a:lnTo>
                    <a:pt x="92053" y="142696"/>
                  </a:lnTo>
                  <a:lnTo>
                    <a:pt x="122729" y="111585"/>
                  </a:lnTo>
                  <a:lnTo>
                    <a:pt x="156949" y="83695"/>
                  </a:lnTo>
                  <a:lnTo>
                    <a:pt x="194399" y="59312"/>
                  </a:lnTo>
                  <a:lnTo>
                    <a:pt x="234764" y="38722"/>
                  </a:lnTo>
                  <a:lnTo>
                    <a:pt x="277731" y="22209"/>
                  </a:lnTo>
                  <a:lnTo>
                    <a:pt x="322985" y="10061"/>
                  </a:lnTo>
                  <a:lnTo>
                    <a:pt x="370213" y="2563"/>
                  </a:lnTo>
                  <a:lnTo>
                    <a:pt x="419099" y="0"/>
                  </a:lnTo>
                  <a:lnTo>
                    <a:pt x="467986" y="2563"/>
                  </a:lnTo>
                  <a:lnTo>
                    <a:pt x="515214" y="10061"/>
                  </a:lnTo>
                  <a:lnTo>
                    <a:pt x="560468" y="22209"/>
                  </a:lnTo>
                  <a:lnTo>
                    <a:pt x="603435" y="38722"/>
                  </a:lnTo>
                  <a:lnTo>
                    <a:pt x="643800" y="59312"/>
                  </a:lnTo>
                  <a:lnTo>
                    <a:pt x="681250" y="83695"/>
                  </a:lnTo>
                  <a:lnTo>
                    <a:pt x="715470" y="111585"/>
                  </a:lnTo>
                  <a:lnTo>
                    <a:pt x="746146" y="142696"/>
                  </a:lnTo>
                  <a:lnTo>
                    <a:pt x="772965" y="176742"/>
                  </a:lnTo>
                  <a:lnTo>
                    <a:pt x="795612" y="213437"/>
                  </a:lnTo>
                  <a:lnTo>
                    <a:pt x="813773" y="252497"/>
                  </a:lnTo>
                  <a:lnTo>
                    <a:pt x="827134" y="293634"/>
                  </a:lnTo>
                  <a:lnTo>
                    <a:pt x="835381" y="336563"/>
                  </a:lnTo>
                  <a:lnTo>
                    <a:pt x="838199" y="381000"/>
                  </a:lnTo>
                  <a:lnTo>
                    <a:pt x="835381" y="425436"/>
                  </a:lnTo>
                  <a:lnTo>
                    <a:pt x="827134" y="468365"/>
                  </a:lnTo>
                  <a:lnTo>
                    <a:pt x="813773" y="509502"/>
                  </a:lnTo>
                  <a:lnTo>
                    <a:pt x="795612" y="548562"/>
                  </a:lnTo>
                  <a:lnTo>
                    <a:pt x="772965" y="585257"/>
                  </a:lnTo>
                  <a:lnTo>
                    <a:pt x="746146" y="619303"/>
                  </a:lnTo>
                  <a:lnTo>
                    <a:pt x="715470" y="650414"/>
                  </a:lnTo>
                  <a:lnTo>
                    <a:pt x="681250" y="678304"/>
                  </a:lnTo>
                  <a:lnTo>
                    <a:pt x="643800" y="702687"/>
                  </a:lnTo>
                  <a:lnTo>
                    <a:pt x="603435" y="723277"/>
                  </a:lnTo>
                  <a:lnTo>
                    <a:pt x="560468" y="739790"/>
                  </a:lnTo>
                  <a:lnTo>
                    <a:pt x="515214" y="751938"/>
                  </a:lnTo>
                  <a:lnTo>
                    <a:pt x="467986" y="759436"/>
                  </a:lnTo>
                  <a:lnTo>
                    <a:pt x="419099" y="762000"/>
                  </a:lnTo>
                  <a:lnTo>
                    <a:pt x="370213" y="759436"/>
                  </a:lnTo>
                  <a:lnTo>
                    <a:pt x="322985" y="751938"/>
                  </a:lnTo>
                  <a:lnTo>
                    <a:pt x="277731" y="739790"/>
                  </a:lnTo>
                  <a:lnTo>
                    <a:pt x="234764" y="723277"/>
                  </a:lnTo>
                  <a:lnTo>
                    <a:pt x="194399" y="702687"/>
                  </a:lnTo>
                  <a:lnTo>
                    <a:pt x="156949" y="678304"/>
                  </a:lnTo>
                  <a:lnTo>
                    <a:pt x="122729" y="650414"/>
                  </a:lnTo>
                  <a:lnTo>
                    <a:pt x="92053" y="619303"/>
                  </a:lnTo>
                  <a:lnTo>
                    <a:pt x="65234" y="585257"/>
                  </a:lnTo>
                  <a:lnTo>
                    <a:pt x="42587" y="548562"/>
                  </a:lnTo>
                  <a:lnTo>
                    <a:pt x="24426" y="509502"/>
                  </a:lnTo>
                  <a:lnTo>
                    <a:pt x="11065" y="468365"/>
                  </a:lnTo>
                  <a:lnTo>
                    <a:pt x="2818" y="425436"/>
                  </a:lnTo>
                  <a:lnTo>
                    <a:pt x="0" y="3810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13550" y="3326384"/>
            <a:ext cx="16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rebuchet MS"/>
                <a:cs typeface="Trebuchet MS"/>
              </a:rPr>
              <a:t>V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7612" y="3178301"/>
            <a:ext cx="1059180" cy="1143000"/>
          </a:xfrm>
          <a:custGeom>
            <a:avLst/>
            <a:gdLst/>
            <a:ahLst/>
            <a:cxnLst/>
            <a:rect l="l" t="t" r="r" b="b"/>
            <a:pathLst>
              <a:path w="1059179" h="1143000">
                <a:moveTo>
                  <a:pt x="114300" y="647700"/>
                </a:moveTo>
                <a:lnTo>
                  <a:pt x="76200" y="647700"/>
                </a:lnTo>
                <a:lnTo>
                  <a:pt x="76200" y="0"/>
                </a:ln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57150" y="762000"/>
                </a:lnTo>
                <a:lnTo>
                  <a:pt x="104775" y="666750"/>
                </a:lnTo>
                <a:lnTo>
                  <a:pt x="114300" y="647700"/>
                </a:lnTo>
                <a:close/>
              </a:path>
              <a:path w="1059179" h="1143000">
                <a:moveTo>
                  <a:pt x="1058799" y="618998"/>
                </a:moveTo>
                <a:lnTo>
                  <a:pt x="1036701" y="600202"/>
                </a:lnTo>
                <a:lnTo>
                  <a:pt x="636054" y="1067612"/>
                </a:lnTo>
                <a:lnTo>
                  <a:pt x="614045" y="1048766"/>
                </a:lnTo>
                <a:lnTo>
                  <a:pt x="590550" y="1143000"/>
                </a:lnTo>
                <a:lnTo>
                  <a:pt x="680085" y="1105281"/>
                </a:lnTo>
                <a:lnTo>
                  <a:pt x="670877" y="1097407"/>
                </a:lnTo>
                <a:lnTo>
                  <a:pt x="658088" y="1086472"/>
                </a:lnTo>
                <a:lnTo>
                  <a:pt x="1058799" y="6189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47028" y="35854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6975" y="34330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0794" y="33568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2375" y="34330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8975" y="38140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60975" y="4881117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6865" algn="l"/>
              </a:tabLst>
            </a:pPr>
            <a:r>
              <a:rPr sz="1800" b="1" i="1" dirty="0">
                <a:latin typeface="Trebuchet MS"/>
                <a:cs typeface="Trebuchet MS"/>
              </a:rPr>
              <a:t>a	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18175" y="3204464"/>
            <a:ext cx="16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5628" y="2670505"/>
            <a:ext cx="1612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15761" y="2941573"/>
            <a:ext cx="767715" cy="926465"/>
            <a:chOff x="5715761" y="2941573"/>
            <a:chExt cx="767715" cy="926465"/>
          </a:xfrm>
        </p:grpSpPr>
        <p:sp>
          <p:nvSpPr>
            <p:cNvPr id="19" name="object 19"/>
            <p:cNvSpPr/>
            <p:nvPr/>
          </p:nvSpPr>
          <p:spPr>
            <a:xfrm>
              <a:off x="5715761" y="2941573"/>
              <a:ext cx="767715" cy="326390"/>
            </a:xfrm>
            <a:custGeom>
              <a:avLst/>
              <a:gdLst/>
              <a:ahLst/>
              <a:cxnLst/>
              <a:rect l="l" t="t" r="r" b="b"/>
              <a:pathLst>
                <a:path w="767714" h="326389">
                  <a:moveTo>
                    <a:pt x="86015" y="26938"/>
                  </a:moveTo>
                  <a:lnTo>
                    <a:pt x="75257" y="53876"/>
                  </a:lnTo>
                  <a:lnTo>
                    <a:pt x="756665" y="326389"/>
                  </a:lnTo>
                  <a:lnTo>
                    <a:pt x="767334" y="299465"/>
                  </a:lnTo>
                  <a:lnTo>
                    <a:pt x="86015" y="26938"/>
                  </a:lnTo>
                  <a:close/>
                </a:path>
                <a:path w="767714" h="326389">
                  <a:moveTo>
                    <a:pt x="96774" y="0"/>
                  </a:moveTo>
                  <a:lnTo>
                    <a:pt x="0" y="8127"/>
                  </a:lnTo>
                  <a:lnTo>
                    <a:pt x="64515" y="80772"/>
                  </a:lnTo>
                  <a:lnTo>
                    <a:pt x="75257" y="53876"/>
                  </a:lnTo>
                  <a:lnTo>
                    <a:pt x="61849" y="48513"/>
                  </a:lnTo>
                  <a:lnTo>
                    <a:pt x="72643" y="21589"/>
                  </a:lnTo>
                  <a:lnTo>
                    <a:pt x="88151" y="21589"/>
                  </a:lnTo>
                  <a:lnTo>
                    <a:pt x="96774" y="0"/>
                  </a:lnTo>
                  <a:close/>
                </a:path>
                <a:path w="767714" h="326389">
                  <a:moveTo>
                    <a:pt x="72643" y="21589"/>
                  </a:moveTo>
                  <a:lnTo>
                    <a:pt x="61849" y="48513"/>
                  </a:lnTo>
                  <a:lnTo>
                    <a:pt x="75257" y="53876"/>
                  </a:lnTo>
                  <a:lnTo>
                    <a:pt x="86015" y="26938"/>
                  </a:lnTo>
                  <a:lnTo>
                    <a:pt x="72643" y="21589"/>
                  </a:lnTo>
                  <a:close/>
                </a:path>
                <a:path w="767714" h="326389">
                  <a:moveTo>
                    <a:pt x="88151" y="21589"/>
                  </a:moveTo>
                  <a:lnTo>
                    <a:pt x="72643" y="21589"/>
                  </a:lnTo>
                  <a:lnTo>
                    <a:pt x="86015" y="26938"/>
                  </a:lnTo>
                  <a:lnTo>
                    <a:pt x="88151" y="215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48399" y="3634739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508375" y="1756409"/>
            <a:ext cx="923290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800" b="1" i="1" dirty="0"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32196" y="3084576"/>
            <a:ext cx="922019" cy="407670"/>
          </a:xfrm>
          <a:custGeom>
            <a:avLst/>
            <a:gdLst/>
            <a:ahLst/>
            <a:cxnLst/>
            <a:rect l="l" t="t" r="r" b="b"/>
            <a:pathLst>
              <a:path w="922020" h="407670">
                <a:moveTo>
                  <a:pt x="808895" y="372133"/>
                </a:moveTo>
                <a:lnTo>
                  <a:pt x="794257" y="407288"/>
                </a:lnTo>
                <a:lnTo>
                  <a:pt x="921765" y="398525"/>
                </a:lnTo>
                <a:lnTo>
                  <a:pt x="905315" y="379475"/>
                </a:lnTo>
                <a:lnTo>
                  <a:pt x="826515" y="379475"/>
                </a:lnTo>
                <a:lnTo>
                  <a:pt x="808895" y="372133"/>
                </a:lnTo>
                <a:close/>
              </a:path>
              <a:path w="922020" h="407670">
                <a:moveTo>
                  <a:pt x="823536" y="336970"/>
                </a:moveTo>
                <a:lnTo>
                  <a:pt x="808895" y="372133"/>
                </a:lnTo>
                <a:lnTo>
                  <a:pt x="826515" y="379475"/>
                </a:lnTo>
                <a:lnTo>
                  <a:pt x="841120" y="344297"/>
                </a:lnTo>
                <a:lnTo>
                  <a:pt x="823536" y="336970"/>
                </a:lnTo>
                <a:close/>
              </a:path>
              <a:path w="922020" h="407670">
                <a:moveTo>
                  <a:pt x="838200" y="301751"/>
                </a:moveTo>
                <a:lnTo>
                  <a:pt x="823536" y="336970"/>
                </a:lnTo>
                <a:lnTo>
                  <a:pt x="841120" y="344297"/>
                </a:lnTo>
                <a:lnTo>
                  <a:pt x="826515" y="379475"/>
                </a:lnTo>
                <a:lnTo>
                  <a:pt x="905315" y="379475"/>
                </a:lnTo>
                <a:lnTo>
                  <a:pt x="838200" y="301751"/>
                </a:lnTo>
                <a:close/>
              </a:path>
              <a:path w="922020" h="407670">
                <a:moveTo>
                  <a:pt x="14731" y="0"/>
                </a:moveTo>
                <a:lnTo>
                  <a:pt x="0" y="35051"/>
                </a:lnTo>
                <a:lnTo>
                  <a:pt x="808895" y="372133"/>
                </a:lnTo>
                <a:lnTo>
                  <a:pt x="823536" y="336970"/>
                </a:lnTo>
                <a:lnTo>
                  <a:pt x="14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"/>
          <p:cNvSpPr txBox="1">
            <a:spLocks/>
          </p:cNvSpPr>
          <p:nvPr/>
        </p:nvSpPr>
        <p:spPr>
          <a:xfrm>
            <a:off x="135823" y="0"/>
            <a:ext cx="8534647" cy="690574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 smtClean="0">
                <a:solidFill>
                  <a:srgbClr val="FF0000"/>
                </a:solidFill>
                <a:latin typeface="Bell MT" panose="02020503060305020303" pitchFamily="18" charset="0"/>
              </a:rPr>
              <a:t>Partitioning Algorithm</a:t>
            </a:r>
            <a:endParaRPr lang="en-US" b="1" spc="-10" dirty="0">
              <a:solidFill>
                <a:srgbClr val="FF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58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726" y="862467"/>
            <a:ext cx="7241268" cy="362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21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79683" y="2201917"/>
            <a:ext cx="5584542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i="0" dirty="0" err="1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Myhill</a:t>
            </a:r>
            <a:r>
              <a:rPr lang="en-US" sz="4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i="0" dirty="0" err="1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Nerode</a:t>
            </a:r>
            <a:r>
              <a:rPr lang="en-US" sz="4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Theorem </a:t>
            </a:r>
          </a:p>
          <a:p>
            <a:pPr algn="ctr"/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algn="ctr"/>
            <a:r>
              <a:rPr lang="en-US" sz="40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Table Filling Method</a:t>
            </a:r>
            <a:endParaRPr lang="en-US" sz="40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18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0280" y="236842"/>
            <a:ext cx="63791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>
                <a:solidFill>
                  <a:srgbClr val="FF0000"/>
                </a:solidFill>
              </a:rPr>
              <a:t>Myphill-Nerode Theorem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66800" y="1219200"/>
            <a:ext cx="9753600" cy="48583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Draw a table for all pairs of states (P,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Q)</a:t>
            </a:r>
          </a:p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Mark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all pairs where Pϵ F and Q∉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F.</a:t>
            </a:r>
          </a:p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If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there are any Unmarked pairs (P, Q) such that [δ(P, x),δ(Q, x)] is marked, then mark [P, Q] where ‘x’ is an input symbol. Repeat this until no more marking can be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made.</a:t>
            </a:r>
          </a:p>
          <a:p>
            <a:pPr marL="571500" marR="0" lvl="0" indent="-5715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Combine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all the unmarked pairs and make them a single state in the minimized DFA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552450" marR="30480" lvl="0" indent="-51435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3808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selmanalpdundar.com/wp-content/uploads/2018/05/minimization-dfa-300x2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799" y="2666999"/>
            <a:ext cx="5525775" cy="370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2425" y="533400"/>
            <a:ext cx="870585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: </a:t>
            </a:r>
          </a:p>
          <a:p>
            <a:endParaRPr lang="en-US" b="1" dirty="0">
              <a:solidFill>
                <a:srgbClr val="555555"/>
              </a:solidFill>
              <a:latin typeface="Lora"/>
            </a:endParaRPr>
          </a:p>
          <a:p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following DFA using Table Filling Method.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199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9385" y="1607634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b="0" i="0" u="none" strike="noStrike" baseline="0" dirty="0" smtClean="0">
              <a:solidFill>
                <a:srgbClr val="000000"/>
              </a:solidFill>
            </a:endParaRPr>
          </a:p>
          <a:p>
            <a:r>
              <a:rPr lang="en-US" sz="2000" b="0" i="0" u="none" strike="noStrike" baseline="0" dirty="0" smtClean="0">
                <a:solidFill>
                  <a:srgbClr val="000000"/>
                </a:solidFill>
              </a:rPr>
              <a:t> </a:t>
            </a:r>
          </a:p>
          <a:p>
            <a:r>
              <a:rPr lang="en-US" sz="2800" dirty="0">
                <a:solidFill>
                  <a:prstClr val="black"/>
                </a:solidFill>
                <a:latin typeface="Bell MT" panose="02020503060305020303" pitchFamily="18" charset="0"/>
              </a:rPr>
              <a:t>Step 1:Draw a table for all pairs of states (P, Q)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63" y="3177294"/>
            <a:ext cx="2580000" cy="19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6013" y="197696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b="0" i="0" u="none" strike="noStrike" baseline="0" dirty="0" smtClean="0">
              <a:solidFill>
                <a:srgbClr val="000000"/>
              </a:solidFill>
            </a:endParaRPr>
          </a:p>
          <a:p>
            <a:r>
              <a:rPr lang="en-US" sz="2800" dirty="0">
                <a:solidFill>
                  <a:prstClr val="black"/>
                </a:solidFill>
                <a:latin typeface="Bell MT" panose="02020503060305020303" pitchFamily="18" charset="0"/>
              </a:rPr>
              <a:t>Step 2:Mark all pairs where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460" y="3177294"/>
            <a:ext cx="2905564" cy="226410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4392" y="100693"/>
            <a:ext cx="10910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: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DFA using Table Filling Method.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98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4393" y="413194"/>
            <a:ext cx="1094757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0" i="0" u="none" strike="noStrike" baseline="0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sz="2800" dirty="0">
                <a:solidFill>
                  <a:prstClr val="black"/>
                </a:solidFill>
                <a:latin typeface="Bell MT" panose="02020503060305020303" pitchFamily="18" charset="0"/>
              </a:rPr>
              <a:t>Step 3:If there are any Unmarked pairs (P, Q) such that [δ(P, x),δ(Q, x)] is marked, then mark [P, Q] where ‘x’ is an input symbol. Repeat this until no more marking can be made.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71" y="2295937"/>
            <a:ext cx="8721706" cy="43269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4392" y="100693"/>
            <a:ext cx="10910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: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DFA using Table Filling Method.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88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4392" y="1906516"/>
            <a:ext cx="6477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all the unmarked pairs and make them a single state in the minimized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</a:p>
          <a:p>
            <a:endParaRPr lang="en-US" sz="2800" b="0" i="0" dirty="0">
              <a:solidFill>
                <a:srgbClr val="55555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(A, C), B, D, E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 descr="http://www.selmanalpdundar.com/wp-content/uploads/2018/05/minimization-step-4-300x20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879" y="2467303"/>
            <a:ext cx="4319139" cy="299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84392" y="100693"/>
            <a:ext cx="109108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i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: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Lora"/>
              </a:rPr>
              <a:t>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lang="en-US" sz="2800" b="0" i="0" dirty="0" smtClean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DFA using Table Filling Method.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51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3218" y="408833"/>
            <a:ext cx="20142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884" y="1253235"/>
            <a:ext cx="1089126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Consider </a:t>
            </a:r>
            <a:r>
              <a:rPr sz="2000" dirty="0">
                <a:latin typeface="Times New Roman"/>
                <a:cs typeface="Times New Roman"/>
              </a:rPr>
              <a:t>the following </a:t>
            </a:r>
            <a:r>
              <a:rPr sz="2000" dirty="0">
                <a:latin typeface="Times New Roman"/>
                <a:cs typeface="Times New Roman"/>
              </a:rPr>
              <a:t>DFA</a:t>
            </a:r>
            <a:r>
              <a:rPr lang="en-US" sz="2000" dirty="0">
                <a:latin typeface="Times New Roman"/>
                <a:cs typeface="Times New Roman"/>
              </a:rPr>
              <a:t>. </a:t>
            </a:r>
            <a:r>
              <a:rPr lang="en-US" sz="2000" dirty="0">
                <a:latin typeface="Times New Roman"/>
                <a:cs typeface="Times New Roman"/>
              </a:rPr>
              <a:t>Minimize the following DFA using Table Filling Method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2799" y="1884016"/>
            <a:ext cx="5498592" cy="295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98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4818" y="1561773"/>
            <a:ext cx="4472939" cy="28727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321" y="359229"/>
            <a:ext cx="5894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Minimised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DFA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30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04758" y="2493219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865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9278" y="1324902"/>
            <a:ext cx="1021352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minimized the number of states and transitions according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steps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two states in DFA into one state if they have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same important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states. The important state is the state with no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ε-transition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two states if they either both include or both exclude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accepting states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NFA.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5515" y="84754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454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5993" y="771142"/>
            <a:ext cx="97236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DFA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method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84" y="1996667"/>
            <a:ext cx="4379775" cy="2261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11" y="1886257"/>
            <a:ext cx="4799222" cy="217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85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891</Words>
  <Application>Microsoft Office PowerPoint</Application>
  <PresentationFormat>Widescreen</PresentationFormat>
  <Paragraphs>299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Bell MT</vt:lpstr>
      <vt:lpstr>Calibri</vt:lpstr>
      <vt:lpstr>Calibri Light</vt:lpstr>
      <vt:lpstr>Georgia</vt:lpstr>
      <vt:lpstr>Lora</vt:lpstr>
      <vt:lpstr>Lucida Sans Unicode</vt:lpstr>
      <vt:lpstr>Times New Roman</vt:lpstr>
      <vt:lpstr>Trebuchet MS</vt:lpstr>
      <vt:lpstr>Wingdings</vt:lpstr>
      <vt:lpstr>Office Theme</vt:lpstr>
      <vt:lpstr>1_Office Theme</vt:lpstr>
      <vt:lpstr>Optimization of DFA</vt:lpstr>
      <vt:lpstr>Introduction</vt:lpstr>
      <vt:lpstr>Minimizing DFA’s</vt:lpstr>
      <vt:lpstr>Minimizing DFA’s by Partitioning</vt:lpstr>
      <vt:lpstr>PowerPoint Presentation</vt:lpstr>
      <vt:lpstr>Partitioning Algorithm</vt:lpstr>
      <vt:lpstr>Partitioning Algorithm</vt:lpstr>
      <vt:lpstr>Partitioning Algorithm</vt:lpstr>
      <vt:lpstr>Partitioning Algorithm</vt:lpstr>
      <vt:lpstr>Partitioning Algorithm</vt:lpstr>
      <vt:lpstr>Partitioning Algorithm</vt:lpstr>
      <vt:lpstr>Partitioning Algorithm</vt:lpstr>
      <vt:lpstr>Partitioning Algorithm</vt:lpstr>
      <vt:lpstr>Minimized DFA</vt:lpstr>
      <vt:lpstr>PowerPoint Presentation</vt:lpstr>
      <vt:lpstr>PowerPoint Presentation</vt:lpstr>
      <vt:lpstr>Myphill-Nerode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Barathy</cp:lastModifiedBy>
  <cp:revision>24</cp:revision>
  <dcterms:created xsi:type="dcterms:W3CDTF">2021-07-13T00:37:35Z</dcterms:created>
  <dcterms:modified xsi:type="dcterms:W3CDTF">2021-07-16T07:06:06Z</dcterms:modified>
</cp:coreProperties>
</file>