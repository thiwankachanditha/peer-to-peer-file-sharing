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6" r:id="rId3"/>
  </p:sldMasterIdLst>
  <p:notesMasterIdLst>
    <p:notesMasterId r:id="rId88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12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310" r:id="rId36"/>
    <p:sldId id="288" r:id="rId37"/>
    <p:sldId id="289" r:id="rId38"/>
    <p:sldId id="290" r:id="rId39"/>
    <p:sldId id="311" r:id="rId40"/>
    <p:sldId id="291" r:id="rId41"/>
    <p:sldId id="292" r:id="rId42"/>
    <p:sldId id="293" r:id="rId43"/>
    <p:sldId id="346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47" r:id="rId55"/>
    <p:sldId id="304" r:id="rId56"/>
    <p:sldId id="305" r:id="rId57"/>
    <p:sldId id="306" r:id="rId58"/>
    <p:sldId id="307" r:id="rId59"/>
    <p:sldId id="308" r:id="rId60"/>
    <p:sldId id="309" r:id="rId61"/>
    <p:sldId id="317" r:id="rId62"/>
    <p:sldId id="344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45" r:id="rId71"/>
    <p:sldId id="325" r:id="rId72"/>
    <p:sldId id="326" r:id="rId73"/>
    <p:sldId id="341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8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569C-FE1C-433D-ADF2-701FF81D0E6D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B303F-F6E0-4213-984B-5C3A456357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147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3CC5A-FC06-417E-9358-DA5FF3B341A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5433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3CC5A-FC06-417E-9358-DA5FF3B341A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19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48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73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565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36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460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7387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726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720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354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432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826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9429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721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89785" y="2202181"/>
            <a:ext cx="442272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9701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7179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8472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0169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8064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89785" y="2202181"/>
            <a:ext cx="442272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4357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7041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593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DD80-FBF3-4835-B88F-AEAC925FDFF6}" type="datetimeFigureOut">
              <a:rPr lang="en-US" smtClean="0"/>
              <a:pPr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3AA16-FC80-4689-938F-64034D6ED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598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630" y="353059"/>
            <a:ext cx="10636738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354" y="1253490"/>
            <a:ext cx="1162929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2726" y="6522354"/>
            <a:ext cx="70260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2708" y="6522354"/>
            <a:ext cx="68775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69896" y="6522354"/>
            <a:ext cx="28526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478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630" y="353059"/>
            <a:ext cx="10636738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354" y="1253490"/>
            <a:ext cx="1162929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2726" y="6522354"/>
            <a:ext cx="70260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Dept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pc="-5" smtClean="0">
                <a:solidFill>
                  <a:prstClr val="black"/>
                </a:solidFill>
              </a:rPr>
              <a:t>Of</a:t>
            </a:r>
            <a:r>
              <a:rPr lang="en-US" spc="-4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CSE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2708" y="6522354"/>
            <a:ext cx="68775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spcBef>
                <a:spcPts val="10"/>
              </a:spcBef>
            </a:pPr>
            <a:r>
              <a:rPr lang="en-US" smtClean="0">
                <a:solidFill>
                  <a:prstClr val="black"/>
                </a:solidFill>
              </a:rPr>
              <a:t>Reshmi</a:t>
            </a:r>
            <a:r>
              <a:rPr lang="en-US" spc="160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K</a:t>
            </a:r>
            <a:r>
              <a:rPr lang="en-US" spc="-25" smtClean="0">
                <a:solidFill>
                  <a:prstClr val="black"/>
                </a:solidFill>
              </a:rPr>
              <a:t> </a:t>
            </a:r>
            <a:r>
              <a:rPr lang="en-US" smtClean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69896" y="6522354"/>
            <a:ext cx="28526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9535">
              <a:spcBef>
                <a:spcPts val="10"/>
              </a:spcBef>
            </a:pPr>
            <a:fld id="{81D60167-4931-47E6-BA6A-407CBD079E47}" type="slidenum">
              <a:rPr lang="en-US" smtClean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70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2800" y="2590800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Bell MT" panose="02020503060305020303" pitchFamily="18" charset="0"/>
              </a:rPr>
              <a:t>Top-down parsing </a:t>
            </a:r>
            <a:endParaRPr lang="en-US" sz="4400" b="1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111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2743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Parsing</a:t>
            </a:r>
            <a:endParaRPr lang="en-US" b="1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924560"/>
            <a:ext cx="10177780" cy="5288627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66700" marR="32384" indent="-228600">
              <a:spcBef>
                <a:spcPts val="695"/>
              </a:spcBef>
              <a:buClr>
                <a:srgbClr val="0A082D"/>
              </a:buClr>
              <a:buFont typeface="Arial"/>
              <a:buChar char="•"/>
              <a:tabLst>
                <a:tab pos="266065" algn="l"/>
                <a:tab pos="266700" algn="l"/>
                <a:tab pos="1237615" algn="l"/>
                <a:tab pos="1555750" algn="l"/>
                <a:tab pos="1810385" algn="l"/>
                <a:tab pos="2779395" algn="l"/>
                <a:tab pos="3329940" algn="l"/>
                <a:tab pos="4594860" algn="l"/>
                <a:tab pos="4849495" algn="l"/>
                <a:tab pos="5974715" algn="l"/>
                <a:tab pos="7084059" algn="l"/>
                <a:tab pos="7651115" algn="l"/>
                <a:tab pos="8371840" algn="l"/>
                <a:tab pos="9017000" algn="l"/>
                <a:tab pos="9692005" algn="l"/>
              </a:tabLs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 </a:t>
            </a: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</a:t>
            </a: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interpreter component that breaks  data into smaller elements for easy translation into another  language.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marR="32384" lvl="0" indent="-228600">
              <a:spcBef>
                <a:spcPts val="695"/>
              </a:spcBef>
              <a:buClr>
                <a:srgbClr val="0A082D"/>
              </a:buClr>
              <a:buFont typeface="Arial"/>
              <a:buChar char="•"/>
              <a:tabLst>
                <a:tab pos="266065" algn="l"/>
                <a:tab pos="266700" algn="l"/>
                <a:tab pos="1237615" algn="l"/>
                <a:tab pos="1555750" algn="l"/>
                <a:tab pos="1810385" algn="l"/>
                <a:tab pos="2779395" algn="l"/>
                <a:tab pos="3329940" algn="l"/>
                <a:tab pos="4594860" algn="l"/>
                <a:tab pos="4849495" algn="l"/>
                <a:tab pos="5974715" algn="l"/>
                <a:tab pos="7084059" algn="l"/>
                <a:tab pos="7651115" algn="l"/>
                <a:tab pos="8371840" algn="l"/>
                <a:tab pos="9017000" algn="l"/>
                <a:tab pos="9692005" algn="l"/>
              </a:tabLst>
              <a:defRPr/>
            </a:pP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Parsing</a:t>
            </a:r>
            <a:r>
              <a:rPr lang="en-US"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is a process that co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structs</a:t>
            </a: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20" dirty="0" smtClean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lang="en-US" sz="3200" spc="10" dirty="0" smtClean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ntactic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struct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u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re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(i.</a:t>
            </a:r>
            <a:r>
              <a:rPr lang="en-US" sz="3200" spc="-10" dirty="0" smtClean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parse</a:t>
            </a: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tre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fr</a:t>
            </a:r>
            <a:r>
              <a:rPr lang="en-US" sz="3200" spc="10" dirty="0" smtClean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the stream </a:t>
            </a: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of</a:t>
            </a:r>
            <a:r>
              <a:rPr lang="en-US" sz="32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tokens.</a:t>
            </a:r>
            <a:endParaRPr lang="en-US" sz="3200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66700" marR="32384" lvl="0" indent="-228600">
              <a:spcBef>
                <a:spcPts val="695"/>
              </a:spcBef>
              <a:buClr>
                <a:srgbClr val="0A082D"/>
              </a:buClr>
              <a:buFont typeface="Arial"/>
              <a:buChar char="•"/>
              <a:tabLst>
                <a:tab pos="266065" algn="l"/>
                <a:tab pos="266700" algn="l"/>
                <a:tab pos="1237615" algn="l"/>
                <a:tab pos="1555750" algn="l"/>
                <a:tab pos="1810385" algn="l"/>
                <a:tab pos="2779395" algn="l"/>
                <a:tab pos="3329940" algn="l"/>
                <a:tab pos="4594860" algn="l"/>
                <a:tab pos="4849495" algn="l"/>
                <a:tab pos="5974715" algn="l"/>
                <a:tab pos="7084059" algn="l"/>
                <a:tab pos="7651115" algn="l"/>
                <a:tab pos="8371840" algn="l"/>
                <a:tab pos="9017000" algn="l"/>
                <a:tab pos="9692005" algn="l"/>
              </a:tabLst>
              <a:defRPr/>
            </a:pP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Parsing</a:t>
            </a:r>
            <a:r>
              <a:rPr lang="en-US"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is the process 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dete</a:t>
            </a:r>
            <a:r>
              <a:rPr lang="en-US" sz="3200" spc="5" dirty="0" smtClean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mini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string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o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toke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 smtClean="0">
                <a:solidFill>
                  <a:prstClr val="black"/>
                </a:solidFill>
                <a:latin typeface="Times New Roman"/>
                <a:cs typeface="Times New Roman"/>
              </a:rPr>
              <a:t>ca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b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ge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erat</a:t>
            </a:r>
            <a:r>
              <a:rPr lang="en-US" sz="3200" spc="-15" dirty="0" smtClean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15" dirty="0" smtClean="0">
                <a:solidFill>
                  <a:prstClr val="black"/>
                </a:solidFill>
                <a:latin typeface="Times New Roman"/>
                <a:cs typeface="Times New Roman"/>
              </a:rPr>
              <a:t>b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lang="en-US" sz="3200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lang="en-US" sz="3200" spc="-25" dirty="0" smtClean="0">
                <a:solidFill>
                  <a:prstClr val="black"/>
                </a:solidFill>
                <a:latin typeface="Times New Roman"/>
                <a:cs typeface="Times New Roman"/>
              </a:rPr>
              <a:t>grammar.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95275" indent="-228600" algn="just"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en-US" sz="32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in the form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instructions and usually builds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in 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of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or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syntax tree.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770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97813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Parsing Techniques</a:t>
            </a:r>
            <a:endParaRPr lang="en-US" b="1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258697"/>
            <a:ext cx="10363200" cy="285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algn="just" defTabSz="914400" rtl="0" eaLnBrk="1" fontAlgn="auto" latinLnBrk="0" hangingPunct="1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Clr>
                <a:srgbClr val="0A082D"/>
              </a:buClr>
              <a:buSzTx/>
              <a:tabLst>
                <a:tab pos="241300" algn="l"/>
              </a:tabLst>
              <a:defRPr/>
            </a:pPr>
            <a:r>
              <a:rPr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Syntax analyzers follow production rules defined by means of </a:t>
            </a:r>
            <a:r>
              <a:rPr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context-free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grammar.</a:t>
            </a:r>
            <a:r>
              <a:rPr lang="en-US"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The </a:t>
            </a:r>
            <a:r>
              <a:rPr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way the production rules are implemented (derivation) divides  parsing into two types :</a:t>
            </a:r>
          </a:p>
          <a:p>
            <a:pPr marL="712470" marR="0" lvl="1" indent="-243204" algn="just" defTabSz="914400" rtl="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0A082D"/>
              </a:buClr>
              <a:buSzPct val="95833"/>
              <a:buFont typeface="Wingdings"/>
              <a:buChar char=""/>
              <a:tabLst>
                <a:tab pos="713105" algn="l"/>
              </a:tabLst>
              <a:defRPr/>
            </a:pPr>
            <a:r>
              <a:rPr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Top-down parsing and</a:t>
            </a:r>
          </a:p>
          <a:p>
            <a:pPr marL="712470" marR="0" lvl="1" indent="-243204" algn="just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A082D"/>
              </a:buClr>
              <a:buSzPct val="95833"/>
              <a:buFont typeface="Wingdings"/>
              <a:buChar char=""/>
              <a:tabLst>
                <a:tab pos="713105" algn="l"/>
              </a:tabLst>
              <a:defRPr/>
            </a:pPr>
            <a:r>
              <a:rPr sz="3200" spc="-5" dirty="0">
                <a:solidFill>
                  <a:prstClr val="black"/>
                </a:solidFill>
                <a:latin typeface="Times New Roman"/>
                <a:cs typeface="Times New Roman"/>
              </a:rPr>
              <a:t>Bottom-up parsing.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42635" y="3657600"/>
            <a:ext cx="5053965" cy="2237740"/>
            <a:chOff x="3814571" y="4213859"/>
            <a:chExt cx="5053965" cy="2237740"/>
          </a:xfrm>
        </p:grpSpPr>
        <p:sp>
          <p:nvSpPr>
            <p:cNvPr id="5" name="object 5"/>
            <p:cNvSpPr/>
            <p:nvPr/>
          </p:nvSpPr>
          <p:spPr>
            <a:xfrm>
              <a:off x="3826763" y="4226051"/>
              <a:ext cx="5029199" cy="22128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820667" y="4219955"/>
              <a:ext cx="5041900" cy="2225040"/>
            </a:xfrm>
            <a:custGeom>
              <a:avLst/>
              <a:gdLst/>
              <a:ahLst/>
              <a:cxnLst/>
              <a:rect l="l" t="t" r="r" b="b"/>
              <a:pathLst>
                <a:path w="5041900" h="2225040">
                  <a:moveTo>
                    <a:pt x="0" y="2225040"/>
                  </a:moveTo>
                  <a:lnTo>
                    <a:pt x="5041392" y="2225040"/>
                  </a:lnTo>
                  <a:lnTo>
                    <a:pt x="5041392" y="0"/>
                  </a:lnTo>
                  <a:lnTo>
                    <a:pt x="0" y="0"/>
                  </a:lnTo>
                  <a:lnTo>
                    <a:pt x="0" y="2225040"/>
                  </a:lnTo>
                  <a:close/>
                </a:path>
              </a:pathLst>
            </a:custGeom>
            <a:ln w="12191">
              <a:solidFill>
                <a:srgbClr val="1B376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21031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152400"/>
            <a:ext cx="670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ea typeface="+mj-ea"/>
                <a:cs typeface="Arial"/>
              </a:rPr>
              <a:t>Types of Parser</a:t>
            </a:r>
          </a:p>
        </p:txBody>
      </p:sp>
      <p:pic>
        <p:nvPicPr>
          <p:cNvPr id="1026" name="Picture 2" descr="https://1.bp.blogspot.com/-aSkBvqanUgI/V7vwz66YPUI/AAAAAAAADCs/QMX5AaHxEy4VYQ297EhlwY3xaKnpRGwDgCLcB/s1600/parsertype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10461823" cy="464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7055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143000"/>
            <a:ext cx="10287000" cy="4514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basically two types of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parser: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lvl="2" indent="-457200"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sz="2800" spc="-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</a:t>
            </a:r>
            <a:r>
              <a:rPr sz="2800" spc="1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parser: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lvl="4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tree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fills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lvl="4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picks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the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lvl="4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lvl="4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backtrack-free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predictive)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lvl="2" indent="-457200"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sz="2800" spc="-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Bottom-up</a:t>
            </a:r>
            <a:r>
              <a:rPr sz="2800" spc="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parser: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0100" lvl="4" indent="-228600">
              <a:spcBef>
                <a:spcPts val="28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leaves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0100" lvl="4" indent="-228600">
              <a:spcBef>
                <a:spcPts val="28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legal first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0100" lvl="4" indent="-228600">
              <a:spcBef>
                <a:spcPts val="28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to store both state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sentential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152400"/>
            <a:ext cx="670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ea typeface="+mj-ea"/>
                <a:cs typeface="Arial"/>
              </a:rPr>
              <a:t>Types of Parser</a:t>
            </a:r>
          </a:p>
        </p:txBody>
      </p:sp>
    </p:spTree>
    <p:extLst>
      <p:ext uri="{BB962C8B-B14F-4D97-AF65-F5344CB8AC3E}">
        <p14:creationId xmlns:p14="http://schemas.microsoft.com/office/powerpoint/2010/main" xmlns="" val="325114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875207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>
              <a:lnSpc>
                <a:spcPct val="100000"/>
              </a:lnSpc>
              <a:spcBef>
                <a:spcPts val="100"/>
              </a:spcBef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Top Down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295400"/>
            <a:ext cx="10439400" cy="422487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11150" marR="0" lvl="0" indent="-299085" algn="just" defTabSz="914400" rtl="0" eaLnBrk="1" fontAlgn="auto" latinLnBrk="0" hangingPunct="1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311150" algn="l"/>
                <a:tab pos="311785" algn="l"/>
              </a:tabLst>
              <a:defRPr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parsers build parse trees from the top (root) to the bottom (leaves).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top-down parse corresponds to a preorder traversal of the parse tree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leftmost derivation is applied at each derivation step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parsing are further sub-divided into the following categories:</a:t>
            </a:r>
          </a:p>
          <a:p>
            <a:pPr marL="1783715" lvl="3" indent="-508634" algn="just">
              <a:spcBef>
                <a:spcPts val="960"/>
              </a:spcBef>
              <a:buClr>
                <a:srgbClr val="0A082D"/>
              </a:buClr>
              <a:buFont typeface="Wingdings"/>
              <a:buChar char=""/>
              <a:tabLst>
                <a:tab pos="869315" algn="l"/>
                <a:tab pos="869950" algn="l"/>
              </a:tabLst>
              <a:defRPr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Parsing.</a:t>
            </a:r>
          </a:p>
          <a:p>
            <a:pPr marL="1783715" lvl="3" indent="-508634" algn="just">
              <a:spcBef>
                <a:spcPts val="975"/>
              </a:spcBef>
              <a:buClr>
                <a:srgbClr val="0A082D"/>
              </a:buClr>
              <a:buFont typeface="Wingdings"/>
              <a:buChar char=""/>
              <a:tabLst>
                <a:tab pos="869315" algn="l"/>
                <a:tab pos="869950" algn="l"/>
              </a:tabLst>
              <a:defRPr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Descent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435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7848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>
              <a:lnSpc>
                <a:spcPct val="100000"/>
              </a:lnSpc>
              <a:spcBef>
                <a:spcPts val="100"/>
              </a:spcBef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Top Down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143000"/>
            <a:ext cx="10058400" cy="4263988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69900" marR="27305" indent="-457200"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parser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root of the parse tree, labeled  with 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27305" indent="-457200"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steps until the fringe of  the parse tree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1450" marR="27305" lvl="2" indent="-514350">
              <a:spcBef>
                <a:spcPts val="61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select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 the appropriate child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of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41450" marR="27305" lvl="2" indent="-514350">
              <a:spcBef>
                <a:spcPts val="61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STEP2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added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fringe that doesn’t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41450" marR="27305" lvl="2" indent="-514350">
              <a:spcBef>
                <a:spcPts val="61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STEP3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node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346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3949"/>
            <a:ext cx="98958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 rtl="0"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Example </a:t>
            </a:r>
            <a:r>
              <a:rPr lang="en-US"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f</a:t>
            </a: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or Top Down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371600"/>
            <a:ext cx="4953000" cy="257249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Supppose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production rules 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lvl="1" indent="-228600">
              <a:spcBef>
                <a:spcPts val="7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sz="28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aAd|aB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lvl="1" indent="-228600">
              <a:spcBef>
                <a:spcPts val="7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b|c</a:t>
            </a:r>
          </a:p>
          <a:p>
            <a:pPr marL="698500" lvl="1" indent="-228600">
              <a:spcBef>
                <a:spcPts val="7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sz="28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.stack.imgur.com/wFGd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00200"/>
            <a:ext cx="6265229" cy="497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3114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0578" y="1625321"/>
            <a:ext cx="9261222" cy="4440318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Consider the following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  <a:endParaRPr kumimoji="0" lang="en-US" sz="2800" b="0" i="0" u="none" strike="noStrike" kern="1200" cap="none" spc="-5" normalizeH="0" baseline="0" noProof="0" dirty="0" smtClean="0">
              <a:ln>
                <a:noFill/>
              </a:ln>
              <a:solidFill>
                <a:srgbClr val="0D1B37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29565" marR="0" lvl="0" indent="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&lt;program&gt;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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begin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end</a:t>
            </a:r>
            <a:r>
              <a:rPr kumimoji="0" sz="2800" b="1" i="0" u="none" strike="noStrike" kern="1200" cap="none" spc="-6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$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29565" marR="0" lvl="0" indent="0" algn="l" defTabSz="914400" rtl="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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SimpleStmt ;</a:t>
            </a:r>
            <a:r>
              <a:rPr kumimoji="0" sz="2800" b="1" i="0" u="none" strike="noStrike" kern="1200" cap="none" spc="-7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66700" marR="0" lvl="0" indent="0" algn="l" defTabSz="914400" rtl="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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begin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end ;</a:t>
            </a:r>
            <a:r>
              <a:rPr kumimoji="0" sz="2800" b="1" i="0" u="none" strike="noStrike" kern="1200" cap="none" spc="-12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66700" marR="0" lvl="0" indent="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590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&lt;stmts&gt;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</a:t>
            </a:r>
            <a:r>
              <a:rPr lang="en-US" sz="2800" dirty="0">
                <a:solidFill>
                  <a:srgbClr val="0D1B37"/>
                </a:solidFill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€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D1B37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66700" marR="0" lvl="0" indent="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5905" algn="l"/>
              </a:tabLst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Input: begin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SimpleStmt; SimpleStmt;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end</a:t>
            </a:r>
            <a:r>
              <a:rPr kumimoji="0" sz="2800" b="1" i="0" u="none" strike="noStrike" kern="1200" cap="none" spc="-114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$</a:t>
            </a: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76200" y="23949"/>
            <a:ext cx="98958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l" rtl="0"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smtClean="0">
                <a:solidFill>
                  <a:srgbClr val="FF0000"/>
                </a:solidFill>
                <a:latin typeface="Bell MT" panose="02020503060305020303" pitchFamily="18" charset="0"/>
              </a:rPr>
              <a:t>Example for Top Down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421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883" y="0"/>
            <a:ext cx="11596370" cy="6858000"/>
            <a:chOff x="595883" y="0"/>
            <a:chExt cx="11596370" cy="6858000"/>
          </a:xfrm>
        </p:grpSpPr>
        <p:sp>
          <p:nvSpPr>
            <p:cNvPr id="3" name="object 3"/>
            <p:cNvSpPr/>
            <p:nvPr/>
          </p:nvSpPr>
          <p:spPr>
            <a:xfrm>
              <a:off x="6283451" y="1312163"/>
              <a:ext cx="5839967" cy="53553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627875" y="1656588"/>
              <a:ext cx="5151120" cy="46664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583680" y="1612391"/>
              <a:ext cx="5240020" cy="4755515"/>
            </a:xfrm>
            <a:custGeom>
              <a:avLst/>
              <a:gdLst/>
              <a:ahLst/>
              <a:cxnLst/>
              <a:rect l="l" t="t" r="r" b="b"/>
              <a:pathLst>
                <a:path w="5240020" h="4755515">
                  <a:moveTo>
                    <a:pt x="820927" y="0"/>
                  </a:moveTo>
                  <a:lnTo>
                    <a:pt x="5239766" y="0"/>
                  </a:lnTo>
                  <a:lnTo>
                    <a:pt x="5239766" y="3934333"/>
                  </a:lnTo>
                  <a:lnTo>
                    <a:pt x="5235702" y="4017022"/>
                  </a:lnTo>
                  <a:lnTo>
                    <a:pt x="5223129" y="4098785"/>
                  </a:lnTo>
                  <a:lnTo>
                    <a:pt x="5202936" y="4177665"/>
                  </a:lnTo>
                  <a:lnTo>
                    <a:pt x="5175250" y="4253293"/>
                  </a:lnTo>
                  <a:lnTo>
                    <a:pt x="5140452" y="4324985"/>
                  </a:lnTo>
                  <a:lnTo>
                    <a:pt x="5099304" y="4392891"/>
                  </a:lnTo>
                  <a:lnTo>
                    <a:pt x="5051933" y="4456214"/>
                  </a:lnTo>
                  <a:lnTo>
                    <a:pt x="4999101" y="4514532"/>
                  </a:lnTo>
                  <a:lnTo>
                    <a:pt x="4940808" y="4567389"/>
                  </a:lnTo>
                  <a:lnTo>
                    <a:pt x="4877435" y="4614786"/>
                  </a:lnTo>
                  <a:lnTo>
                    <a:pt x="4809617" y="4655858"/>
                  </a:lnTo>
                  <a:lnTo>
                    <a:pt x="4737862" y="4690656"/>
                  </a:lnTo>
                  <a:lnTo>
                    <a:pt x="4662297" y="4718392"/>
                  </a:lnTo>
                  <a:lnTo>
                    <a:pt x="4583430" y="4738522"/>
                  </a:lnTo>
                  <a:lnTo>
                    <a:pt x="4501642" y="4751108"/>
                  </a:lnTo>
                  <a:lnTo>
                    <a:pt x="4418838" y="4755248"/>
                  </a:lnTo>
                  <a:lnTo>
                    <a:pt x="0" y="4755248"/>
                  </a:lnTo>
                  <a:lnTo>
                    <a:pt x="0" y="820928"/>
                  </a:lnTo>
                  <a:lnTo>
                    <a:pt x="4191" y="738251"/>
                  </a:lnTo>
                  <a:lnTo>
                    <a:pt x="16764" y="656463"/>
                  </a:lnTo>
                  <a:lnTo>
                    <a:pt x="36829" y="577596"/>
                  </a:lnTo>
                  <a:lnTo>
                    <a:pt x="64643" y="501904"/>
                  </a:lnTo>
                  <a:lnTo>
                    <a:pt x="99441" y="430275"/>
                  </a:lnTo>
                  <a:lnTo>
                    <a:pt x="140462" y="362331"/>
                  </a:lnTo>
                  <a:lnTo>
                    <a:pt x="187833" y="299085"/>
                  </a:lnTo>
                  <a:lnTo>
                    <a:pt x="240665" y="240665"/>
                  </a:lnTo>
                  <a:lnTo>
                    <a:pt x="299085" y="187833"/>
                  </a:lnTo>
                  <a:lnTo>
                    <a:pt x="362330" y="140462"/>
                  </a:lnTo>
                  <a:lnTo>
                    <a:pt x="430275" y="99441"/>
                  </a:lnTo>
                  <a:lnTo>
                    <a:pt x="501903" y="64643"/>
                  </a:lnTo>
                  <a:lnTo>
                    <a:pt x="577596" y="36830"/>
                  </a:lnTo>
                  <a:lnTo>
                    <a:pt x="656463" y="16763"/>
                  </a:lnTo>
                  <a:lnTo>
                    <a:pt x="738251" y="4191"/>
                  </a:lnTo>
                  <a:lnTo>
                    <a:pt x="820927" y="0"/>
                  </a:lnTo>
                  <a:close/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95883" y="464819"/>
              <a:ext cx="6175247" cy="53553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40307" y="809244"/>
              <a:ext cx="5486400" cy="46664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896111" y="765048"/>
              <a:ext cx="5575300" cy="4755515"/>
            </a:xfrm>
            <a:custGeom>
              <a:avLst/>
              <a:gdLst/>
              <a:ahLst/>
              <a:cxnLst/>
              <a:rect l="l" t="t" r="r" b="b"/>
              <a:pathLst>
                <a:path w="5575300" h="4755515">
                  <a:moveTo>
                    <a:pt x="820927" y="0"/>
                  </a:moveTo>
                  <a:lnTo>
                    <a:pt x="5574792" y="0"/>
                  </a:lnTo>
                  <a:lnTo>
                    <a:pt x="5574792" y="3934332"/>
                  </a:lnTo>
                  <a:lnTo>
                    <a:pt x="5570601" y="4017009"/>
                  </a:lnTo>
                  <a:lnTo>
                    <a:pt x="5558028" y="4098798"/>
                  </a:lnTo>
                  <a:lnTo>
                    <a:pt x="5537962" y="4177665"/>
                  </a:lnTo>
                  <a:lnTo>
                    <a:pt x="5510276" y="4253230"/>
                  </a:lnTo>
                  <a:lnTo>
                    <a:pt x="5475859" y="4324984"/>
                  </a:lnTo>
                  <a:lnTo>
                    <a:pt x="5434330" y="4392930"/>
                  </a:lnTo>
                  <a:lnTo>
                    <a:pt x="5387340" y="4456176"/>
                  </a:lnTo>
                  <a:lnTo>
                    <a:pt x="5334000" y="4514596"/>
                  </a:lnTo>
                  <a:lnTo>
                    <a:pt x="5275707" y="4567428"/>
                  </a:lnTo>
                  <a:lnTo>
                    <a:pt x="5212461" y="4614799"/>
                  </a:lnTo>
                  <a:lnTo>
                    <a:pt x="5145024" y="4655820"/>
                  </a:lnTo>
                  <a:lnTo>
                    <a:pt x="5073269" y="4690618"/>
                  </a:lnTo>
                  <a:lnTo>
                    <a:pt x="4997577" y="4718431"/>
                  </a:lnTo>
                  <a:lnTo>
                    <a:pt x="4918710" y="4738497"/>
                  </a:lnTo>
                  <a:lnTo>
                    <a:pt x="4836922" y="4751070"/>
                  </a:lnTo>
                  <a:lnTo>
                    <a:pt x="4754245" y="4755261"/>
                  </a:lnTo>
                  <a:lnTo>
                    <a:pt x="0" y="4755261"/>
                  </a:lnTo>
                  <a:lnTo>
                    <a:pt x="0" y="820927"/>
                  </a:lnTo>
                  <a:lnTo>
                    <a:pt x="4140" y="738251"/>
                  </a:lnTo>
                  <a:lnTo>
                    <a:pt x="16713" y="656463"/>
                  </a:lnTo>
                  <a:lnTo>
                    <a:pt x="36855" y="577596"/>
                  </a:lnTo>
                  <a:lnTo>
                    <a:pt x="64579" y="501903"/>
                  </a:lnTo>
                  <a:lnTo>
                    <a:pt x="99390" y="430275"/>
                  </a:lnTo>
                  <a:lnTo>
                    <a:pt x="140462" y="362330"/>
                  </a:lnTo>
                  <a:lnTo>
                    <a:pt x="187858" y="299085"/>
                  </a:lnTo>
                  <a:lnTo>
                    <a:pt x="240715" y="240664"/>
                  </a:lnTo>
                  <a:lnTo>
                    <a:pt x="299021" y="187832"/>
                  </a:lnTo>
                  <a:lnTo>
                    <a:pt x="362356" y="140462"/>
                  </a:lnTo>
                  <a:lnTo>
                    <a:pt x="430275" y="99440"/>
                  </a:lnTo>
                  <a:lnTo>
                    <a:pt x="501903" y="64642"/>
                  </a:lnTo>
                  <a:lnTo>
                    <a:pt x="577596" y="36829"/>
                  </a:lnTo>
                  <a:lnTo>
                    <a:pt x="656463" y="16763"/>
                  </a:lnTo>
                  <a:lnTo>
                    <a:pt x="738251" y="4190"/>
                  </a:lnTo>
                  <a:lnTo>
                    <a:pt x="820927" y="0"/>
                  </a:lnTo>
                  <a:close/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69046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5487" y="0"/>
            <a:ext cx="11717020" cy="6858000"/>
            <a:chOff x="475487" y="0"/>
            <a:chExt cx="11717020" cy="6858000"/>
          </a:xfrm>
        </p:grpSpPr>
        <p:sp>
          <p:nvSpPr>
            <p:cNvPr id="3" name="object 3"/>
            <p:cNvSpPr/>
            <p:nvPr/>
          </p:nvSpPr>
          <p:spPr>
            <a:xfrm>
              <a:off x="6452616" y="1121663"/>
              <a:ext cx="5739384" cy="52044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797040" y="1466088"/>
              <a:ext cx="5260848" cy="45156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752843" y="1421891"/>
              <a:ext cx="5349875" cy="4604385"/>
            </a:xfrm>
            <a:custGeom>
              <a:avLst/>
              <a:gdLst/>
              <a:ahLst/>
              <a:cxnLst/>
              <a:rect l="l" t="t" r="r" b="b"/>
              <a:pathLst>
                <a:path w="5349875" h="4604385">
                  <a:moveTo>
                    <a:pt x="795908" y="0"/>
                  </a:moveTo>
                  <a:lnTo>
                    <a:pt x="5349366" y="0"/>
                  </a:lnTo>
                  <a:lnTo>
                    <a:pt x="5349366" y="3808476"/>
                  </a:lnTo>
                  <a:lnTo>
                    <a:pt x="5345176" y="3888867"/>
                  </a:lnTo>
                  <a:lnTo>
                    <a:pt x="5333110" y="3967734"/>
                  </a:lnTo>
                  <a:lnTo>
                    <a:pt x="5313680" y="4044315"/>
                  </a:lnTo>
                  <a:lnTo>
                    <a:pt x="5286756" y="4117467"/>
                  </a:lnTo>
                  <a:lnTo>
                    <a:pt x="5253101" y="4187278"/>
                  </a:lnTo>
                  <a:lnTo>
                    <a:pt x="5213223" y="4252823"/>
                  </a:lnTo>
                  <a:lnTo>
                    <a:pt x="5167503" y="4314088"/>
                  </a:lnTo>
                  <a:lnTo>
                    <a:pt x="5116195" y="4370870"/>
                  </a:lnTo>
                  <a:lnTo>
                    <a:pt x="5059426" y="4422165"/>
                  </a:lnTo>
                  <a:lnTo>
                    <a:pt x="4998211" y="4467910"/>
                  </a:lnTo>
                  <a:lnTo>
                    <a:pt x="4932553" y="4507826"/>
                  </a:lnTo>
                  <a:lnTo>
                    <a:pt x="4862830" y="4541443"/>
                  </a:lnTo>
                  <a:lnTo>
                    <a:pt x="4789551" y="4568380"/>
                  </a:lnTo>
                  <a:lnTo>
                    <a:pt x="4713097" y="4587722"/>
                  </a:lnTo>
                  <a:lnTo>
                    <a:pt x="4634230" y="4599889"/>
                  </a:lnTo>
                  <a:lnTo>
                    <a:pt x="4553838" y="4604029"/>
                  </a:lnTo>
                  <a:lnTo>
                    <a:pt x="0" y="4604029"/>
                  </a:lnTo>
                  <a:lnTo>
                    <a:pt x="0" y="795909"/>
                  </a:lnTo>
                  <a:lnTo>
                    <a:pt x="4190" y="715518"/>
                  </a:lnTo>
                  <a:lnTo>
                    <a:pt x="16255" y="636651"/>
                  </a:lnTo>
                  <a:lnTo>
                    <a:pt x="35686" y="560197"/>
                  </a:lnTo>
                  <a:lnTo>
                    <a:pt x="62610" y="486537"/>
                  </a:lnTo>
                  <a:lnTo>
                    <a:pt x="96265" y="417195"/>
                  </a:lnTo>
                  <a:lnTo>
                    <a:pt x="136144" y="351282"/>
                  </a:lnTo>
                  <a:lnTo>
                    <a:pt x="181863" y="289941"/>
                  </a:lnTo>
                  <a:lnTo>
                    <a:pt x="233172" y="233172"/>
                  </a:lnTo>
                  <a:lnTo>
                    <a:pt x="289940" y="181863"/>
                  </a:lnTo>
                  <a:lnTo>
                    <a:pt x="351281" y="136144"/>
                  </a:lnTo>
                  <a:lnTo>
                    <a:pt x="417195" y="96266"/>
                  </a:lnTo>
                  <a:lnTo>
                    <a:pt x="486536" y="62611"/>
                  </a:lnTo>
                  <a:lnTo>
                    <a:pt x="560197" y="35687"/>
                  </a:lnTo>
                  <a:lnTo>
                    <a:pt x="636651" y="16256"/>
                  </a:lnTo>
                  <a:lnTo>
                    <a:pt x="715517" y="4191"/>
                  </a:lnTo>
                  <a:lnTo>
                    <a:pt x="795908" y="0"/>
                  </a:lnTo>
                  <a:close/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75487" y="342900"/>
              <a:ext cx="6370320" cy="53522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19911" y="687323"/>
              <a:ext cx="5681472" cy="46634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715" y="643127"/>
              <a:ext cx="5770245" cy="4752340"/>
            </a:xfrm>
            <a:custGeom>
              <a:avLst/>
              <a:gdLst/>
              <a:ahLst/>
              <a:cxnLst/>
              <a:rect l="l" t="t" r="r" b="b"/>
              <a:pathLst>
                <a:path w="5770245" h="4752340">
                  <a:moveTo>
                    <a:pt x="820547" y="0"/>
                  </a:moveTo>
                  <a:lnTo>
                    <a:pt x="5769991" y="0"/>
                  </a:lnTo>
                  <a:lnTo>
                    <a:pt x="5769991" y="3931539"/>
                  </a:lnTo>
                  <a:lnTo>
                    <a:pt x="5765927" y="4014216"/>
                  </a:lnTo>
                  <a:lnTo>
                    <a:pt x="5753354" y="4096004"/>
                  </a:lnTo>
                  <a:lnTo>
                    <a:pt x="5733161" y="4174871"/>
                  </a:lnTo>
                  <a:lnTo>
                    <a:pt x="5705475" y="4250436"/>
                  </a:lnTo>
                  <a:lnTo>
                    <a:pt x="5671058" y="4322191"/>
                  </a:lnTo>
                  <a:lnTo>
                    <a:pt x="5629910" y="4389755"/>
                  </a:lnTo>
                  <a:lnTo>
                    <a:pt x="5582539" y="4453128"/>
                  </a:lnTo>
                  <a:lnTo>
                    <a:pt x="5529326" y="4511294"/>
                  </a:lnTo>
                  <a:lnTo>
                    <a:pt x="5471033" y="4564634"/>
                  </a:lnTo>
                  <a:lnTo>
                    <a:pt x="5408168" y="4611624"/>
                  </a:lnTo>
                  <a:lnTo>
                    <a:pt x="5340223" y="4653153"/>
                  </a:lnTo>
                  <a:lnTo>
                    <a:pt x="5268341" y="4687570"/>
                  </a:lnTo>
                  <a:lnTo>
                    <a:pt x="5192903" y="4715256"/>
                  </a:lnTo>
                  <a:lnTo>
                    <a:pt x="5114036" y="4735322"/>
                  </a:lnTo>
                  <a:lnTo>
                    <a:pt x="5032629" y="4747895"/>
                  </a:lnTo>
                  <a:lnTo>
                    <a:pt x="4949825" y="4752086"/>
                  </a:lnTo>
                  <a:lnTo>
                    <a:pt x="0" y="4752086"/>
                  </a:lnTo>
                  <a:lnTo>
                    <a:pt x="0" y="820547"/>
                  </a:lnTo>
                  <a:lnTo>
                    <a:pt x="4140" y="737870"/>
                  </a:lnTo>
                  <a:lnTo>
                    <a:pt x="16713" y="656082"/>
                  </a:lnTo>
                  <a:lnTo>
                    <a:pt x="36855" y="577214"/>
                  </a:lnTo>
                  <a:lnTo>
                    <a:pt x="64554" y="501650"/>
                  </a:lnTo>
                  <a:lnTo>
                    <a:pt x="99009" y="429768"/>
                  </a:lnTo>
                  <a:lnTo>
                    <a:pt x="140512" y="362331"/>
                  </a:lnTo>
                  <a:lnTo>
                    <a:pt x="187452" y="299085"/>
                  </a:lnTo>
                  <a:lnTo>
                    <a:pt x="240715" y="240664"/>
                  </a:lnTo>
                  <a:lnTo>
                    <a:pt x="299021" y="187451"/>
                  </a:lnTo>
                  <a:lnTo>
                    <a:pt x="362305" y="140462"/>
                  </a:lnTo>
                  <a:lnTo>
                    <a:pt x="429806" y="99060"/>
                  </a:lnTo>
                  <a:lnTo>
                    <a:pt x="501650" y="64516"/>
                  </a:lnTo>
                  <a:lnTo>
                    <a:pt x="577215" y="36830"/>
                  </a:lnTo>
                  <a:lnTo>
                    <a:pt x="656082" y="16763"/>
                  </a:lnTo>
                  <a:lnTo>
                    <a:pt x="737870" y="4191"/>
                  </a:lnTo>
                  <a:lnTo>
                    <a:pt x="820547" y="0"/>
                  </a:lnTo>
                  <a:close/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05188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152400"/>
            <a:ext cx="9293861" cy="70532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Problems with Top-down 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524000"/>
            <a:ext cx="9144000" cy="32675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527050" marR="27305" indent="-514350">
              <a:lnSpc>
                <a:spcPct val="100000"/>
              </a:lnSpc>
              <a:spcBef>
                <a:spcPts val="61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27305" indent="-457200" algn="just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Backtracing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technique in which for expansion of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choose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 some mismatch occurs then  we try another alternative if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27305" indent="-457200" algn="just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non-terminal there are multiple production rules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same input symbol then to get the correct derivation we need  to try all these alternatives.</a:t>
            </a:r>
          </a:p>
        </p:txBody>
      </p:sp>
    </p:spTree>
    <p:extLst>
      <p:ext uri="{BB962C8B-B14F-4D97-AF65-F5344CB8AC3E}">
        <p14:creationId xmlns:p14="http://schemas.microsoft.com/office/powerpoint/2010/main" xmlns="" val="1252680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0055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Example</a:t>
            </a:r>
            <a:r>
              <a:rPr lang="en-US"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of Backtracking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7583170" cy="15570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241300" algn="l"/>
                <a:tab pos="1624965" algn="l"/>
              </a:tabLst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as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700" lvl="2" indent="-228600"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sz="28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700" lvl="2" indent="-228600"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sz="28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a|ab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0970" y="3420391"/>
            <a:ext cx="7804809" cy="2496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7606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1066800"/>
            <a:ext cx="10099675" cy="501675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241300" algn="l"/>
              </a:tabLst>
            </a:pP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spc="-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Recursion</a:t>
            </a:r>
            <a:endParaRPr lang="en-US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5080" lvl="2" algn="just">
              <a:lnSpc>
                <a:spcPts val="3020"/>
              </a:lnSpc>
              <a:spcBef>
                <a:spcPts val="1045"/>
              </a:spcBef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when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left-most non-terminal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 itself( direct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through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 definitions,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rewrites</a:t>
            </a: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 again(indirect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recursion). Consider these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pPr marL="2298700" marR="5080" lvl="4" indent="-457200" algn="just">
              <a:lnSpc>
                <a:spcPts val="3020"/>
              </a:lnSpc>
              <a:spcBef>
                <a:spcPts val="104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marR="5080" lvl="4" indent="-457200" algn="just">
              <a:lnSpc>
                <a:spcPts val="3020"/>
              </a:lnSpc>
              <a:spcBef>
                <a:spcPts val="104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0" marR="5080" lvl="4" indent="-457200" algn="just">
              <a:lnSpc>
                <a:spcPts val="3020"/>
              </a:lnSpc>
              <a:spcBef>
                <a:spcPts val="104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(indirect)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0" marR="5080" lvl="4" algn="just">
              <a:lnSpc>
                <a:spcPts val="3020"/>
              </a:lnSpc>
              <a:spcBef>
                <a:spcPts val="1045"/>
              </a:spcBef>
              <a:tabLst>
                <a:tab pos="241300" algn="l"/>
              </a:tabLst>
            </a:pP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if the parser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top-down  parsing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0" y="8709"/>
            <a:ext cx="9293861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  <a:tabLst>
                <a:tab pos="2807970" algn="l"/>
              </a:tabLst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Problems with Top-down  Parsing</a:t>
            </a:r>
          </a:p>
        </p:txBody>
      </p:sp>
    </p:spTree>
    <p:extLst>
      <p:ext uri="{BB962C8B-B14F-4D97-AF65-F5344CB8AC3E}">
        <p14:creationId xmlns:p14="http://schemas.microsoft.com/office/powerpoint/2010/main" xmlns="" val="1622061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1066800"/>
            <a:ext cx="10439400" cy="548098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spcBef>
                <a:spcPts val="760"/>
              </a:spcBef>
              <a:tabLst>
                <a:tab pos="241300" algn="l"/>
              </a:tabLst>
            </a:pPr>
            <a:r>
              <a:rPr lang="en-US" sz="2800" b="1" spc="-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spc="-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Factoring</a:t>
            </a:r>
            <a:endParaRPr lang="en-US" sz="2800" b="1" spc="-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1" algn="just">
              <a:spcBef>
                <a:spcPts val="760"/>
              </a:spcBef>
              <a:tabLst>
                <a:tab pos="241300" algn="l"/>
              </a:tabLst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factoring is removing the common left factor that appears in two  productions of the same non-terminal. It is done to avoid back-tracing  by the parser. Suppose the parser has a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look-ahead,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example-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1" algn="just">
              <a:spcBef>
                <a:spcPts val="760"/>
              </a:spcBef>
              <a:tabLst>
                <a:tab pos="241300" algn="l"/>
              </a:tabLst>
            </a:pP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qB | qC</a:t>
            </a:r>
          </a:p>
          <a:p>
            <a:pPr marL="927100" marR="183515" lvl="2" algn="just">
              <a:lnSpc>
                <a:spcPts val="3020"/>
              </a:lnSpc>
              <a:spcBef>
                <a:spcPts val="215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B,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non-terminals and q is a sentence. In this case, the  parser will be confused as to which of the two productions to choose  and it might have to back-trace. After left factoring, the grammar is  converted to-</a:t>
            </a:r>
          </a:p>
          <a:p>
            <a:pPr marL="1509395" lvl="3" indent="-125730">
              <a:spcBef>
                <a:spcPts val="615"/>
              </a:spcBef>
              <a:buSzPct val="96428"/>
              <a:buFont typeface="Arial"/>
              <a:buChar char="•"/>
              <a:tabLst>
                <a:tab pos="13843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</a:t>
            </a:r>
          </a:p>
          <a:p>
            <a:pPr marL="1509395" lvl="3" indent="-125730">
              <a:spcBef>
                <a:spcPts val="660"/>
              </a:spcBef>
              <a:buSzPct val="96428"/>
              <a:buFont typeface="Arial"/>
              <a:buChar char="•"/>
              <a:tabLst>
                <a:tab pos="13843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x-none" sz="28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| C</a:t>
            </a: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0" y="8709"/>
            <a:ext cx="9293861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  <a:tabLst>
                <a:tab pos="2807970" algn="l"/>
              </a:tabLst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Problems with Top-down  Parsing</a:t>
            </a:r>
          </a:p>
        </p:txBody>
      </p:sp>
    </p:spTree>
    <p:extLst>
      <p:ext uri="{BB962C8B-B14F-4D97-AF65-F5344CB8AC3E}">
        <p14:creationId xmlns:p14="http://schemas.microsoft.com/office/powerpoint/2010/main" xmlns="" val="245790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7814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Recursive Descent Parsing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447800"/>
            <a:ext cx="10111105" cy="491454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0" marR="5080" indent="-457200" algn="just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recursive descent parser is a kind of top-down parser built from a  set of mutually recursive procedures (or a non-recursive equivalent)  where each such procedure usually implements one of the  productions of the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recursive-descent parsing program consists of a set of procedures, one for each  nonterminal. Execution begins with the procedure for the start symbol, which halts  and announces success if 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procedure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scans the entire input 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</a:p>
          <a:p>
            <a:pPr marL="469900" marR="5080" lvl="0" indent="-457200" algn="just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This </a:t>
            </a:r>
            <a:r>
              <a:rPr lang="en-US" sz="2800" dirty="0">
                <a:solidFill>
                  <a:prstClr val="black"/>
                </a:solidFill>
                <a:latin typeface="Times New Roman"/>
                <a:cs typeface="Times New Roman"/>
              </a:rPr>
              <a:t>parsing </a:t>
            </a:r>
            <a:r>
              <a:rPr lang="en-US"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technique recursively parses the input to </a:t>
            </a:r>
            <a:r>
              <a:rPr lang="en-US" sz="2800" spc="-10" dirty="0">
                <a:solidFill>
                  <a:prstClr val="black"/>
                </a:solidFill>
                <a:latin typeface="Times New Roman"/>
                <a:cs typeface="Times New Roman"/>
              </a:rPr>
              <a:t>make </a:t>
            </a:r>
            <a:r>
              <a:rPr lang="en-US"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a parse</a:t>
            </a:r>
            <a:r>
              <a:rPr lang="en-US" sz="2800" spc="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tree</a:t>
            </a:r>
            <a:endParaRPr lang="en-US"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767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04301" y="1447800"/>
            <a:ext cx="10068499" cy="3841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10000"/>
              </a:lnSpc>
              <a:spcBef>
                <a:spcPts val="1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  <a:tab pos="635635" algn="l"/>
                <a:tab pos="2798445" algn="l"/>
                <a:tab pos="3688715" algn="l"/>
                <a:tab pos="4780280" algn="l"/>
                <a:tab pos="5222240" algn="l"/>
                <a:tab pos="6220460" algn="l"/>
                <a:tab pos="7032625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	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recursive-descent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for each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nonterminal in the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8600" algn="just">
              <a:lnSpc>
                <a:spcPct val="110000"/>
              </a:lnSpc>
              <a:spcBef>
                <a:spcPts val="1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  <a:tab pos="635635" algn="l"/>
                <a:tab pos="2798445" algn="l"/>
                <a:tab pos="3688715" algn="l"/>
                <a:tab pos="4780280" algn="l"/>
                <a:tab pos="5222240" algn="l"/>
                <a:tab pos="6220460" algn="l"/>
                <a:tab pos="7032625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 is associated with each nonterminal of a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 algn="just">
              <a:lnSpc>
                <a:spcPct val="110000"/>
              </a:lnSpc>
              <a:spcBef>
                <a:spcPts val="1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  <a:tab pos="635635" algn="l"/>
                <a:tab pos="2798445" algn="l"/>
                <a:tab pos="3688715" algn="l"/>
                <a:tab pos="4780280" algn="l"/>
                <a:tab pos="5222240" algn="l"/>
                <a:tab pos="6220460" algn="l"/>
                <a:tab pos="7032625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 parsing involves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 algn="just">
              <a:lnSpc>
                <a:spcPct val="110000"/>
              </a:lnSpc>
              <a:spcBef>
                <a:spcPts val="1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  <a:tab pos="635635" algn="l"/>
                <a:tab pos="2798445" algn="l"/>
                <a:tab pos="3688715" algn="l"/>
                <a:tab pos="4780280" algn="l"/>
                <a:tab pos="5222240" algn="l"/>
                <a:tab pos="6220460" algn="l"/>
                <a:tab pos="7032625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input string: </a:t>
            </a:r>
            <a:r>
              <a:rPr sz="2800" b="1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0000"/>
              </a:lnSpc>
              <a:spcBef>
                <a:spcPts val="100"/>
              </a:spcBef>
              <a:buClr>
                <a:srgbClr val="0A082D"/>
              </a:buClr>
              <a:tabLst>
                <a:tab pos="240665" algn="l"/>
                <a:tab pos="241300" algn="l"/>
                <a:tab pos="635635" algn="l"/>
                <a:tab pos="2798445" algn="l"/>
                <a:tab pos="3688715" algn="l"/>
                <a:tab pos="4780280" algn="l"/>
                <a:tab pos="5222240" algn="l"/>
                <a:tab pos="6220460" algn="l"/>
                <a:tab pos="7032625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2800" b="0" i="0" u="none" strike="noStrike" kern="1200" cap="none" spc="-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en-US" sz="2800" b="0" i="0" u="none" strike="noStrike" kern="1200" cap="none" spc="-1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sz="22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→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rXd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89000" lvl="1">
              <a:spcBef>
                <a:spcPts val="975"/>
              </a:spcBef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 →</a:t>
            </a:r>
            <a:r>
              <a:rPr kumimoji="0" sz="2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oa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89000" lvl="1">
              <a:spcBef>
                <a:spcPts val="960"/>
              </a:spcBef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 →</a:t>
            </a:r>
            <a:r>
              <a:rPr kumimoji="0" sz="22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12335" y="4760976"/>
            <a:ext cx="1539239" cy="142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28944" y="4309871"/>
            <a:ext cx="1498092" cy="2330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2880" y="4309871"/>
            <a:ext cx="1580387" cy="23301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59111" y="4309871"/>
            <a:ext cx="1662683" cy="2330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5062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Recursive Descent Parsing - Example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85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451" y="1273594"/>
            <a:ext cx="10694670" cy="152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77285">
              <a:lnSpc>
                <a:spcPct val="120000"/>
              </a:lnSpc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grammar with input string “cad”:  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3677285" lvl="2">
              <a:lnSpc>
                <a:spcPct val="120000"/>
              </a:lnSpc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800" spc="-1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→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</a:t>
            </a:r>
          </a:p>
          <a:p>
            <a:pPr marL="927100" lvl="2">
              <a:spcBef>
                <a:spcPts val="385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→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| a</a:t>
            </a:r>
          </a:p>
        </p:txBody>
      </p:sp>
      <p:sp>
        <p:nvSpPr>
          <p:cNvPr id="15" name="object 15"/>
          <p:cNvSpPr/>
          <p:nvPr/>
        </p:nvSpPr>
        <p:spPr>
          <a:xfrm>
            <a:off x="6553200" y="2667000"/>
            <a:ext cx="45720" cy="45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664077" y="3456558"/>
            <a:ext cx="4642867" cy="1442975"/>
            <a:chOff x="3664077" y="3456558"/>
            <a:chExt cx="4642867" cy="1442975"/>
          </a:xfrm>
        </p:grpSpPr>
        <p:sp>
          <p:nvSpPr>
            <p:cNvPr id="3" name="object 3"/>
            <p:cNvSpPr/>
            <p:nvPr/>
          </p:nvSpPr>
          <p:spPr>
            <a:xfrm>
              <a:off x="4186047" y="37298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80" h="385445">
                  <a:moveTo>
                    <a:pt x="218566" y="336169"/>
                  </a:moveTo>
                  <a:lnTo>
                    <a:pt x="214883" y="337819"/>
                  </a:lnTo>
                  <a:lnTo>
                    <a:pt x="212344" y="344424"/>
                  </a:lnTo>
                  <a:lnTo>
                    <a:pt x="213994" y="348106"/>
                  </a:lnTo>
                  <a:lnTo>
                    <a:pt x="217296" y="349250"/>
                  </a:lnTo>
                  <a:lnTo>
                    <a:pt x="309752" y="384937"/>
                  </a:lnTo>
                  <a:lnTo>
                    <a:pt x="308890" y="379094"/>
                  </a:lnTo>
                  <a:lnTo>
                    <a:pt x="296925" y="379094"/>
                  </a:lnTo>
                  <a:lnTo>
                    <a:pt x="282236" y="360729"/>
                  </a:lnTo>
                  <a:lnTo>
                    <a:pt x="218566" y="336169"/>
                  </a:lnTo>
                  <a:close/>
                </a:path>
                <a:path w="309880" h="385445">
                  <a:moveTo>
                    <a:pt x="282236" y="360729"/>
                  </a:moveTo>
                  <a:lnTo>
                    <a:pt x="296925" y="379094"/>
                  </a:lnTo>
                  <a:lnTo>
                    <a:pt x="300699" y="376047"/>
                  </a:lnTo>
                  <a:lnTo>
                    <a:pt x="295655" y="376047"/>
                  </a:lnTo>
                  <a:lnTo>
                    <a:pt x="294059" y="365290"/>
                  </a:lnTo>
                  <a:lnTo>
                    <a:pt x="282236" y="360729"/>
                  </a:lnTo>
                  <a:close/>
                </a:path>
                <a:path w="309880" h="385445">
                  <a:moveTo>
                    <a:pt x="291591" y="281050"/>
                  </a:moveTo>
                  <a:lnTo>
                    <a:pt x="284606" y="282067"/>
                  </a:lnTo>
                  <a:lnTo>
                    <a:pt x="282194" y="285369"/>
                  </a:lnTo>
                  <a:lnTo>
                    <a:pt x="292207" y="352816"/>
                  </a:lnTo>
                  <a:lnTo>
                    <a:pt x="306831" y="371094"/>
                  </a:lnTo>
                  <a:lnTo>
                    <a:pt x="296925" y="379094"/>
                  </a:lnTo>
                  <a:lnTo>
                    <a:pt x="308890" y="379094"/>
                  </a:lnTo>
                  <a:lnTo>
                    <a:pt x="294766" y="283463"/>
                  </a:lnTo>
                  <a:lnTo>
                    <a:pt x="291591" y="281050"/>
                  </a:lnTo>
                  <a:close/>
                </a:path>
                <a:path w="309880" h="385445">
                  <a:moveTo>
                    <a:pt x="294059" y="365290"/>
                  </a:moveTo>
                  <a:lnTo>
                    <a:pt x="295655" y="376047"/>
                  </a:lnTo>
                  <a:lnTo>
                    <a:pt x="304164" y="369188"/>
                  </a:lnTo>
                  <a:lnTo>
                    <a:pt x="294059" y="365290"/>
                  </a:lnTo>
                  <a:close/>
                </a:path>
                <a:path w="309880" h="385445">
                  <a:moveTo>
                    <a:pt x="292207" y="352816"/>
                  </a:moveTo>
                  <a:lnTo>
                    <a:pt x="294059" y="365290"/>
                  </a:lnTo>
                  <a:lnTo>
                    <a:pt x="304164" y="369188"/>
                  </a:lnTo>
                  <a:lnTo>
                    <a:pt x="295655" y="376047"/>
                  </a:lnTo>
                  <a:lnTo>
                    <a:pt x="300699" y="376047"/>
                  </a:lnTo>
                  <a:lnTo>
                    <a:pt x="306831" y="371094"/>
                  </a:lnTo>
                  <a:lnTo>
                    <a:pt x="292207" y="352816"/>
                  </a:lnTo>
                  <a:close/>
                </a:path>
                <a:path w="309880" h="385445">
                  <a:moveTo>
                    <a:pt x="9905" y="0"/>
                  </a:moveTo>
                  <a:lnTo>
                    <a:pt x="0" y="7874"/>
                  </a:lnTo>
                  <a:lnTo>
                    <a:pt x="282236" y="360729"/>
                  </a:lnTo>
                  <a:lnTo>
                    <a:pt x="294059" y="365290"/>
                  </a:lnTo>
                  <a:lnTo>
                    <a:pt x="292207" y="352816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733800" y="37298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80" h="385445">
                  <a:moveTo>
                    <a:pt x="18161" y="281050"/>
                  </a:moveTo>
                  <a:lnTo>
                    <a:pt x="14986" y="283463"/>
                  </a:lnTo>
                  <a:lnTo>
                    <a:pt x="0" y="384937"/>
                  </a:lnTo>
                  <a:lnTo>
                    <a:pt x="15135" y="379094"/>
                  </a:lnTo>
                  <a:lnTo>
                    <a:pt x="12826" y="379094"/>
                  </a:lnTo>
                  <a:lnTo>
                    <a:pt x="2920" y="371094"/>
                  </a:lnTo>
                  <a:lnTo>
                    <a:pt x="17545" y="352816"/>
                  </a:lnTo>
                  <a:lnTo>
                    <a:pt x="27558" y="285369"/>
                  </a:lnTo>
                  <a:lnTo>
                    <a:pt x="25145" y="282067"/>
                  </a:lnTo>
                  <a:lnTo>
                    <a:pt x="18161" y="281050"/>
                  </a:lnTo>
                  <a:close/>
                </a:path>
                <a:path w="309880" h="385445">
                  <a:moveTo>
                    <a:pt x="17545" y="352816"/>
                  </a:moveTo>
                  <a:lnTo>
                    <a:pt x="2920" y="371094"/>
                  </a:lnTo>
                  <a:lnTo>
                    <a:pt x="12826" y="379094"/>
                  </a:lnTo>
                  <a:lnTo>
                    <a:pt x="15264" y="376047"/>
                  </a:lnTo>
                  <a:lnTo>
                    <a:pt x="14097" y="376047"/>
                  </a:lnTo>
                  <a:lnTo>
                    <a:pt x="5587" y="369188"/>
                  </a:lnTo>
                  <a:lnTo>
                    <a:pt x="15693" y="365290"/>
                  </a:lnTo>
                  <a:lnTo>
                    <a:pt x="17545" y="352816"/>
                  </a:lnTo>
                  <a:close/>
                </a:path>
                <a:path w="309880" h="385445">
                  <a:moveTo>
                    <a:pt x="91186" y="336169"/>
                  </a:moveTo>
                  <a:lnTo>
                    <a:pt x="27516" y="360729"/>
                  </a:lnTo>
                  <a:lnTo>
                    <a:pt x="12826" y="379094"/>
                  </a:lnTo>
                  <a:lnTo>
                    <a:pt x="15135" y="379094"/>
                  </a:lnTo>
                  <a:lnTo>
                    <a:pt x="92456" y="349250"/>
                  </a:lnTo>
                  <a:lnTo>
                    <a:pt x="95757" y="348106"/>
                  </a:lnTo>
                  <a:lnTo>
                    <a:pt x="97408" y="344424"/>
                  </a:lnTo>
                  <a:lnTo>
                    <a:pt x="94868" y="337819"/>
                  </a:lnTo>
                  <a:lnTo>
                    <a:pt x="91186" y="336169"/>
                  </a:lnTo>
                  <a:close/>
                </a:path>
                <a:path w="309880" h="385445">
                  <a:moveTo>
                    <a:pt x="15693" y="365290"/>
                  </a:moveTo>
                  <a:lnTo>
                    <a:pt x="5587" y="369188"/>
                  </a:lnTo>
                  <a:lnTo>
                    <a:pt x="14097" y="376047"/>
                  </a:lnTo>
                  <a:lnTo>
                    <a:pt x="15693" y="365290"/>
                  </a:lnTo>
                  <a:close/>
                </a:path>
                <a:path w="309880" h="385445">
                  <a:moveTo>
                    <a:pt x="27516" y="360729"/>
                  </a:moveTo>
                  <a:lnTo>
                    <a:pt x="15693" y="365290"/>
                  </a:lnTo>
                  <a:lnTo>
                    <a:pt x="14097" y="376047"/>
                  </a:lnTo>
                  <a:lnTo>
                    <a:pt x="15264" y="376047"/>
                  </a:lnTo>
                  <a:lnTo>
                    <a:pt x="27516" y="360729"/>
                  </a:lnTo>
                  <a:close/>
                </a:path>
                <a:path w="309880" h="385445">
                  <a:moveTo>
                    <a:pt x="299847" y="0"/>
                  </a:moveTo>
                  <a:lnTo>
                    <a:pt x="17545" y="352816"/>
                  </a:lnTo>
                  <a:lnTo>
                    <a:pt x="15693" y="365290"/>
                  </a:lnTo>
                  <a:lnTo>
                    <a:pt x="27516" y="360729"/>
                  </a:lnTo>
                  <a:lnTo>
                    <a:pt x="309752" y="7874"/>
                  </a:lnTo>
                  <a:lnTo>
                    <a:pt x="29984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114800" y="37338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014846" y="38060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218566" y="336169"/>
                  </a:moveTo>
                  <a:lnTo>
                    <a:pt x="214883" y="337819"/>
                  </a:lnTo>
                  <a:lnTo>
                    <a:pt x="212343" y="344424"/>
                  </a:lnTo>
                  <a:lnTo>
                    <a:pt x="213994" y="348106"/>
                  </a:lnTo>
                  <a:lnTo>
                    <a:pt x="217297" y="349250"/>
                  </a:lnTo>
                  <a:lnTo>
                    <a:pt x="309752" y="384937"/>
                  </a:lnTo>
                  <a:lnTo>
                    <a:pt x="308890" y="379094"/>
                  </a:lnTo>
                  <a:lnTo>
                    <a:pt x="296925" y="379094"/>
                  </a:lnTo>
                  <a:lnTo>
                    <a:pt x="282236" y="360729"/>
                  </a:lnTo>
                  <a:lnTo>
                    <a:pt x="218566" y="336169"/>
                  </a:lnTo>
                  <a:close/>
                </a:path>
                <a:path w="309879" h="385445">
                  <a:moveTo>
                    <a:pt x="282236" y="360729"/>
                  </a:moveTo>
                  <a:lnTo>
                    <a:pt x="296925" y="379094"/>
                  </a:lnTo>
                  <a:lnTo>
                    <a:pt x="300699" y="376047"/>
                  </a:lnTo>
                  <a:lnTo>
                    <a:pt x="295655" y="376047"/>
                  </a:lnTo>
                  <a:lnTo>
                    <a:pt x="294059" y="365290"/>
                  </a:lnTo>
                  <a:lnTo>
                    <a:pt x="282236" y="360729"/>
                  </a:lnTo>
                  <a:close/>
                </a:path>
                <a:path w="309879" h="385445">
                  <a:moveTo>
                    <a:pt x="291591" y="281050"/>
                  </a:moveTo>
                  <a:lnTo>
                    <a:pt x="284606" y="282067"/>
                  </a:lnTo>
                  <a:lnTo>
                    <a:pt x="282193" y="285369"/>
                  </a:lnTo>
                  <a:lnTo>
                    <a:pt x="292207" y="352816"/>
                  </a:lnTo>
                  <a:lnTo>
                    <a:pt x="306831" y="371094"/>
                  </a:lnTo>
                  <a:lnTo>
                    <a:pt x="296925" y="379094"/>
                  </a:lnTo>
                  <a:lnTo>
                    <a:pt x="308890" y="379094"/>
                  </a:lnTo>
                  <a:lnTo>
                    <a:pt x="294766" y="283463"/>
                  </a:lnTo>
                  <a:lnTo>
                    <a:pt x="291591" y="281050"/>
                  </a:lnTo>
                  <a:close/>
                </a:path>
                <a:path w="309879" h="385445">
                  <a:moveTo>
                    <a:pt x="294059" y="365290"/>
                  </a:moveTo>
                  <a:lnTo>
                    <a:pt x="295655" y="376047"/>
                  </a:lnTo>
                  <a:lnTo>
                    <a:pt x="304164" y="369188"/>
                  </a:lnTo>
                  <a:lnTo>
                    <a:pt x="294059" y="365290"/>
                  </a:lnTo>
                  <a:close/>
                </a:path>
                <a:path w="309879" h="385445">
                  <a:moveTo>
                    <a:pt x="292207" y="352816"/>
                  </a:moveTo>
                  <a:lnTo>
                    <a:pt x="294059" y="365290"/>
                  </a:lnTo>
                  <a:lnTo>
                    <a:pt x="304164" y="369188"/>
                  </a:lnTo>
                  <a:lnTo>
                    <a:pt x="295655" y="376047"/>
                  </a:lnTo>
                  <a:lnTo>
                    <a:pt x="300699" y="376047"/>
                  </a:lnTo>
                  <a:lnTo>
                    <a:pt x="306831" y="371094"/>
                  </a:lnTo>
                  <a:lnTo>
                    <a:pt x="292207" y="352816"/>
                  </a:lnTo>
                  <a:close/>
                </a:path>
                <a:path w="309879" h="385445">
                  <a:moveTo>
                    <a:pt x="9905" y="0"/>
                  </a:moveTo>
                  <a:lnTo>
                    <a:pt x="0" y="7874"/>
                  </a:lnTo>
                  <a:lnTo>
                    <a:pt x="282236" y="360729"/>
                  </a:lnTo>
                  <a:lnTo>
                    <a:pt x="294059" y="365290"/>
                  </a:lnTo>
                  <a:lnTo>
                    <a:pt x="292207" y="352816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62600" y="38060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18161" y="281050"/>
                  </a:moveTo>
                  <a:lnTo>
                    <a:pt x="14986" y="283463"/>
                  </a:lnTo>
                  <a:lnTo>
                    <a:pt x="0" y="384937"/>
                  </a:lnTo>
                  <a:lnTo>
                    <a:pt x="15135" y="379094"/>
                  </a:lnTo>
                  <a:lnTo>
                    <a:pt x="12826" y="379094"/>
                  </a:lnTo>
                  <a:lnTo>
                    <a:pt x="2921" y="371094"/>
                  </a:lnTo>
                  <a:lnTo>
                    <a:pt x="17545" y="352816"/>
                  </a:lnTo>
                  <a:lnTo>
                    <a:pt x="27559" y="285369"/>
                  </a:lnTo>
                  <a:lnTo>
                    <a:pt x="25146" y="282067"/>
                  </a:lnTo>
                  <a:lnTo>
                    <a:pt x="18161" y="281050"/>
                  </a:lnTo>
                  <a:close/>
                </a:path>
                <a:path w="309879" h="385445">
                  <a:moveTo>
                    <a:pt x="17545" y="352816"/>
                  </a:moveTo>
                  <a:lnTo>
                    <a:pt x="2921" y="371094"/>
                  </a:lnTo>
                  <a:lnTo>
                    <a:pt x="12826" y="379094"/>
                  </a:lnTo>
                  <a:lnTo>
                    <a:pt x="15264" y="376047"/>
                  </a:lnTo>
                  <a:lnTo>
                    <a:pt x="14097" y="376047"/>
                  </a:lnTo>
                  <a:lnTo>
                    <a:pt x="5587" y="369188"/>
                  </a:lnTo>
                  <a:lnTo>
                    <a:pt x="15693" y="365290"/>
                  </a:lnTo>
                  <a:lnTo>
                    <a:pt x="17545" y="352816"/>
                  </a:lnTo>
                  <a:close/>
                </a:path>
                <a:path w="309879" h="385445">
                  <a:moveTo>
                    <a:pt x="91186" y="336169"/>
                  </a:moveTo>
                  <a:lnTo>
                    <a:pt x="27516" y="360729"/>
                  </a:lnTo>
                  <a:lnTo>
                    <a:pt x="12826" y="379094"/>
                  </a:lnTo>
                  <a:lnTo>
                    <a:pt x="15135" y="379094"/>
                  </a:lnTo>
                  <a:lnTo>
                    <a:pt x="92455" y="349250"/>
                  </a:lnTo>
                  <a:lnTo>
                    <a:pt x="95758" y="348106"/>
                  </a:lnTo>
                  <a:lnTo>
                    <a:pt x="97409" y="344424"/>
                  </a:lnTo>
                  <a:lnTo>
                    <a:pt x="94869" y="337819"/>
                  </a:lnTo>
                  <a:lnTo>
                    <a:pt x="91186" y="336169"/>
                  </a:lnTo>
                  <a:close/>
                </a:path>
                <a:path w="309879" h="385445">
                  <a:moveTo>
                    <a:pt x="15693" y="365290"/>
                  </a:moveTo>
                  <a:lnTo>
                    <a:pt x="5587" y="369188"/>
                  </a:lnTo>
                  <a:lnTo>
                    <a:pt x="14097" y="376047"/>
                  </a:lnTo>
                  <a:lnTo>
                    <a:pt x="15693" y="365290"/>
                  </a:lnTo>
                  <a:close/>
                </a:path>
                <a:path w="309879" h="385445">
                  <a:moveTo>
                    <a:pt x="27516" y="360729"/>
                  </a:moveTo>
                  <a:lnTo>
                    <a:pt x="15693" y="365290"/>
                  </a:lnTo>
                  <a:lnTo>
                    <a:pt x="14097" y="376047"/>
                  </a:lnTo>
                  <a:lnTo>
                    <a:pt x="15264" y="376047"/>
                  </a:lnTo>
                  <a:lnTo>
                    <a:pt x="27516" y="360729"/>
                  </a:lnTo>
                  <a:close/>
                </a:path>
                <a:path w="309879" h="385445">
                  <a:moveTo>
                    <a:pt x="299847" y="0"/>
                  </a:moveTo>
                  <a:lnTo>
                    <a:pt x="17545" y="352816"/>
                  </a:lnTo>
                  <a:lnTo>
                    <a:pt x="15693" y="365290"/>
                  </a:lnTo>
                  <a:lnTo>
                    <a:pt x="27516" y="360729"/>
                  </a:lnTo>
                  <a:lnTo>
                    <a:pt x="309752" y="7874"/>
                  </a:lnTo>
                  <a:lnTo>
                    <a:pt x="29984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943600" y="38100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014846" y="43394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218566" y="336169"/>
                  </a:moveTo>
                  <a:lnTo>
                    <a:pt x="214883" y="337819"/>
                  </a:lnTo>
                  <a:lnTo>
                    <a:pt x="212343" y="344424"/>
                  </a:lnTo>
                  <a:lnTo>
                    <a:pt x="213994" y="348106"/>
                  </a:lnTo>
                  <a:lnTo>
                    <a:pt x="217297" y="349250"/>
                  </a:lnTo>
                  <a:lnTo>
                    <a:pt x="309752" y="384937"/>
                  </a:lnTo>
                  <a:lnTo>
                    <a:pt x="308890" y="379094"/>
                  </a:lnTo>
                  <a:lnTo>
                    <a:pt x="296925" y="379094"/>
                  </a:lnTo>
                  <a:lnTo>
                    <a:pt x="282236" y="360729"/>
                  </a:lnTo>
                  <a:lnTo>
                    <a:pt x="218566" y="336169"/>
                  </a:lnTo>
                  <a:close/>
                </a:path>
                <a:path w="309879" h="385445">
                  <a:moveTo>
                    <a:pt x="282236" y="360729"/>
                  </a:moveTo>
                  <a:lnTo>
                    <a:pt x="296925" y="379094"/>
                  </a:lnTo>
                  <a:lnTo>
                    <a:pt x="300699" y="376047"/>
                  </a:lnTo>
                  <a:lnTo>
                    <a:pt x="295655" y="376047"/>
                  </a:lnTo>
                  <a:lnTo>
                    <a:pt x="294059" y="365290"/>
                  </a:lnTo>
                  <a:lnTo>
                    <a:pt x="282236" y="360729"/>
                  </a:lnTo>
                  <a:close/>
                </a:path>
                <a:path w="309879" h="385445">
                  <a:moveTo>
                    <a:pt x="291591" y="281050"/>
                  </a:moveTo>
                  <a:lnTo>
                    <a:pt x="284606" y="282067"/>
                  </a:lnTo>
                  <a:lnTo>
                    <a:pt x="282193" y="285369"/>
                  </a:lnTo>
                  <a:lnTo>
                    <a:pt x="292207" y="352816"/>
                  </a:lnTo>
                  <a:lnTo>
                    <a:pt x="306831" y="371094"/>
                  </a:lnTo>
                  <a:lnTo>
                    <a:pt x="296925" y="379094"/>
                  </a:lnTo>
                  <a:lnTo>
                    <a:pt x="308890" y="379094"/>
                  </a:lnTo>
                  <a:lnTo>
                    <a:pt x="294766" y="283463"/>
                  </a:lnTo>
                  <a:lnTo>
                    <a:pt x="291591" y="281050"/>
                  </a:lnTo>
                  <a:close/>
                </a:path>
                <a:path w="309879" h="385445">
                  <a:moveTo>
                    <a:pt x="294059" y="365290"/>
                  </a:moveTo>
                  <a:lnTo>
                    <a:pt x="295655" y="376047"/>
                  </a:lnTo>
                  <a:lnTo>
                    <a:pt x="304164" y="369188"/>
                  </a:lnTo>
                  <a:lnTo>
                    <a:pt x="294059" y="365290"/>
                  </a:lnTo>
                  <a:close/>
                </a:path>
                <a:path w="309879" h="385445">
                  <a:moveTo>
                    <a:pt x="292207" y="352816"/>
                  </a:moveTo>
                  <a:lnTo>
                    <a:pt x="294059" y="365290"/>
                  </a:lnTo>
                  <a:lnTo>
                    <a:pt x="304164" y="369188"/>
                  </a:lnTo>
                  <a:lnTo>
                    <a:pt x="295655" y="376047"/>
                  </a:lnTo>
                  <a:lnTo>
                    <a:pt x="300699" y="376047"/>
                  </a:lnTo>
                  <a:lnTo>
                    <a:pt x="306831" y="371094"/>
                  </a:lnTo>
                  <a:lnTo>
                    <a:pt x="292207" y="352816"/>
                  </a:lnTo>
                  <a:close/>
                </a:path>
                <a:path w="309879" h="385445">
                  <a:moveTo>
                    <a:pt x="9905" y="0"/>
                  </a:moveTo>
                  <a:lnTo>
                    <a:pt x="0" y="7874"/>
                  </a:lnTo>
                  <a:lnTo>
                    <a:pt x="282236" y="360729"/>
                  </a:lnTo>
                  <a:lnTo>
                    <a:pt x="294059" y="365290"/>
                  </a:lnTo>
                  <a:lnTo>
                    <a:pt x="292207" y="352816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562600" y="43394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18161" y="281050"/>
                  </a:moveTo>
                  <a:lnTo>
                    <a:pt x="14986" y="283463"/>
                  </a:lnTo>
                  <a:lnTo>
                    <a:pt x="0" y="384937"/>
                  </a:lnTo>
                  <a:lnTo>
                    <a:pt x="15135" y="379094"/>
                  </a:lnTo>
                  <a:lnTo>
                    <a:pt x="12826" y="379094"/>
                  </a:lnTo>
                  <a:lnTo>
                    <a:pt x="2921" y="371094"/>
                  </a:lnTo>
                  <a:lnTo>
                    <a:pt x="17546" y="352815"/>
                  </a:lnTo>
                  <a:lnTo>
                    <a:pt x="27050" y="288798"/>
                  </a:lnTo>
                  <a:lnTo>
                    <a:pt x="27559" y="285242"/>
                  </a:lnTo>
                  <a:lnTo>
                    <a:pt x="25146" y="282067"/>
                  </a:lnTo>
                  <a:lnTo>
                    <a:pt x="18161" y="281050"/>
                  </a:lnTo>
                  <a:close/>
                </a:path>
                <a:path w="309879" h="385445">
                  <a:moveTo>
                    <a:pt x="17546" y="352815"/>
                  </a:moveTo>
                  <a:lnTo>
                    <a:pt x="2921" y="371094"/>
                  </a:lnTo>
                  <a:lnTo>
                    <a:pt x="12826" y="379094"/>
                  </a:lnTo>
                  <a:lnTo>
                    <a:pt x="15264" y="376047"/>
                  </a:lnTo>
                  <a:lnTo>
                    <a:pt x="14097" y="376047"/>
                  </a:lnTo>
                  <a:lnTo>
                    <a:pt x="5587" y="369188"/>
                  </a:lnTo>
                  <a:lnTo>
                    <a:pt x="15694" y="365290"/>
                  </a:lnTo>
                  <a:lnTo>
                    <a:pt x="17546" y="352815"/>
                  </a:lnTo>
                  <a:close/>
                </a:path>
                <a:path w="309879" h="385445">
                  <a:moveTo>
                    <a:pt x="91186" y="336169"/>
                  </a:moveTo>
                  <a:lnTo>
                    <a:pt x="27516" y="360729"/>
                  </a:lnTo>
                  <a:lnTo>
                    <a:pt x="12826" y="379094"/>
                  </a:lnTo>
                  <a:lnTo>
                    <a:pt x="15135" y="379094"/>
                  </a:lnTo>
                  <a:lnTo>
                    <a:pt x="92455" y="349250"/>
                  </a:lnTo>
                  <a:lnTo>
                    <a:pt x="95758" y="348106"/>
                  </a:lnTo>
                  <a:lnTo>
                    <a:pt x="97409" y="344424"/>
                  </a:lnTo>
                  <a:lnTo>
                    <a:pt x="94869" y="337819"/>
                  </a:lnTo>
                  <a:lnTo>
                    <a:pt x="91186" y="336169"/>
                  </a:lnTo>
                  <a:close/>
                </a:path>
                <a:path w="309879" h="385445">
                  <a:moveTo>
                    <a:pt x="15694" y="365290"/>
                  </a:moveTo>
                  <a:lnTo>
                    <a:pt x="5587" y="369188"/>
                  </a:lnTo>
                  <a:lnTo>
                    <a:pt x="14097" y="376047"/>
                  </a:lnTo>
                  <a:lnTo>
                    <a:pt x="15694" y="365290"/>
                  </a:lnTo>
                  <a:close/>
                </a:path>
                <a:path w="309879" h="385445">
                  <a:moveTo>
                    <a:pt x="27516" y="360729"/>
                  </a:moveTo>
                  <a:lnTo>
                    <a:pt x="15694" y="365290"/>
                  </a:lnTo>
                  <a:lnTo>
                    <a:pt x="14097" y="376047"/>
                  </a:lnTo>
                  <a:lnTo>
                    <a:pt x="15264" y="376047"/>
                  </a:lnTo>
                  <a:lnTo>
                    <a:pt x="27516" y="360729"/>
                  </a:lnTo>
                  <a:close/>
                </a:path>
                <a:path w="309879" h="385445">
                  <a:moveTo>
                    <a:pt x="299847" y="0"/>
                  </a:moveTo>
                  <a:lnTo>
                    <a:pt x="17546" y="352815"/>
                  </a:lnTo>
                  <a:lnTo>
                    <a:pt x="15694" y="365290"/>
                  </a:lnTo>
                  <a:lnTo>
                    <a:pt x="27516" y="360729"/>
                  </a:lnTo>
                  <a:lnTo>
                    <a:pt x="309752" y="7874"/>
                  </a:lnTo>
                  <a:lnTo>
                    <a:pt x="29984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919846" y="38060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218567" y="336169"/>
                  </a:moveTo>
                  <a:lnTo>
                    <a:pt x="214883" y="337819"/>
                  </a:lnTo>
                  <a:lnTo>
                    <a:pt x="212344" y="344424"/>
                  </a:lnTo>
                  <a:lnTo>
                    <a:pt x="213995" y="348106"/>
                  </a:lnTo>
                  <a:lnTo>
                    <a:pt x="217297" y="349250"/>
                  </a:lnTo>
                  <a:lnTo>
                    <a:pt x="309752" y="384937"/>
                  </a:lnTo>
                  <a:lnTo>
                    <a:pt x="308890" y="379094"/>
                  </a:lnTo>
                  <a:lnTo>
                    <a:pt x="296925" y="379094"/>
                  </a:lnTo>
                  <a:lnTo>
                    <a:pt x="282236" y="360729"/>
                  </a:lnTo>
                  <a:lnTo>
                    <a:pt x="218567" y="336169"/>
                  </a:lnTo>
                  <a:close/>
                </a:path>
                <a:path w="309879" h="385445">
                  <a:moveTo>
                    <a:pt x="282236" y="360729"/>
                  </a:moveTo>
                  <a:lnTo>
                    <a:pt x="296925" y="379094"/>
                  </a:lnTo>
                  <a:lnTo>
                    <a:pt x="300699" y="376047"/>
                  </a:lnTo>
                  <a:lnTo>
                    <a:pt x="295655" y="376047"/>
                  </a:lnTo>
                  <a:lnTo>
                    <a:pt x="294059" y="365290"/>
                  </a:lnTo>
                  <a:lnTo>
                    <a:pt x="282236" y="360729"/>
                  </a:lnTo>
                  <a:close/>
                </a:path>
                <a:path w="309879" h="385445">
                  <a:moveTo>
                    <a:pt x="291592" y="281050"/>
                  </a:moveTo>
                  <a:lnTo>
                    <a:pt x="284606" y="282067"/>
                  </a:lnTo>
                  <a:lnTo>
                    <a:pt x="282194" y="285369"/>
                  </a:lnTo>
                  <a:lnTo>
                    <a:pt x="292207" y="352816"/>
                  </a:lnTo>
                  <a:lnTo>
                    <a:pt x="306831" y="371094"/>
                  </a:lnTo>
                  <a:lnTo>
                    <a:pt x="296925" y="379094"/>
                  </a:lnTo>
                  <a:lnTo>
                    <a:pt x="308890" y="379094"/>
                  </a:lnTo>
                  <a:lnTo>
                    <a:pt x="294767" y="283463"/>
                  </a:lnTo>
                  <a:lnTo>
                    <a:pt x="291592" y="281050"/>
                  </a:lnTo>
                  <a:close/>
                </a:path>
                <a:path w="309879" h="385445">
                  <a:moveTo>
                    <a:pt x="294059" y="365290"/>
                  </a:moveTo>
                  <a:lnTo>
                    <a:pt x="295655" y="376047"/>
                  </a:lnTo>
                  <a:lnTo>
                    <a:pt x="304164" y="369188"/>
                  </a:lnTo>
                  <a:lnTo>
                    <a:pt x="294059" y="365290"/>
                  </a:lnTo>
                  <a:close/>
                </a:path>
                <a:path w="309879" h="385445">
                  <a:moveTo>
                    <a:pt x="292207" y="352816"/>
                  </a:moveTo>
                  <a:lnTo>
                    <a:pt x="294059" y="365290"/>
                  </a:lnTo>
                  <a:lnTo>
                    <a:pt x="304164" y="369188"/>
                  </a:lnTo>
                  <a:lnTo>
                    <a:pt x="295655" y="376047"/>
                  </a:lnTo>
                  <a:lnTo>
                    <a:pt x="300699" y="376047"/>
                  </a:lnTo>
                  <a:lnTo>
                    <a:pt x="306831" y="371094"/>
                  </a:lnTo>
                  <a:lnTo>
                    <a:pt x="292207" y="352816"/>
                  </a:lnTo>
                  <a:close/>
                </a:path>
                <a:path w="309879" h="385445">
                  <a:moveTo>
                    <a:pt x="9905" y="0"/>
                  </a:moveTo>
                  <a:lnTo>
                    <a:pt x="0" y="7874"/>
                  </a:lnTo>
                  <a:lnTo>
                    <a:pt x="282236" y="360729"/>
                  </a:lnTo>
                  <a:lnTo>
                    <a:pt x="294059" y="365290"/>
                  </a:lnTo>
                  <a:lnTo>
                    <a:pt x="292207" y="352816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467600" y="3806064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18161" y="281050"/>
                  </a:moveTo>
                  <a:lnTo>
                    <a:pt x="14986" y="283463"/>
                  </a:lnTo>
                  <a:lnTo>
                    <a:pt x="0" y="384937"/>
                  </a:lnTo>
                  <a:lnTo>
                    <a:pt x="15135" y="379094"/>
                  </a:lnTo>
                  <a:lnTo>
                    <a:pt x="12826" y="379094"/>
                  </a:lnTo>
                  <a:lnTo>
                    <a:pt x="2921" y="371094"/>
                  </a:lnTo>
                  <a:lnTo>
                    <a:pt x="17545" y="352816"/>
                  </a:lnTo>
                  <a:lnTo>
                    <a:pt x="27559" y="285369"/>
                  </a:lnTo>
                  <a:lnTo>
                    <a:pt x="25146" y="282067"/>
                  </a:lnTo>
                  <a:lnTo>
                    <a:pt x="18161" y="281050"/>
                  </a:lnTo>
                  <a:close/>
                </a:path>
                <a:path w="309879" h="385445">
                  <a:moveTo>
                    <a:pt x="17545" y="352816"/>
                  </a:moveTo>
                  <a:lnTo>
                    <a:pt x="2921" y="371094"/>
                  </a:lnTo>
                  <a:lnTo>
                    <a:pt x="12826" y="379094"/>
                  </a:lnTo>
                  <a:lnTo>
                    <a:pt x="15264" y="376047"/>
                  </a:lnTo>
                  <a:lnTo>
                    <a:pt x="14097" y="376047"/>
                  </a:lnTo>
                  <a:lnTo>
                    <a:pt x="5587" y="369188"/>
                  </a:lnTo>
                  <a:lnTo>
                    <a:pt x="15693" y="365290"/>
                  </a:lnTo>
                  <a:lnTo>
                    <a:pt x="17545" y="352816"/>
                  </a:lnTo>
                  <a:close/>
                </a:path>
                <a:path w="309879" h="385445">
                  <a:moveTo>
                    <a:pt x="91186" y="336169"/>
                  </a:moveTo>
                  <a:lnTo>
                    <a:pt x="27516" y="360729"/>
                  </a:lnTo>
                  <a:lnTo>
                    <a:pt x="12826" y="379094"/>
                  </a:lnTo>
                  <a:lnTo>
                    <a:pt x="15135" y="379094"/>
                  </a:lnTo>
                  <a:lnTo>
                    <a:pt x="92455" y="349250"/>
                  </a:lnTo>
                  <a:lnTo>
                    <a:pt x="95758" y="348106"/>
                  </a:lnTo>
                  <a:lnTo>
                    <a:pt x="97409" y="344424"/>
                  </a:lnTo>
                  <a:lnTo>
                    <a:pt x="94869" y="337819"/>
                  </a:lnTo>
                  <a:lnTo>
                    <a:pt x="91186" y="336169"/>
                  </a:lnTo>
                  <a:close/>
                </a:path>
                <a:path w="309879" h="385445">
                  <a:moveTo>
                    <a:pt x="15693" y="365290"/>
                  </a:moveTo>
                  <a:lnTo>
                    <a:pt x="5587" y="369188"/>
                  </a:lnTo>
                  <a:lnTo>
                    <a:pt x="14097" y="376047"/>
                  </a:lnTo>
                  <a:lnTo>
                    <a:pt x="15693" y="365290"/>
                  </a:lnTo>
                  <a:close/>
                </a:path>
                <a:path w="309879" h="385445">
                  <a:moveTo>
                    <a:pt x="27516" y="360729"/>
                  </a:moveTo>
                  <a:lnTo>
                    <a:pt x="15693" y="365290"/>
                  </a:lnTo>
                  <a:lnTo>
                    <a:pt x="14097" y="376047"/>
                  </a:lnTo>
                  <a:lnTo>
                    <a:pt x="15264" y="376047"/>
                  </a:lnTo>
                  <a:lnTo>
                    <a:pt x="27516" y="360729"/>
                  </a:lnTo>
                  <a:close/>
                </a:path>
                <a:path w="309879" h="385445">
                  <a:moveTo>
                    <a:pt x="299847" y="0"/>
                  </a:moveTo>
                  <a:lnTo>
                    <a:pt x="17545" y="352816"/>
                  </a:lnTo>
                  <a:lnTo>
                    <a:pt x="15693" y="365290"/>
                  </a:lnTo>
                  <a:lnTo>
                    <a:pt x="27516" y="360729"/>
                  </a:lnTo>
                  <a:lnTo>
                    <a:pt x="309752" y="7874"/>
                  </a:lnTo>
                  <a:lnTo>
                    <a:pt x="29984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848600" y="38100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848600" y="43434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026155" y="3456558"/>
              <a:ext cx="1784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solidFill>
                    <a:srgbClr val="4D4D4D"/>
                  </a:solidFill>
                  <a:latin typeface="Arial"/>
                  <a:cs typeface="Arial"/>
                </a:rPr>
                <a:t>S</a:t>
              </a:r>
              <a:endParaRPr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855335" y="3532758"/>
              <a:ext cx="20834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  <a:tabLst>
                  <a:tab pos="1917700" algn="l"/>
                </a:tabLst>
              </a:pPr>
              <a:r>
                <a:rPr dirty="0">
                  <a:solidFill>
                    <a:srgbClr val="4D4D4D"/>
                  </a:solidFill>
                  <a:latin typeface="Arial"/>
                  <a:cs typeface="Arial"/>
                </a:rPr>
                <a:t>S	S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664077" y="3990213"/>
              <a:ext cx="90868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  <a:tabLst>
                  <a:tab pos="374650" algn="l"/>
                  <a:tab pos="768350" algn="l"/>
                </a:tabLst>
              </a:pPr>
              <a:r>
                <a:rPr dirty="0">
                  <a:solidFill>
                    <a:srgbClr val="4D4D4D"/>
                  </a:solidFill>
                  <a:latin typeface="Arial"/>
                  <a:cs typeface="Arial"/>
                </a:rPr>
                <a:t>c	A	</a:t>
              </a:r>
              <a:r>
                <a:rPr spc="-5" dirty="0">
                  <a:solidFill>
                    <a:srgbClr val="4D4D4D"/>
                  </a:solidFill>
                  <a:latin typeface="Arial"/>
                  <a:cs typeface="Arial"/>
                </a:rPr>
                <a:t>d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5487162" y="4599813"/>
              <a:ext cx="1530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pc="-5" dirty="0">
                  <a:solidFill>
                    <a:srgbClr val="4D4D4D"/>
                  </a:solidFill>
                  <a:latin typeface="Arial"/>
                  <a:cs typeface="Arial"/>
                </a:rPr>
                <a:t>a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493259" y="4066414"/>
              <a:ext cx="2813685" cy="83311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  <a:tabLst>
                  <a:tab pos="374650" algn="l"/>
                  <a:tab pos="768350" algn="l"/>
                  <a:tab pos="1917700" algn="l"/>
                  <a:tab pos="2279650" algn="l"/>
                  <a:tab pos="2673350" algn="l"/>
                </a:tabLst>
              </a:pPr>
              <a:r>
                <a:rPr dirty="0">
                  <a:solidFill>
                    <a:srgbClr val="4D4D4D"/>
                  </a:solidFill>
                  <a:latin typeface="Arial"/>
                  <a:cs typeface="Arial"/>
                </a:rPr>
                <a:t>c	A	</a:t>
              </a:r>
              <a:r>
                <a:rPr spc="-5" dirty="0">
                  <a:solidFill>
                    <a:srgbClr val="4D4D4D"/>
                  </a:solidFill>
                  <a:latin typeface="Arial"/>
                  <a:cs typeface="Arial"/>
                </a:rPr>
                <a:t>d	c	A	d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  <a:p>
              <a:pPr>
                <a:spcBef>
                  <a:spcPts val="25"/>
                </a:spcBef>
              </a:pPr>
              <a:endParaRPr sz="175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844550">
                <a:tabLst>
                  <a:tab pos="2292350" algn="l"/>
                </a:tabLst>
              </a:pPr>
              <a:r>
                <a:rPr spc="-5" dirty="0">
                  <a:solidFill>
                    <a:srgbClr val="4D4D4D"/>
                  </a:solidFill>
                  <a:latin typeface="Arial"/>
                  <a:cs typeface="Arial"/>
                </a:rPr>
                <a:t>b	a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62200" y="5209490"/>
            <a:ext cx="686283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87350" algn="l"/>
                <a:tab pos="768350" algn="l"/>
              </a:tabLst>
            </a:pPr>
            <a:r>
              <a:rPr b="1" dirty="0" smtClean="0">
                <a:solidFill>
                  <a:srgbClr val="002060"/>
                </a:solidFill>
                <a:latin typeface="Arial"/>
                <a:cs typeface="Arial"/>
              </a:rPr>
              <a:t>cad</a:t>
            </a:r>
            <a:endParaRPr b="1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7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0287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Recursive Descent Parsing - Example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6011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686333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Predictive Parsing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1219200"/>
            <a:ext cx="9936733" cy="46143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  <a:tab pos="2324735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parser,	has the capability to predict which production is to be used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string.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parser does not suffer from backtracking.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parser uses a look-ahead pointer, which points to the next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lvl="0" indent="-228600" algn="just" defTabSz="914400" rtl="0" eaLnBrk="1" fontAlgn="auto" latinLnBrk="0" hangingPunct="1">
              <a:lnSpc>
                <a:spcPct val="110000"/>
              </a:lnSpc>
              <a:spcBef>
                <a:spcPts val="71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the parser back-tracking free, the predictive parser puts some constraints on  the grammar.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only a class of grammar known as LL(k) grammar.</a:t>
            </a: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  <a:tab pos="116332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known as </a:t>
            </a:r>
            <a:r>
              <a:rPr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LL(1) Parser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181942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310" y="228600"/>
            <a:ext cx="107416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Predictive LL(1) Parsing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519" y="1219200"/>
            <a:ext cx="10191281" cy="563936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“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LL(1) refers to the fact that the input is processed from  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to </a:t>
            </a:r>
            <a:r>
              <a:rPr sz="2400" spc="-1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“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the fact that LL(1) parsing determines a  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derivation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input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parentheses implies that LL(1) parsing uses </a:t>
            </a: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 symbol of input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next grammar rule that should be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used.</a:t>
            </a: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1435" algn="just">
              <a:lnSpc>
                <a:spcPts val="3030"/>
              </a:lnSpc>
              <a:spcBef>
                <a:spcPts val="475"/>
              </a:spcBef>
              <a:tabLst>
                <a:tab pos="241300" algn="l"/>
              </a:tabLst>
            </a:pP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1435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 by LL(1)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buffer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Parsing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62800" y="3886200"/>
            <a:ext cx="2560641" cy="108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1999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732" y="307340"/>
            <a:ext cx="890127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sz="4400" b="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Non-Recursive Predictive 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6800" y="3070861"/>
            <a:ext cx="2514600" cy="786113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spcBef>
                <a:spcPts val="370"/>
              </a:spcBef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Predictive</a:t>
            </a:r>
            <a:r>
              <a:rPr sz="2400" spc="-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Parsing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4569"/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Program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4901" y="3105150"/>
            <a:ext cx="1180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67130" algn="l"/>
              </a:tabLst>
            </a:pPr>
            <a:r>
              <a:rPr sz="2400" u="sng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800" y="4956810"/>
            <a:ext cx="2514600" cy="416781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spcBef>
                <a:spcPts val="370"/>
              </a:spcBef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Parsing</a:t>
            </a:r>
            <a:r>
              <a:rPr sz="2400" spc="-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Table</a:t>
            </a:r>
            <a:r>
              <a:rPr sz="2400" spc="-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48327" y="1858418"/>
          <a:ext cx="2514600" cy="459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9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$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195727" y="3292248"/>
          <a:ext cx="457200" cy="2128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165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26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5610">
                <a:tc>
                  <a:txBody>
                    <a:bodyPr/>
                    <a:lstStyle/>
                    <a:p>
                      <a:pPr marL="89535">
                        <a:lnSpc>
                          <a:spcPts val="2790"/>
                        </a:lnSpc>
                        <a:spcBef>
                          <a:spcPts val="54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$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9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8534400" y="3486150"/>
            <a:ext cx="76200" cy="74930"/>
          </a:xfrm>
          <a:custGeom>
            <a:avLst/>
            <a:gdLst/>
            <a:ahLst/>
            <a:cxnLst/>
            <a:rect l="l" t="t" r="r" b="b"/>
            <a:pathLst>
              <a:path w="76200" h="74929">
                <a:moveTo>
                  <a:pt x="0" y="0"/>
                </a:moveTo>
                <a:lnTo>
                  <a:pt x="0" y="74929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34100" y="3901439"/>
            <a:ext cx="76200" cy="1055370"/>
          </a:xfrm>
          <a:custGeom>
            <a:avLst/>
            <a:gdLst/>
            <a:ahLst/>
            <a:cxnLst/>
            <a:rect l="l" t="t" r="r" b="b"/>
            <a:pathLst>
              <a:path w="76200" h="1055370">
                <a:moveTo>
                  <a:pt x="76200" y="980440"/>
                </a:moveTo>
                <a:lnTo>
                  <a:pt x="43180" y="980440"/>
                </a:lnTo>
                <a:lnTo>
                  <a:pt x="43180" y="0"/>
                </a:lnTo>
                <a:lnTo>
                  <a:pt x="33020" y="0"/>
                </a:lnTo>
                <a:lnTo>
                  <a:pt x="33020" y="980440"/>
                </a:lnTo>
                <a:lnTo>
                  <a:pt x="0" y="980440"/>
                </a:lnTo>
                <a:lnTo>
                  <a:pt x="38100" y="1055370"/>
                </a:lnTo>
                <a:lnTo>
                  <a:pt x="76200" y="980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34100" y="2316479"/>
            <a:ext cx="76200" cy="754380"/>
          </a:xfrm>
          <a:custGeom>
            <a:avLst/>
            <a:gdLst/>
            <a:ahLst/>
            <a:cxnLst/>
            <a:rect l="l" t="t" r="r" b="b"/>
            <a:pathLst>
              <a:path w="76200" h="754380">
                <a:moveTo>
                  <a:pt x="76200" y="74930"/>
                </a:moveTo>
                <a:lnTo>
                  <a:pt x="38100" y="0"/>
                </a:lnTo>
                <a:lnTo>
                  <a:pt x="0" y="74930"/>
                </a:lnTo>
                <a:lnTo>
                  <a:pt x="33020" y="74930"/>
                </a:lnTo>
                <a:lnTo>
                  <a:pt x="33020" y="754380"/>
                </a:lnTo>
                <a:lnTo>
                  <a:pt x="43180" y="754380"/>
                </a:lnTo>
                <a:lnTo>
                  <a:pt x="43180" y="74930"/>
                </a:lnTo>
                <a:lnTo>
                  <a:pt x="76200" y="74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7600" y="340995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219200" y="33020"/>
                </a:moveTo>
                <a:lnTo>
                  <a:pt x="74930" y="33020"/>
                </a:lnTo>
                <a:lnTo>
                  <a:pt x="74930" y="0"/>
                </a:lnTo>
                <a:lnTo>
                  <a:pt x="0" y="38100"/>
                </a:lnTo>
                <a:lnTo>
                  <a:pt x="74930" y="76200"/>
                </a:lnTo>
                <a:lnTo>
                  <a:pt x="74930" y="43180"/>
                </a:lnTo>
                <a:lnTo>
                  <a:pt x="1219200" y="43180"/>
                </a:lnTo>
                <a:lnTo>
                  <a:pt x="12192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4071" y="1863090"/>
            <a:ext cx="9220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U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3855896" y="6522355"/>
            <a:ext cx="285262" cy="124393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9535">
              <a:spcBef>
                <a:spcPts val="10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21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03969" y="3296920"/>
            <a:ext cx="1225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OUTPUT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8801" y="3482340"/>
            <a:ext cx="102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ST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CK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941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22275"/>
            <a:ext cx="11582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Constructing Predictive Parser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752600"/>
            <a:ext cx="10328022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1435" lvl="0" algn="just" fontAlgn="auto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tabLst>
                <a:tab pos="241300" algn="l"/>
              </a:tabLst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steps for constructing predictive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unreachable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productions.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from the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Factoring of a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grammar.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84300" marR="51435" lvl="2" indent="-457200" algn="just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parse table</a:t>
            </a:r>
          </a:p>
        </p:txBody>
      </p:sp>
    </p:spTree>
    <p:extLst>
      <p:ext uri="{BB962C8B-B14F-4D97-AF65-F5344CB8AC3E}">
        <p14:creationId xmlns:p14="http://schemas.microsoft.com/office/powerpoint/2010/main" xmlns="" val="279466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7229" y="1524000"/>
            <a:ext cx="10194925" cy="4064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300" marR="491490" indent="-228600" algn="just">
              <a:lnSpc>
                <a:spcPts val="3450"/>
              </a:lnSpc>
              <a:spcBef>
                <a:spcPts val="5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construction of predictive LL(1) parser is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two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those are 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construction of predictive LL(1) parser we have to follow  the following steps:</a:t>
            </a:r>
          </a:p>
          <a:p>
            <a:pPr marL="1155700" lvl="2" indent="-228600" algn="just">
              <a:spcBef>
                <a:spcPts val="11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computate FIRST and FOLLOW function.</a:t>
            </a:r>
          </a:p>
          <a:p>
            <a:pPr marL="1155700" marR="523875" lvl="2" indent="-228600" algn="just">
              <a:lnSpc>
                <a:spcPts val="302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construct predictive parsing table using first and follow  function.</a:t>
            </a:r>
          </a:p>
          <a:p>
            <a:pPr marL="1155700" marR="330835" lvl="2" indent="-228600" algn="just">
              <a:lnSpc>
                <a:spcPts val="302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parse the input string with the help of predictive parsing  table</a:t>
            </a: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501310" y="228600"/>
            <a:ext cx="107416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  <a:tabLst>
                <a:tab pos="2807970" algn="l"/>
              </a:tabLst>
            </a:pPr>
            <a:r>
              <a:rPr lang="en-US" sz="44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Predictive LL(1) Parsing</a:t>
            </a:r>
            <a:endParaRPr lang="en-US" sz="4400" b="1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753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1" y="350011"/>
            <a:ext cx="980960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Removing Unreachable Productions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0578" y="1597431"/>
            <a:ext cx="9807575" cy="14003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unreachable production is one that cannot possibly appear in the parse tree rooted at  the start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in the following grammar :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/>
          </p:nvPr>
        </p:nvGraphicFramePr>
        <p:xfrm>
          <a:off x="8458200" y="2633901"/>
          <a:ext cx="1701163" cy="12272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11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4739">
                <a:tc>
                  <a:txBody>
                    <a:bodyPr/>
                    <a:lstStyle/>
                    <a:p>
                      <a:pPr marL="46355">
                        <a:lnSpc>
                          <a:spcPts val="241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200" spc="-5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2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A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41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200" spc="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825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spc="-5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a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200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209">
                <a:tc>
                  <a:txBody>
                    <a:bodyPr/>
                    <a:lstStyle/>
                    <a:p>
                      <a:pPr marL="46355">
                        <a:lnSpc>
                          <a:spcPts val="2575"/>
                        </a:lnSpc>
                        <a:spcBef>
                          <a:spcPts val="350"/>
                        </a:spcBef>
                      </a:pP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spc="-1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75"/>
                        </a:lnSpc>
                        <a:spcBef>
                          <a:spcPts val="35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(3)</a:t>
                      </a:r>
                    </a:p>
                  </a:txBody>
                  <a:tcPr marL="0" marR="0" marT="44450" marB="0"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30578" y="4419897"/>
            <a:ext cx="9808845" cy="92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77800" lvl="0" indent="-457200" algn="just" defTabSz="914400" rtl="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1" spc="-1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(3) is unreachable because the non-terminal B does not appear on the right  side of any </a:t>
            </a:r>
            <a:r>
              <a:rPr sz="2800" b="1" spc="-1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production.</a:t>
            </a:r>
            <a:endParaRPr lang="en-US" sz="2800" b="1" spc="-1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858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13694" y="1211309"/>
            <a:ext cx="11149706" cy="584531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Data</a:t>
            </a:r>
            <a:r>
              <a:rPr kumimoji="0" sz="19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Structures: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698500" lvl="1" indent="-228600">
              <a:spcBef>
                <a:spcPts val="47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stack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698500" lvl="1" indent="-228600">
              <a:spcBef>
                <a:spcPts val="47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List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for Reachable</a:t>
            </a:r>
            <a:r>
              <a:rPr kumimoji="0" sz="19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Non-Terminals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Method: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205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Initially both the stack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and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list are Empty.  </a:t>
            </a:r>
            <a:endParaRPr kumimoji="0" lang="en-US" sz="1900" b="0" i="0" u="none" strike="noStrike" kern="1200" cap="none" spc="-5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205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-7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Step</a:t>
            </a:r>
            <a:r>
              <a:rPr kumimoji="0" sz="1900" b="1" i="0" u="none" strike="noStrike" kern="1200" cap="none" spc="-6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1" i="0" u="none" strike="noStrike" kern="1200" cap="none" spc="-9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1:</a:t>
            </a:r>
            <a:r>
              <a:rPr kumimoji="0" lang="en-US" sz="1900" b="1" i="0" u="none" strike="noStrike" kern="1200" cap="none" spc="-9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	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Start </a:t>
            </a:r>
            <a:r>
              <a:rPr lang="en-US" sz="1900" spc="-10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symbol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to the </a:t>
            </a:r>
            <a:r>
              <a:rPr lang="en-US" sz="1900" spc="-10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list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of reachable</a:t>
            </a:r>
            <a:r>
              <a:rPr lang="en-US" sz="1900" spc="7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non-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Terminal </a:t>
            </a:r>
            <a:r>
              <a:rPr lang="en-US" sz="1900" spc="-10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also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push onto the stack.  </a:t>
            </a:r>
            <a:endParaRPr lang="en-US" sz="1900" spc="-5" dirty="0" smtClean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205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0" b="1" spc="-70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Step</a:t>
            </a:r>
            <a:r>
              <a:rPr lang="en-US" sz="1900" b="1" spc="-6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b="1" spc="-9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2:</a:t>
            </a:r>
            <a:r>
              <a:rPr lang="en-US" sz="1900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  </a:t>
            </a:r>
            <a:r>
              <a:rPr lang="en-US" sz="1900" spc="-10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While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(The </a:t>
            </a:r>
            <a:r>
              <a:rPr lang="en-US" sz="1900" spc="-10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stack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is not</a:t>
            </a:r>
            <a:r>
              <a:rPr lang="en-US" sz="1900" spc="5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Empty)</a:t>
            </a:r>
            <a:endParaRPr lang="en-US" sz="1900" dirty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480"/>
              </a:spcBef>
              <a:defRPr/>
            </a:pP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{P= POP one Item of the stack</a:t>
            </a:r>
          </a:p>
          <a:p>
            <a:pPr marL="12700" lvl="0">
              <a:spcBef>
                <a:spcPts val="580"/>
              </a:spcBef>
              <a:defRPr/>
            </a:pP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for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(Each non-terminal X on right hand side are P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)   {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	</a:t>
            </a:r>
            <a:endParaRPr lang="en-US" sz="1900" spc="-5" dirty="0" smtClean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580"/>
              </a:spcBef>
              <a:defRPr/>
            </a:pP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If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(X is not in the list of reachable non -  terminals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) {</a:t>
            </a:r>
          </a:p>
          <a:p>
            <a:pPr marL="12700" lvl="0">
              <a:spcBef>
                <a:spcPts val="580"/>
              </a:spcBef>
              <a:defRPr/>
            </a:pP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	Push X;</a:t>
            </a:r>
          </a:p>
          <a:p>
            <a:pPr marL="220979" lvl="0">
              <a:spcBef>
                <a:spcPts val="935"/>
              </a:spcBef>
              <a:defRPr/>
            </a:pP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	Add X to the list of Reachable non-terminal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;  }}}</a:t>
            </a:r>
            <a:endParaRPr lang="en-US" sz="1900" spc="-5" dirty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944"/>
              </a:spcBef>
              <a:defRPr/>
            </a:pPr>
            <a:r>
              <a:rPr lang="en-US" sz="1900" b="1" spc="-70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Step 3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: Remove all the productions from the  grammar where L-H-S is not in the list of  reachable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non-terminals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.</a:t>
            </a:r>
          </a:p>
          <a:p>
            <a:pPr marL="144780">
              <a:spcBef>
                <a:spcPts val="465"/>
              </a:spcBef>
              <a:defRPr/>
            </a:pPr>
            <a:endParaRPr lang="en-US" sz="1900" dirty="0">
              <a:solidFill>
                <a:prstClr val="black"/>
              </a:solidFill>
              <a:latin typeface="Myanmar Text"/>
              <a:cs typeface="Myanmar Text"/>
            </a:endParaRPr>
          </a:p>
          <a:p>
            <a:pPr marL="144780" lvl="0">
              <a:spcBef>
                <a:spcPts val="465"/>
              </a:spcBef>
              <a:defRPr/>
            </a:pPr>
            <a:endParaRPr lang="en-US" sz="1900" dirty="0">
              <a:solidFill>
                <a:prstClr val="black"/>
              </a:solidFill>
              <a:latin typeface="Myanmar Text"/>
              <a:cs typeface="Myanmar Text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205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anmar Text"/>
              <a:ea typeface="+mn-ea"/>
              <a:cs typeface="Myanmar Tex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2400" y="76200"/>
            <a:ext cx="1139025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sz="440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Algorithm to remove unreachable production</a:t>
            </a:r>
          </a:p>
        </p:txBody>
      </p:sp>
    </p:spTree>
    <p:extLst>
      <p:ext uri="{BB962C8B-B14F-4D97-AF65-F5344CB8AC3E}">
        <p14:creationId xmlns:p14="http://schemas.microsoft.com/office/powerpoint/2010/main" xmlns="" val="157720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800" y="1143000"/>
            <a:ext cx="7391400" cy="438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A082D"/>
              </a:buClr>
              <a:buSzTx/>
              <a:tabLst>
                <a:tab pos="240665" algn="l"/>
                <a:tab pos="241300" algn="l"/>
              </a:tabLst>
              <a:defRPr/>
            </a:pPr>
            <a:r>
              <a:rPr kumimoji="0" sz="20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Grammer: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kumimoji="0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marR="3720465" lvl="0">
              <a:lnSpc>
                <a:spcPts val="3350"/>
              </a:lnSpc>
              <a:spcBef>
                <a:spcPts val="259"/>
              </a:spcBef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 bAA |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marR="3720465" lvl="0">
              <a:lnSpc>
                <a:spcPts val="3350"/>
              </a:lnSpc>
              <a:spcBef>
                <a:spcPts val="259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 aBB |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lvl="0">
              <a:spcBef>
                <a:spcPts val="660"/>
              </a:spcBef>
              <a:tabLst>
                <a:tab pos="1829435" algn="l"/>
              </a:tabLst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 |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lvl="0">
              <a:spcBef>
                <a:spcPts val="940"/>
              </a:spcBef>
              <a:tabLst>
                <a:tab pos="138557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kumimoji="0" sz="2000" b="0" i="0" u="none" strike="noStrike" kern="1200" cap="none" spc="4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D1B37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After Removing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Unreachable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Productions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 have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20979" lvl="0">
              <a:spcBef>
                <a:spcPts val="1155"/>
              </a:spcBef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 |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marR="3720465" lvl="0">
              <a:lnSpc>
                <a:spcPct val="139000"/>
              </a:lnSpc>
              <a:spcBef>
                <a:spcPts val="15"/>
              </a:spcBef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| bAA |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465" marR="3720465" lvl="0">
              <a:lnSpc>
                <a:spcPct val="139000"/>
              </a:lnSpc>
              <a:spcBef>
                <a:spcPts val="15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→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| aBB |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14"/>
          <p:cNvSpPr txBox="1">
            <a:spLocks/>
          </p:cNvSpPr>
          <p:nvPr/>
        </p:nvSpPr>
        <p:spPr>
          <a:xfrm>
            <a:off x="152400" y="76200"/>
            <a:ext cx="1139025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Algorithm to remove unreachable production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206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0114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Eliminating Ambiguity</a:t>
            </a:r>
            <a:endParaRPr lang="en-US"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219200"/>
            <a:ext cx="9753600" cy="412933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699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 produces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than one parse tree 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sentence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(input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string)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lang="en-US" sz="28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said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be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ambiguous.</a:t>
            </a:r>
            <a:endParaRPr lang="en-US"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Ambiguity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remove only by constructing a new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grammar. 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Note:</a:t>
            </a:r>
            <a:endParaRPr lang="en-US"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84300" lvl="2" indent="-457200" algn="just">
              <a:spcBef>
                <a:spcPts val="360"/>
              </a:spcBef>
              <a:buFont typeface="Arial" panose="020B0604020202020204" pitchFamily="34" charset="0"/>
              <a:buChar char="•"/>
              <a:defRPr/>
            </a:pP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left associative, replace right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non-terminal.</a:t>
            </a:r>
            <a:endParaRPr lang="en-US"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84300" lvl="2" indent="-457200" algn="just">
              <a:spcBef>
                <a:spcPts val="360"/>
              </a:spcBef>
              <a:buFont typeface="Arial" panose="020B0604020202020204" pitchFamily="34" charset="0"/>
              <a:buChar char="•"/>
              <a:defRPr/>
            </a:pP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right associative, replace left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-terminal.</a:t>
            </a:r>
            <a:endParaRPr lang="en-US"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indent="-457200" algn="just">
              <a:spcBef>
                <a:spcPts val="360"/>
              </a:spcBef>
              <a:buFont typeface="Arial" panose="020B0604020202020204" pitchFamily="34" charset="0"/>
              <a:buChar char="•"/>
              <a:defRPr/>
            </a:pP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contains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than one operators, ambiguity will be removed first from  the production involving the operator having the lowest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precedence.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919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62894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Example</a:t>
            </a:r>
            <a:r>
              <a:rPr sz="4400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:</a:t>
            </a:r>
            <a:endParaRPr sz="4400" kern="1200" spc="-5" dirty="0">
              <a:solidFill>
                <a:srgbClr val="FF0000"/>
              </a:solidFill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8400" y="1143000"/>
            <a:ext cx="7489825" cy="49117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lvl="0" indent="-228600">
              <a:spcBef>
                <a:spcPts val="365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19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</a:t>
            </a:r>
            <a:r>
              <a:rPr kumimoji="0" sz="19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Times New Roman"/>
              </a:rPr>
              <a:t> </a:t>
            </a:r>
            <a:r>
              <a:rPr kumimoji="0" sz="1900" b="1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S+S </a:t>
            </a:r>
            <a:r>
              <a:rPr kumimoji="0" sz="1900" b="1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 </a:t>
            </a:r>
            <a:r>
              <a:rPr kumimoji="0" sz="19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S-S</a:t>
            </a:r>
            <a:r>
              <a:rPr kumimoji="0" sz="1900" b="1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1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 </a:t>
            </a:r>
            <a:r>
              <a:rPr kumimoji="0" sz="19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S*S </a:t>
            </a:r>
            <a:r>
              <a:rPr kumimoji="0" sz="1900" b="1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 </a:t>
            </a:r>
            <a:r>
              <a:rPr kumimoji="0" sz="190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S/S </a:t>
            </a:r>
            <a:r>
              <a:rPr kumimoji="0" sz="1900" b="1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 </a:t>
            </a:r>
            <a:r>
              <a:rPr kumimoji="0" sz="19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NUM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The operators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with lower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precedence will deal</a:t>
            </a:r>
            <a:r>
              <a:rPr kumimoji="0" sz="19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first:</a:t>
            </a:r>
            <a:endParaRPr lang="en-US" sz="1900" dirty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Cambria Math" panose="02040503050406030204" pitchFamily="18" charset="0"/>
                <a:cs typeface="Myanmar Text"/>
              </a:rPr>
              <a:t>	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lang="en-US" sz="1900" spc="-5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→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+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’|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-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Myanmar Text"/>
            </a:endParaRPr>
          </a:p>
          <a:p>
            <a:pPr marL="12700" lvl="0">
              <a:spcBef>
                <a:spcPts val="480"/>
              </a:spcBef>
              <a:tabLst>
                <a:tab pos="377825" algn="l"/>
                <a:tab pos="757555" algn="l"/>
                <a:tab pos="1028700" algn="l"/>
                <a:tab pos="1334135" algn="l"/>
                <a:tab pos="1909445" algn="l"/>
                <a:tab pos="2108200" algn="l"/>
                <a:tab pos="2677795" algn="l"/>
                <a:tab pos="2879090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		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lang="en-US" sz="1900" spc="-5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lang="en-US" sz="1900" spc="-5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→ 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*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/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	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N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Myanmar Tex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>
                <a:tab pos="1210310" algn="l"/>
                <a:tab pos="1482090" algn="l"/>
                <a:tab pos="1920875" algn="l"/>
                <a:tab pos="2285365" algn="l"/>
                <a:tab pos="3051175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R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e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p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l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a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c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e	S	b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y	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f</a:t>
            </a:r>
            <a:r>
              <a:rPr kumimoji="0" sz="19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r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o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m	R</a:t>
            </a:r>
            <a:r>
              <a:rPr kumimoji="0" sz="19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-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H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-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Myanmar Text"/>
            </a:endParaRPr>
          </a:p>
          <a:p>
            <a:pPr marL="12700" lvl="0">
              <a:spcBef>
                <a:spcPts val="670"/>
              </a:spcBef>
              <a:tabLst>
                <a:tab pos="377825" algn="l"/>
                <a:tab pos="757555" algn="l"/>
                <a:tab pos="1122045" algn="l"/>
                <a:tab pos="1426845" algn="l"/>
                <a:tab pos="2190115" algn="l"/>
                <a:tab pos="2390140" algn="l"/>
                <a:tab pos="3147695" algn="l"/>
                <a:tab pos="3348990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		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→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	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*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|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/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|	N</a:t>
            </a:r>
            <a:r>
              <a:rPr kumimoji="0" sz="19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Myanmar Text"/>
            </a:endParaRPr>
          </a:p>
          <a:p>
            <a:pPr marL="12700" marR="116839" lvl="0">
              <a:lnSpc>
                <a:spcPct val="120500"/>
              </a:lnSpc>
              <a:spcBef>
                <a:spcPts val="15"/>
              </a:spcBef>
              <a:tabLst>
                <a:tab pos="377825" algn="l"/>
                <a:tab pos="757555" algn="l"/>
                <a:tab pos="1520190" algn="l"/>
                <a:tab pos="1719580" algn="l"/>
                <a:tab pos="2475230" algn="l"/>
                <a:tab pos="2677795" algn="l"/>
              </a:tabLst>
              <a:defRPr/>
            </a:pP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After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Eliminating the redundant productions </a:t>
            </a:r>
            <a:r>
              <a:rPr kumimoji="0" sz="1900" b="0" i="0" u="none" strike="noStrike" kern="1200" cap="none" spc="-5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i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e,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S’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Times New Roman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S’ , We will get :  </a:t>
            </a:r>
            <a:endParaRPr kumimoji="0" lang="en-US" sz="1900" b="0" i="0" u="none" strike="noStrike" kern="1200" cap="none" spc="-5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116839" lvl="0">
              <a:lnSpc>
                <a:spcPct val="120500"/>
              </a:lnSpc>
              <a:spcBef>
                <a:spcPts val="15"/>
              </a:spcBef>
              <a:tabLst>
                <a:tab pos="377825" algn="l"/>
                <a:tab pos="757555" algn="l"/>
                <a:tab pos="1520190" algn="l"/>
                <a:tab pos="1719580" algn="l"/>
                <a:tab pos="2475230" algn="l"/>
                <a:tab pos="2677795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            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Times New Roman"/>
              </a:rPr>
              <a:t>	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*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	S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/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470"/>
              </a:spcBef>
              <a:tabLst>
                <a:tab pos="411480" algn="l"/>
                <a:tab pos="777240" algn="l"/>
                <a:tab pos="1156970" algn="l"/>
                <a:tab pos="2014855" algn="l"/>
                <a:tab pos="2214245" algn="l"/>
                <a:tab pos="3064510" algn="l"/>
                <a:tab pos="3263900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            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*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14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’’</a:t>
            </a:r>
            <a:r>
              <a:rPr kumimoji="0" lang="en-US" sz="1900" b="0" i="0" u="none" strike="noStrike" kern="1200" cap="none" spc="14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/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’|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endParaRPr lang="en-US" sz="1900" dirty="0">
              <a:solidFill>
                <a:prstClr val="black"/>
              </a:solidFill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470"/>
              </a:spcBef>
              <a:tabLst>
                <a:tab pos="411480" algn="l"/>
                <a:tab pos="777240" algn="l"/>
                <a:tab pos="1156970" algn="l"/>
                <a:tab pos="2014855" algn="l"/>
                <a:tab pos="2214245" algn="l"/>
                <a:tab pos="3064510" algn="l"/>
                <a:tab pos="3263900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            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</a:t>
            </a:r>
            <a:r>
              <a:rPr kumimoji="0" lang="en-US" sz="1900" b="0" i="0" u="none" strike="noStrike" kern="1200" cap="none" spc="-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>
                <a:tab pos="1623695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Replace </a:t>
            </a:r>
            <a:r>
              <a:rPr kumimoji="0" sz="1900" b="0" i="0" u="none" strike="noStrike" kern="1200" cap="none" spc="-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again</a:t>
            </a:r>
            <a:r>
              <a:rPr kumimoji="0" lang="en-US" sz="1900" b="0" i="0" u="none" strike="noStrike" kern="1200" cap="none" spc="-1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 by S’’ from</a:t>
            </a:r>
            <a:r>
              <a:rPr kumimoji="0" sz="19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R-H-S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lvl="0">
              <a:spcBef>
                <a:spcPts val="670"/>
              </a:spcBef>
              <a:tabLst>
                <a:tab pos="745490" algn="l"/>
                <a:tab pos="1204595" algn="l"/>
                <a:tab pos="1405255" algn="l"/>
              </a:tabLst>
              <a:defRPr/>
            </a:pPr>
            <a:r>
              <a:rPr kumimoji="0" lang="en-US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             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</a:t>
            </a:r>
            <a:r>
              <a:rPr kumimoji="0" sz="19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2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14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’’</a:t>
            </a:r>
            <a:r>
              <a:rPr kumimoji="0" lang="en-US" sz="1900" b="0" i="0" u="none" strike="noStrike" kern="1200" cap="none" spc="145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|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5080" lvl="0">
              <a:lnSpc>
                <a:spcPct val="120600"/>
              </a:lnSpc>
              <a:spcBef>
                <a:spcPts val="10"/>
              </a:spcBef>
              <a:tabLst>
                <a:tab pos="707390" algn="l"/>
              </a:tabLst>
              <a:defRPr/>
            </a:pP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After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Eliminating the redundant productions i-e S’’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’’ , We will get :  </a:t>
            </a:r>
            <a:endParaRPr kumimoji="0" lang="en-US" sz="1900" b="0" i="0" u="none" strike="noStrike" kern="1200" cap="none" spc="-5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  <a:p>
            <a:pPr marL="12700" marR="5080" lvl="0">
              <a:lnSpc>
                <a:spcPct val="120600"/>
              </a:lnSpc>
              <a:spcBef>
                <a:spcPts val="10"/>
              </a:spcBef>
              <a:tabLst>
                <a:tab pos="707390" algn="l"/>
              </a:tabLst>
              <a:defRPr/>
            </a:pP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 smtClean="0">
                <a:solidFill>
                  <a:prstClr val="black"/>
                </a:solidFill>
                <a:latin typeface="Bell MT" panose="02020503060305020303" pitchFamily="18" charset="0"/>
                <a:cs typeface="Myanmar Text"/>
              </a:rPr>
              <a:t>             </a:t>
            </a:r>
            <a:r>
              <a:rPr kumimoji="0" sz="1900" b="0" i="0" u="none" strike="noStrike" kern="1200" cap="none" spc="9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S</a:t>
            </a:r>
            <a:r>
              <a:rPr kumimoji="0" sz="1900" b="0" i="0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’’</a:t>
            </a:r>
            <a:r>
              <a:rPr kumimoji="0" sz="19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lang="en-US" sz="19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kumimoji="0" sz="19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N</a:t>
            </a:r>
            <a:r>
              <a:rPr kumimoji="0" sz="1900" b="0" i="0" u="none" strike="noStrike" kern="1200" cap="none" spc="-22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U</a:t>
            </a:r>
            <a:r>
              <a:rPr kumimoji="0" sz="19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Myanmar Text"/>
              </a:rPr>
              <a:t>M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Myanmar Tex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316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34682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Unambiguous Grammar: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8564" y="2473779"/>
            <a:ext cx="5222875" cy="1615827"/>
          </a:xfrm>
          <a:prstGeom prst="rect">
            <a:avLst/>
          </a:prstGeom>
          <a:solidFill>
            <a:srgbClr val="FFFFFF"/>
          </a:solidFill>
          <a:ln w="12192">
            <a:solidFill>
              <a:srgbClr val="1B376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999490" lvl="0">
              <a:tabLst>
                <a:tab pos="1280160" algn="l"/>
                <a:tab pos="1676400" algn="l"/>
                <a:tab pos="2437130" algn="l"/>
                <a:tab pos="2642235" algn="l"/>
                <a:tab pos="3333750" algn="l"/>
                <a:tab pos="354076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	</a:t>
            </a:r>
            <a:r>
              <a:rPr lang="en-US" sz="20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 →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	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+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|	S</a:t>
            </a:r>
            <a:r>
              <a:rPr kumimoji="0" sz="20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-</a:t>
            </a:r>
            <a:r>
              <a:rPr kumimoji="0" sz="2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|	S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</a:p>
          <a:p>
            <a:pPr marL="999490" lvl="0">
              <a:spcBef>
                <a:spcPts val="940"/>
              </a:spcBef>
              <a:tabLst>
                <a:tab pos="1377315" algn="l"/>
                <a:tab pos="1772285" algn="l"/>
                <a:tab pos="2660650" algn="l"/>
                <a:tab pos="2865755" algn="l"/>
                <a:tab pos="3744595" algn="l"/>
                <a:tab pos="3951604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</a:t>
            </a:r>
            <a:r>
              <a:rPr lang="en-US" sz="20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 →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	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*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|	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/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	|	S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  <a:r>
              <a:rPr kumimoji="0" sz="2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</a:t>
            </a:r>
          </a:p>
          <a:p>
            <a:pPr marL="999490" lvl="0">
              <a:spcBef>
                <a:spcPts val="935"/>
              </a:spcBef>
              <a:tabLst>
                <a:tab pos="1761489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S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’’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Bell MT" panose="02020503060305020303" pitchFamily="18" charset="0"/>
                <a:ea typeface="Microsoft Sans Serif" panose="020B0604020202020204" pitchFamily="34" charset="0"/>
                <a:cs typeface="Myanmar Text"/>
              </a:rPr>
              <a:t>→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	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N</a:t>
            </a:r>
            <a:r>
              <a:rPr kumimoji="0" sz="2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U</a:t>
            </a:r>
            <a:r>
              <a:rPr kumimoji="0" sz="2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yanmar Text"/>
              </a:rPr>
              <a:t>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Myanmar Tex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96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1295400"/>
            <a:ext cx="9829800" cy="47177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76225" indent="-4572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 and Follow aids the construction of a predictive parser.  They allow us to fill in the entries of a predictive parsing </a:t>
            </a:r>
            <a:r>
              <a:rPr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table.</a:t>
            </a:r>
            <a:r>
              <a:rPr lang="en-US"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lang="en-US" sz="28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marR="276225" indent="-4572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8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marR="276225" lvl="1" algn="just">
              <a:lnSpc>
                <a:spcPct val="120000"/>
              </a:lnSpc>
              <a:spcBef>
                <a:spcPts val="100"/>
              </a:spcBef>
            </a:pPr>
            <a:r>
              <a:rPr sz="2800" spc="-5" dirty="0" smtClean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a</a:t>
            </a:r>
            <a:r>
              <a:rPr sz="2800" spc="-5" dirty="0" smtClean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is any string of </a:t>
            </a:r>
            <a:r>
              <a:rPr sz="2800" spc="-5" dirty="0" smtClean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terminals, 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then </a:t>
            </a:r>
            <a:r>
              <a:rPr sz="2800" spc="-5" dirty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First(a)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 is the set of terminals </a:t>
            </a:r>
            <a:r>
              <a:rPr sz="2800" spc="-5" dirty="0" smtClean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that 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begin the strings derived from </a:t>
            </a:r>
            <a:r>
              <a:rPr sz="2800" spc="-5" dirty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a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. If </a:t>
            </a:r>
            <a:r>
              <a:rPr sz="2800" spc="-5" dirty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a</a:t>
            </a:r>
            <a:r>
              <a:rPr sz="2800" spc="-5" dirty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 is an empty string(ɛ),  then ɛ is also in </a:t>
            </a:r>
            <a:r>
              <a:rPr sz="2800" spc="-5" dirty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First(a</a:t>
            </a:r>
            <a:r>
              <a:rPr sz="2800" spc="-5" dirty="0" smtClean="0">
                <a:solidFill>
                  <a:srgbClr val="7030A0"/>
                </a:solidFill>
                <a:latin typeface="Californian FB" panose="0207040306080B030204" pitchFamily="18" charset="0"/>
                <a:cs typeface="Times New Roman"/>
              </a:rPr>
              <a:t>)</a:t>
            </a:r>
            <a:r>
              <a:rPr sz="2800" spc="-5" dirty="0" smtClean="0">
                <a:solidFill>
                  <a:prstClr val="black"/>
                </a:solidFill>
                <a:latin typeface="Californian FB" panose="0207040306080B030204" pitchFamily="18" charset="0"/>
                <a:cs typeface="Times New Roman"/>
              </a:rPr>
              <a:t>.</a:t>
            </a:r>
            <a:endParaRPr lang="en-US" sz="2800" spc="-5" dirty="0" smtClean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 marL="469900" marR="276225" lvl="1" algn="just">
              <a:lnSpc>
                <a:spcPct val="120000"/>
              </a:lnSpc>
              <a:spcBef>
                <a:spcPts val="100"/>
              </a:spcBef>
            </a:pPr>
            <a:endParaRPr lang="en-US" sz="2800" spc="-5" dirty="0" smtClean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 marL="469900" marR="276225" indent="-4572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 </a:t>
            </a:r>
            <a:r>
              <a:rPr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(A), for a nonterminal A, to be the set of terminals a that </a:t>
            </a:r>
            <a:r>
              <a:rPr lang="en-US"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8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can </a:t>
            </a:r>
            <a:r>
              <a:rPr sz="2800" spc="-5" dirty="0">
                <a:solidFill>
                  <a:prstClr val="black"/>
                </a:solidFill>
                <a:latin typeface="Times New Roman"/>
                <a:cs typeface="Times New Roman"/>
              </a:rPr>
              <a:t>appear immediately to the right of A in a sentential form.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37289"/>
            <a:ext cx="6322694" cy="7514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indent="-216535">
              <a:spcBef>
                <a:spcPts val="105"/>
              </a:spcBef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FIRST</a:t>
            </a:r>
            <a:r>
              <a:rPr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and  </a:t>
            </a: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FOLLOW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231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2435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946835"/>
            <a:ext cx="11198861" cy="561564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69900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If X is a terminal then 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FIRST(X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)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is just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X!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there is a Production </a:t>
            </a:r>
            <a:r>
              <a:rPr sz="2400" spc="-5" dirty="0">
                <a:solidFill>
                  <a:srgbClr val="7030A0"/>
                </a:solidFill>
                <a:latin typeface="Times New Roman"/>
                <a:cs typeface="Times New Roman"/>
              </a:rPr>
              <a:t>X → ε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then add </a:t>
            </a:r>
            <a:r>
              <a:rPr sz="2400" spc="-5" dirty="0">
                <a:solidFill>
                  <a:srgbClr val="7030A0"/>
                </a:solidFill>
                <a:latin typeface="Times New Roman"/>
                <a:cs typeface="Times New Roman"/>
              </a:rPr>
              <a:t>ε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to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FIRST(X</a:t>
            </a:r>
            <a:r>
              <a:rPr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  <a:endParaRPr lang="en-US" sz="2400" spc="-5" dirty="0" smtClean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there is a Production X → Y1Y2..Yk then add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FIRST(Y1Y2</a:t>
            </a:r>
            <a:r>
              <a:rPr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..</a:t>
            </a:r>
            <a:r>
              <a:rPr sz="2400" spc="-5" dirty="0">
                <a:solidFill>
                  <a:srgbClr val="7030A0"/>
                </a:solidFill>
                <a:latin typeface="Times New Roman"/>
                <a:cs typeface="Times New Roman"/>
              </a:rPr>
              <a:t>Yk) 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FIRST(X</a:t>
            </a:r>
            <a:r>
              <a:rPr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  <a:endParaRPr lang="en-US" sz="2400" spc="-5" dirty="0" smtClean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FIRST(Y1Y2</a:t>
            </a:r>
            <a:r>
              <a:rPr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..</a:t>
            </a:r>
            <a:r>
              <a:rPr sz="2400" spc="-5" dirty="0">
                <a:solidFill>
                  <a:srgbClr val="7030A0"/>
                </a:solidFill>
                <a:latin typeface="Times New Roman"/>
                <a:cs typeface="Times New Roman"/>
              </a:rPr>
              <a:t>Yk)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either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FIRST(Y1)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(if First(Y1) doesn't contain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ε)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OR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(if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FIRST(Y1)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does contain ε) then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 (Y1Y2..YK)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everything in 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FIRST(Y1)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&lt;except for ε &gt; as well as everything in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FIRST(Y2..YK)</a:t>
            </a:r>
          </a:p>
          <a:p>
            <a:pPr marL="1384300" lvl="2" indent="-457200" algn="just">
              <a:lnSpc>
                <a:spcPct val="15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FIRST(Y1) FIRST(Y2)..FIRST(YK)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all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contain ε then add ε to  </a:t>
            </a:r>
            <a:r>
              <a:rPr lang="en-US" sz="24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FIRST(Y1Y2..YK)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as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well.</a:t>
            </a:r>
          </a:p>
        </p:txBody>
      </p:sp>
    </p:spTree>
    <p:extLst>
      <p:ext uri="{BB962C8B-B14F-4D97-AF65-F5344CB8AC3E}">
        <p14:creationId xmlns:p14="http://schemas.microsoft.com/office/powerpoint/2010/main" xmlns="" val="206368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143000"/>
            <a:ext cx="10363200" cy="52213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spcBef>
                <a:spcPts val="95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Rules in computing FIRST (X) where X can be a terminal or nonterminal, or even ε(empty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string).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0600" lvl="1" indent="-4572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a terminal, then FIRST(X)=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X.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0600" lvl="1" indent="-4572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ε, then FIRST (X) =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ε.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0600" lvl="1" indent="-4572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a nonterminal and Y and Z are nonterminals, with a production of  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905000" lvl="4">
              <a:spcBef>
                <a:spcPts val="95"/>
              </a:spcBef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→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endParaRPr sz="24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33400">
              <a:spcBef>
                <a:spcPts val="385"/>
              </a:spcBef>
            </a:pP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          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Y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→ </a:t>
            </a:r>
            <a:r>
              <a:rPr sz="2400" spc="-5" dirty="0" err="1" smtClean="0">
                <a:solidFill>
                  <a:prstClr val="black"/>
                </a:solidFill>
                <a:latin typeface="Times New Roman"/>
                <a:cs typeface="Times New Roman"/>
              </a:rPr>
              <a:t>Za</a:t>
            </a:r>
            <a:endParaRPr sz="24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33400" marR="81280">
              <a:spcBef>
                <a:spcPts val="385"/>
              </a:spcBef>
            </a:pP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                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→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b; 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33400" marR="81280">
              <a:spcBef>
                <a:spcPts val="385"/>
              </a:spcBef>
            </a:pP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      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then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FIRST(X) = b; where 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6300" marR="81280" indent="-34290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FIRST(nonterminal1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)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→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FIRST(nonterminal2)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or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until  you reach the first terminal of the production. </a:t>
            </a:r>
            <a:endParaRPr lang="en-US" sz="24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6300" marR="81280" indent="-34290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a nonterminal and contains two productions. 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ex: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ea typeface="Microsoft Sans Serif" panose="020B0604020202020204" pitchFamily="34" charset="0"/>
                <a:cs typeface="Times New Roman"/>
              </a:rPr>
              <a:t>→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| b; then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(X) = {a , b}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2435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FIRST</a:t>
            </a:r>
          </a:p>
        </p:txBody>
      </p:sp>
    </p:spTree>
    <p:extLst>
      <p:ext uri="{BB962C8B-B14F-4D97-AF65-F5344CB8AC3E}">
        <p14:creationId xmlns:p14="http://schemas.microsoft.com/office/powerpoint/2010/main" xmlns="" val="147805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" y="2100493"/>
            <a:ext cx="5248910" cy="371383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spcBef>
                <a:spcPts val="580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Consider again grammar</a:t>
            </a:r>
            <a:r>
              <a:rPr sz="2000" spc="-10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G: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355600">
              <a:spcBef>
                <a:spcPts val="480"/>
              </a:spcBef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1)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</a:t>
            </a:r>
            <a:r>
              <a:rPr sz="2000" spc="-3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E”</a:t>
            </a:r>
          </a:p>
          <a:p>
            <a:pPr marL="355600">
              <a:spcBef>
                <a:spcPts val="480"/>
              </a:spcBef>
            </a:pP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 </a:t>
            </a:r>
            <a:r>
              <a:rPr sz="2000" dirty="0" smtClean="0">
                <a:solidFill>
                  <a:prstClr val="black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E”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4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+T </a:t>
            </a: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’’</a:t>
            </a:r>
            <a:r>
              <a:rPr sz="2000" spc="-4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F</a:t>
            </a:r>
            <a:r>
              <a:rPr sz="2000" spc="-2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”</a:t>
            </a:r>
          </a:p>
          <a:p>
            <a:pPr marL="626745" marR="1334135">
              <a:lnSpc>
                <a:spcPct val="120000"/>
              </a:lnSpc>
            </a:pP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T”</a:t>
            </a:r>
            <a:r>
              <a:rPr sz="2000" spc="-14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*F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T” </a:t>
            </a:r>
            <a:r>
              <a:rPr sz="2000" spc="-3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 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 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F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( E ) </a:t>
            </a:r>
            <a:r>
              <a:rPr sz="2000" spc="-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-5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id </a:t>
            </a:r>
            <a:endParaRPr lang="en-US" sz="2000" spc="-1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endParaRPr sz="2000" dirty="0" smtClean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 marR="1193800" indent="-340360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2</a:t>
            </a: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) </a:t>
            </a:r>
            <a:r>
              <a:rPr sz="2000" spc="-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S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30" dirty="0" err="1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iEtSS</a:t>
            </a:r>
            <a:r>
              <a:rPr lang="en-US" sz="2000" spc="-3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"</a:t>
            </a:r>
            <a:r>
              <a:rPr sz="2000" spc="-3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-8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a 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 marR="1193800" indent="-340360">
              <a:lnSpc>
                <a:spcPct val="120000"/>
              </a:lnSpc>
            </a:pPr>
            <a:r>
              <a:rPr lang="en-US"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   </a:t>
            </a:r>
            <a:r>
              <a:rPr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S</a:t>
            </a:r>
            <a:r>
              <a:rPr lang="en-US" sz="2000" spc="-9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"</a:t>
            </a:r>
            <a:r>
              <a:rPr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eS </a:t>
            </a: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1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>
              <a:spcBef>
                <a:spcPts val="480"/>
              </a:spcBef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b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916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" y="2100493"/>
            <a:ext cx="5248910" cy="371383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spcBef>
                <a:spcPts val="580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Consider again grammar</a:t>
            </a:r>
            <a:r>
              <a:rPr sz="2000" spc="-10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G: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355600">
              <a:spcBef>
                <a:spcPts val="480"/>
              </a:spcBef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1)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</a:t>
            </a:r>
            <a:r>
              <a:rPr sz="2000" spc="-3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E”</a:t>
            </a:r>
          </a:p>
          <a:p>
            <a:pPr marL="355600">
              <a:spcBef>
                <a:spcPts val="480"/>
              </a:spcBef>
            </a:pP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 </a:t>
            </a:r>
            <a:r>
              <a:rPr sz="2000" dirty="0" smtClean="0">
                <a:solidFill>
                  <a:prstClr val="black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E”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4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+T </a:t>
            </a: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’’</a:t>
            </a:r>
            <a:r>
              <a:rPr sz="2000" spc="-4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F</a:t>
            </a:r>
            <a:r>
              <a:rPr sz="2000" spc="-2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”</a:t>
            </a:r>
          </a:p>
          <a:p>
            <a:pPr marL="626745" marR="1334135">
              <a:lnSpc>
                <a:spcPct val="120000"/>
              </a:lnSpc>
            </a:pPr>
            <a:r>
              <a:rPr lang="en-US" sz="2000" spc="-1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T”</a:t>
            </a:r>
            <a:r>
              <a:rPr sz="2000" spc="-14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*F </a:t>
            </a:r>
            <a:r>
              <a:rPr lang="en-US" sz="2000" spc="-1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T” </a:t>
            </a:r>
            <a:r>
              <a:rPr sz="2000" spc="-3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 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 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F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( E ) </a:t>
            </a:r>
            <a:r>
              <a:rPr sz="2000" spc="-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-5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1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id </a:t>
            </a:r>
            <a:endParaRPr lang="en-US" sz="2000" spc="-1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26745" marR="1334135">
              <a:lnSpc>
                <a:spcPct val="120000"/>
              </a:lnSpc>
            </a:pPr>
            <a:endParaRPr sz="2000" dirty="0" smtClean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 marR="1193800" indent="-340360">
              <a:lnSpc>
                <a:spcPct val="120000"/>
              </a:lnSpc>
            </a:pP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2</a:t>
            </a: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) </a:t>
            </a:r>
            <a:r>
              <a:rPr sz="2000" spc="-1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S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spc="-30" dirty="0" err="1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iEtSS</a:t>
            </a:r>
            <a:r>
              <a:rPr lang="en-US" sz="2000" spc="-3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"</a:t>
            </a:r>
            <a:r>
              <a:rPr sz="2000" spc="-3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-8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a  </a:t>
            </a:r>
            <a:endParaRPr lang="en-US" sz="2000" dirty="0" smtClean="0">
              <a:solidFill>
                <a:srgbClr val="4D4D4D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 marR="1193800" indent="-340360">
              <a:lnSpc>
                <a:spcPct val="120000"/>
              </a:lnSpc>
            </a:pPr>
            <a:r>
              <a:rPr lang="en-US"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   </a:t>
            </a:r>
            <a:r>
              <a:rPr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S</a:t>
            </a:r>
            <a:r>
              <a:rPr lang="en-US" sz="2000" spc="-9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"</a:t>
            </a:r>
            <a:r>
              <a:rPr sz="2000" spc="-9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eS </a:t>
            </a: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|</a:t>
            </a:r>
            <a:r>
              <a:rPr sz="2000" spc="1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ε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  <a:p>
            <a:pPr marL="695325">
              <a:spcBef>
                <a:spcPts val="480"/>
              </a:spcBef>
            </a:pPr>
            <a:r>
              <a:rPr sz="2000" spc="-5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E </a:t>
            </a:r>
            <a:r>
              <a:rPr lang="en-US"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  <a:sym typeface="Symbol" panose="05050102010706020507" pitchFamily="18" charset="2"/>
              </a:rPr>
              <a:t></a:t>
            </a:r>
            <a:r>
              <a:rPr sz="2000" spc="-5" dirty="0" smtClean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Bookman Old Style" panose="02050604050505020204" pitchFamily="18" charset="0"/>
                <a:cs typeface="Microsoft Sans Serif"/>
              </a:rPr>
              <a:t>b</a:t>
            </a:r>
            <a:endParaRPr sz="2000" dirty="0">
              <a:solidFill>
                <a:prstClr val="black"/>
              </a:solidFill>
              <a:latin typeface="Bookman Old Style" panose="02050604050505020204" pitchFamily="18" charset="0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0" y="2514600"/>
            <a:ext cx="5943600" cy="377282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480"/>
              </a:spcBef>
            </a:pPr>
            <a:r>
              <a:rPr sz="2000" spc="-5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FIRST(E</a:t>
            </a:r>
            <a:r>
              <a:rPr sz="2000" spc="-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 = FIRST(T)</a:t>
            </a:r>
            <a:r>
              <a:rPr sz="2000" spc="-5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=</a:t>
            </a:r>
            <a:r>
              <a:rPr sz="2000" spc="-1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FIRST(F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 = { ( </a:t>
            </a:r>
            <a:r>
              <a:rPr sz="2000" spc="-1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, id</a:t>
            </a:r>
            <a:r>
              <a:rPr sz="2000" spc="-4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}</a:t>
            </a:r>
            <a:endParaRPr lang="en-US" sz="2000" dirty="0">
              <a:solidFill>
                <a:prstClr val="black"/>
              </a:solidFill>
              <a:latin typeface="Californian FB" panose="0207040306080B030204" pitchFamily="18" charset="0"/>
              <a:cs typeface="Microsoft Sans Serif"/>
            </a:endParaRPr>
          </a:p>
          <a:p>
            <a:pPr marL="12700">
              <a:spcBef>
                <a:spcPts val="480"/>
              </a:spcBef>
            </a:pP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 </a:t>
            </a:r>
            <a:r>
              <a:rPr sz="2000" spc="-2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(E</a:t>
            </a:r>
            <a:r>
              <a:rPr lang="en-US" sz="2000" spc="-2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"</a:t>
            </a:r>
            <a:r>
              <a:rPr sz="2000" spc="-2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 </a:t>
            </a:r>
            <a:r>
              <a:rPr sz="2000" spc="-3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= </a:t>
            </a:r>
            <a:r>
              <a:rPr sz="2000" spc="-2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{ </a:t>
            </a:r>
            <a:r>
              <a:rPr sz="2000" spc="-3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+ </a:t>
            </a:r>
            <a:r>
              <a:rPr sz="2000" spc="-25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, </a:t>
            </a: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ε } </a:t>
            </a:r>
            <a:endParaRPr lang="en-US" sz="2000" dirty="0">
              <a:solidFill>
                <a:srgbClr val="4D4D4D"/>
              </a:solidFill>
              <a:latin typeface="Californian FB" panose="0207040306080B030204" pitchFamily="18" charset="0"/>
              <a:cs typeface="Microsoft Sans Serif"/>
            </a:endParaRPr>
          </a:p>
          <a:p>
            <a:pPr marL="12700">
              <a:spcBef>
                <a:spcPts val="480"/>
              </a:spcBef>
            </a:pP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 </a:t>
            </a:r>
            <a:r>
              <a:rPr sz="200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(</a:t>
            </a:r>
            <a:r>
              <a:rPr sz="200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T</a:t>
            </a:r>
            <a:r>
              <a:rPr lang="en-US"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‘’</a:t>
            </a:r>
            <a:r>
              <a:rPr sz="200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= { </a:t>
            </a:r>
            <a:r>
              <a:rPr sz="2000" spc="-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*,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ε</a:t>
            </a:r>
            <a:r>
              <a:rPr sz="2000" spc="-7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}</a:t>
            </a:r>
            <a:endParaRPr sz="2000" dirty="0">
              <a:solidFill>
                <a:prstClr val="black"/>
              </a:solidFill>
              <a:latin typeface="Californian FB" panose="0207040306080B030204" pitchFamily="18" charset="0"/>
              <a:cs typeface="Microsoft Sans Serif"/>
            </a:endParaRPr>
          </a:p>
          <a:p>
            <a:pPr>
              <a:spcBef>
                <a:spcPts val="5"/>
              </a:spcBef>
            </a:pPr>
            <a:endParaRPr lang="en-US" sz="2500" dirty="0" smtClean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>
              <a:spcBef>
                <a:spcPts val="5"/>
              </a:spcBef>
            </a:pPr>
            <a:endParaRPr lang="en-US" sz="2500" dirty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>
              <a:spcBef>
                <a:spcPts val="5"/>
              </a:spcBef>
            </a:pPr>
            <a:endParaRPr lang="en-US" sz="2500" dirty="0" smtClean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>
              <a:spcBef>
                <a:spcPts val="5"/>
              </a:spcBef>
            </a:pPr>
            <a:endParaRPr sz="2500" dirty="0">
              <a:solidFill>
                <a:prstClr val="black"/>
              </a:solidFill>
              <a:latin typeface="Californian FB" panose="0207040306080B030204" pitchFamily="18" charset="0"/>
              <a:cs typeface="Times New Roman"/>
            </a:endParaRPr>
          </a:p>
          <a:p>
            <a:pPr marL="355600" marR="662305" indent="-342900">
              <a:lnSpc>
                <a:spcPct val="120000"/>
              </a:lnSpc>
              <a:tabLst>
                <a:tab pos="2395855" algn="l"/>
              </a:tabLst>
            </a:pPr>
            <a:r>
              <a:rPr sz="2000" spc="-5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FIRST(S</a:t>
            </a:r>
            <a:r>
              <a:rPr sz="2000" spc="-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)=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{ i , </a:t>
            </a:r>
            <a:r>
              <a:rPr sz="2000" spc="-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a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}  </a:t>
            </a:r>
            <a:endParaRPr lang="en-US" sz="2000" dirty="0" smtClean="0">
              <a:solidFill>
                <a:srgbClr val="4D4D4D"/>
              </a:solidFill>
              <a:latin typeface="Californian FB" panose="0207040306080B030204" pitchFamily="18" charset="0"/>
              <a:cs typeface="Microsoft Sans Serif"/>
            </a:endParaRPr>
          </a:p>
          <a:p>
            <a:pPr marL="355600" marR="662305" indent="-342900">
              <a:lnSpc>
                <a:spcPct val="120000"/>
              </a:lnSpc>
              <a:tabLst>
                <a:tab pos="2395855" algn="l"/>
              </a:tabLst>
            </a:pPr>
            <a:r>
              <a:rPr sz="2000" spc="-3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FIRST(S</a:t>
            </a:r>
            <a:r>
              <a:rPr lang="en-US" sz="2000" spc="-3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"</a:t>
            </a: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</a:t>
            </a:r>
            <a:r>
              <a:rPr sz="2000" spc="5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=</a:t>
            </a:r>
            <a:r>
              <a:rPr sz="2000" spc="-3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{ e,</a:t>
            </a:r>
            <a:r>
              <a:rPr sz="2000" spc="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ε}</a:t>
            </a:r>
            <a:endParaRPr lang="en-US" sz="2000" dirty="0">
              <a:solidFill>
                <a:prstClr val="black"/>
              </a:solidFill>
              <a:latin typeface="Californian FB" panose="0207040306080B030204" pitchFamily="18" charset="0"/>
              <a:cs typeface="Microsoft Sans Serif"/>
            </a:endParaRPr>
          </a:p>
          <a:p>
            <a:pPr marL="355600" marR="662305" indent="-342900">
              <a:lnSpc>
                <a:spcPct val="120000"/>
              </a:lnSpc>
              <a:tabLst>
                <a:tab pos="2395855" algn="l"/>
              </a:tabLst>
            </a:pPr>
            <a:r>
              <a:rPr sz="2000" dirty="0" smtClean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FIRST(E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) = { b</a:t>
            </a:r>
            <a:r>
              <a:rPr sz="2000" spc="-35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 </a:t>
            </a:r>
            <a:r>
              <a:rPr sz="2000" dirty="0">
                <a:solidFill>
                  <a:srgbClr val="4D4D4D"/>
                </a:solidFill>
                <a:latin typeface="Californian FB" panose="0207040306080B030204" pitchFamily="18" charset="0"/>
                <a:cs typeface="Microsoft Sans Serif"/>
              </a:rPr>
              <a:t>}</a:t>
            </a:r>
            <a:endParaRPr sz="2000" dirty="0">
              <a:solidFill>
                <a:prstClr val="black"/>
              </a:solidFill>
              <a:latin typeface="Californian FB" panose="0207040306080B030204" pitchFamily="18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916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06572"/>
            <a:ext cx="4856630" cy="68842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FOLLOW</a:t>
            </a:r>
          </a:p>
        </p:txBody>
      </p:sp>
      <p:sp>
        <p:nvSpPr>
          <p:cNvPr id="3" name="object 3"/>
          <p:cNvSpPr/>
          <p:nvPr/>
        </p:nvSpPr>
        <p:spPr>
          <a:xfrm>
            <a:off x="2061883" y="2131358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70">
                <a:moveTo>
                  <a:pt x="0" y="0"/>
                </a:moveTo>
                <a:lnTo>
                  <a:pt x="0" y="979170"/>
                </a:lnTo>
                <a:lnTo>
                  <a:pt x="9144000" y="979169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806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1883" y="2995332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70">
                <a:moveTo>
                  <a:pt x="0" y="0"/>
                </a:moveTo>
                <a:lnTo>
                  <a:pt x="0" y="979170"/>
                </a:lnTo>
                <a:lnTo>
                  <a:pt x="9144000" y="979169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806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1219200"/>
            <a:ext cx="9448800" cy="4237012"/>
          </a:xfrm>
          <a:prstGeom prst="rect">
            <a:avLst/>
          </a:prstGeom>
        </p:spPr>
        <p:txBody>
          <a:bodyPr vert="horz" wrap="square" lIns="0" tIns="126066" rIns="0" bIns="0" rtlCol="0">
            <a:spAutoFit/>
          </a:bodyPr>
          <a:lstStyle/>
          <a:p>
            <a:pPr marL="11206" marR="0" lvl="0" indent="0" algn="l" defTabSz="806867" rtl="0" eaLnBrk="1" fontAlgn="auto" latinLnBrk="0" hangingPunct="1">
              <a:lnSpc>
                <a:spcPct val="100000"/>
              </a:lnSpc>
              <a:spcBef>
                <a:spcPts val="9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71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Book Antiqua" panose="02040602050305030304" pitchFamily="18" charset="0"/>
                <a:cs typeface="Comic Sans MS"/>
              </a:rPr>
              <a:t>Computing</a:t>
            </a:r>
            <a:r>
              <a:rPr kumimoji="0" sz="2471" b="1" i="0" u="none" strike="noStrike" kern="1200" cap="none" spc="-18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Book Antiqua" panose="02040602050305030304" pitchFamily="18" charset="0"/>
                <a:cs typeface="Comic Sans MS"/>
              </a:rPr>
              <a:t> </a:t>
            </a:r>
            <a:r>
              <a:rPr kumimoji="0" sz="2471" b="1" i="0" u="none" strike="noStrike" kern="1200" cap="none" spc="0" normalizeH="0" baseline="0" noProof="0" dirty="0" smtClean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Book Antiqua" panose="02040602050305030304" pitchFamily="18" charset="0"/>
                <a:cs typeface="Comic Sans MS"/>
              </a:rPr>
              <a:t>FOLLOW</a:t>
            </a:r>
            <a:endParaRPr kumimoji="0" lang="en-US" sz="2471" b="1" i="0" u="none" strike="noStrike" kern="1200" cap="none" spc="0" normalizeH="0" baseline="0" noProof="0" dirty="0" smtClean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Book Antiqua" panose="02040602050305030304" pitchFamily="18" charset="0"/>
              <a:cs typeface="Comic Sans MS"/>
            </a:endParaRPr>
          </a:p>
          <a:p>
            <a:pPr marL="11206" lvl="0" algn="just" defTabSz="806867">
              <a:spcBef>
                <a:spcPts val="993"/>
              </a:spcBef>
            </a:pP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To compute FOLLOW(A) for all </a:t>
            </a:r>
            <a:r>
              <a:rPr lang="en-US" sz="2400" spc="-5" dirty="0" err="1">
                <a:solidFill>
                  <a:prstClr val="black"/>
                </a:solidFill>
                <a:latin typeface="Times New Roman"/>
                <a:cs typeface="Times New Roman"/>
              </a:rPr>
              <a:t>nonterminals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A, apply the following rules until nothing can be added to any FOLLOW set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:</a:t>
            </a:r>
            <a:endParaRPr sz="24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05459" lvl="1" indent="-302575" algn="just" defTabSz="806867">
              <a:spcBef>
                <a:spcPts val="640"/>
              </a:spcBef>
              <a:buFontTx/>
              <a:buChar char="•"/>
              <a:tabLst>
                <a:tab pos="447699" algn="l"/>
                <a:tab pos="448259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Place $ in FOLLOW(S)</a:t>
            </a:r>
          </a:p>
          <a:p>
            <a:pPr marL="904899" lvl="1" indent="-303135" algn="just" defTabSz="806867">
              <a:spcBef>
                <a:spcPts val="1059"/>
              </a:spcBef>
              <a:buFontTx/>
              <a:buChar char="•"/>
              <a:tabLst>
                <a:tab pos="447699" algn="l"/>
                <a:tab pos="448259" algn="l"/>
                <a:tab pos="3345134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If there is a production A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αBβ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, then everything in FIRST(β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except for ε) is in FOLLOW(B)</a:t>
            </a:r>
          </a:p>
          <a:p>
            <a:pPr marL="905459" marR="184907" lvl="1" indent="-302575" algn="just" defTabSz="806867">
              <a:lnSpc>
                <a:spcPct val="99100"/>
              </a:lnSpc>
              <a:spcBef>
                <a:spcPts val="1081"/>
              </a:spcBef>
              <a:buFontTx/>
              <a:buChar char="•"/>
              <a:tabLst>
                <a:tab pos="447699" algn="l"/>
                <a:tab pos="448259" algn="l"/>
                <a:tab pos="4330184" algn="l"/>
              </a:tabLst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If there is a production A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αB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, or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production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lang="en-US" sz="24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αBβ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where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FIRST(β)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contains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ε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then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everything in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FOLLOW(A)</a:t>
            </a:r>
            <a:r>
              <a:rPr lang="en-US"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also in  FOLLOW(B)</a:t>
            </a:r>
          </a:p>
          <a:p>
            <a:pPr marL="0" marR="0" lvl="0" indent="0" algn="l" defTabSz="806867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4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935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914400"/>
            <a:ext cx="11125200" cy="488146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algn="just">
              <a:spcBef>
                <a:spcPts val="484"/>
              </a:spcBef>
            </a:pPr>
            <a:r>
              <a:rPr sz="2000" b="1" dirty="0">
                <a:solidFill>
                  <a:srgbClr val="FF6500"/>
                </a:solidFill>
                <a:latin typeface="Book Antiqua" panose="02040602050305030304" pitchFamily="18" charset="0"/>
                <a:cs typeface="Comic Sans MS"/>
              </a:rPr>
              <a:t>Rules</a:t>
            </a:r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6500"/>
                </a:solidFill>
                <a:latin typeface="Book Antiqua" panose="02040602050305030304" pitchFamily="18" charset="0"/>
                <a:cs typeface="Comic Sans MS"/>
              </a:rPr>
              <a:t>in computing FOLLOW ( X) where X is a </a:t>
            </a:r>
            <a:r>
              <a:rPr sz="2000" b="1" dirty="0" smtClean="0">
                <a:solidFill>
                  <a:srgbClr val="FF6500"/>
                </a:solidFill>
                <a:latin typeface="Book Antiqua" panose="02040602050305030304" pitchFamily="18" charset="0"/>
                <a:cs typeface="Comic Sans MS"/>
              </a:rPr>
              <a:t>nonterminal</a:t>
            </a:r>
            <a:endParaRPr lang="en-US" sz="2000" b="1" dirty="0" smtClean="0">
              <a:solidFill>
                <a:srgbClr val="FF6500"/>
              </a:solidFill>
              <a:latin typeface="Book Antiqua" panose="02040602050305030304" pitchFamily="18" charset="0"/>
              <a:cs typeface="Comic Sans MS"/>
            </a:endParaRPr>
          </a:p>
          <a:p>
            <a:pPr marL="355600" indent="-342900" algn="just"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a part of a production and is succeeded by a terminal, for example: A 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Xa; then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Follow(X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) = { a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lang="en-US" sz="22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the start symbol for a grammar, for ex:  </a:t>
            </a:r>
            <a:endParaRPr lang="en-US" sz="2200" spc="-5" dirty="0" smtClean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algn="just">
              <a:spcBef>
                <a:spcPts val="484"/>
              </a:spcBef>
            </a:pP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AB</a:t>
            </a:r>
          </a:p>
          <a:p>
            <a:pPr marL="469900" algn="just">
              <a:spcBef>
                <a:spcPts val="385"/>
              </a:spcBef>
            </a:pP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</a:p>
          <a:p>
            <a:pPr marL="469900" algn="just">
              <a:spcBef>
                <a:spcPts val="385"/>
              </a:spcBef>
            </a:pP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B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b; then add $ to FOLLOW (X); FOLLOW(X)= { $ }</a:t>
            </a:r>
          </a:p>
          <a:p>
            <a:pPr marL="355600" marR="10160" indent="-342900" algn="just"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X is a part of a production and followed by another non terminal, get the FIRST of that  succeeding nonterminal. </a:t>
            </a:r>
            <a:endParaRPr lang="en-US" sz="22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160" algn="just">
              <a:spcBef>
                <a:spcPts val="385"/>
              </a:spcBef>
              <a:tabLst>
                <a:tab pos="469265" algn="l"/>
                <a:tab pos="469900" algn="l"/>
              </a:tabLst>
            </a:pP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			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XD</a:t>
            </a:r>
          </a:p>
          <a:p>
            <a:pPr marL="64135" marR="1014094" indent="727075" algn="just"/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D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 smtClean="0">
                <a:solidFill>
                  <a:prstClr val="black"/>
                </a:solidFill>
                <a:latin typeface="Times New Roman"/>
                <a:cs typeface="Times New Roman"/>
              </a:rPr>
              <a:t>aB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;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then FOLLOW(X)= FIRST(D)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{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a };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if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FIRST(D)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contains ε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   	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(ex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  </a:t>
            </a:r>
            <a:r>
              <a:rPr sz="2200" spc="-5" dirty="0" err="1" smtClean="0">
                <a:solidFill>
                  <a:prstClr val="black"/>
                </a:solidFill>
                <a:latin typeface="Times New Roman"/>
                <a:cs typeface="Times New Roman"/>
              </a:rPr>
              <a:t>aB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| ε), then everything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in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FOLLOW(D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) is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in</a:t>
            </a:r>
            <a:r>
              <a:rPr lang="en-US"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FOLLOW(X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).</a:t>
            </a:r>
          </a:p>
          <a:p>
            <a:pPr marL="355600" indent="-342900" algn="just"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If X is the last symbol of a production, ex: S </a:t>
            </a:r>
            <a:r>
              <a:rPr lang="en-US" sz="2200" spc="-5" dirty="0">
                <a:solidFill>
                  <a:prstClr val="black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 </a:t>
            </a:r>
            <a:r>
              <a:rPr sz="2200" spc="-5" dirty="0" err="1" smtClean="0">
                <a:solidFill>
                  <a:prstClr val="black"/>
                </a:solidFill>
                <a:latin typeface="Times New Roman"/>
                <a:cs typeface="Times New Roman"/>
              </a:rPr>
              <a:t>abX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, then </a:t>
            </a:r>
            <a:r>
              <a:rPr sz="2200" spc="-5" dirty="0" smtClean="0">
                <a:solidFill>
                  <a:prstClr val="black"/>
                </a:solidFill>
                <a:latin typeface="Times New Roman"/>
                <a:cs typeface="Times New Roman"/>
              </a:rPr>
              <a:t>FOLLOW(X</a:t>
            </a:r>
            <a:r>
              <a:rPr sz="2200" spc="-5" dirty="0">
                <a:solidFill>
                  <a:prstClr val="black"/>
                </a:solidFill>
                <a:latin typeface="Times New Roman"/>
                <a:cs typeface="Times New Roman"/>
              </a:rPr>
              <a:t>)= FOLLOW(S)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04800" y="106572"/>
            <a:ext cx="4856630" cy="68842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xmlns="" val="289182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04" y="228600"/>
            <a:ext cx="111226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EXAMPLE	OF FIRST AND FOLLOW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139" y="1143000"/>
            <a:ext cx="3350261" cy="42409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The</a:t>
            </a:r>
            <a:r>
              <a:rPr sz="2800" spc="-8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Grammar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E →</a:t>
            </a:r>
            <a:r>
              <a:rPr sz="2800" spc="-3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TE'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E'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→</a:t>
            </a:r>
            <a:r>
              <a:rPr sz="2800" spc="-3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+TE'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E'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→</a:t>
            </a:r>
            <a:r>
              <a:rPr sz="2800" spc="-2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ε</a:t>
            </a: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FT'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T' →</a:t>
            </a:r>
            <a:r>
              <a:rPr sz="2800" spc="-3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*FT'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T'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ε</a:t>
            </a: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F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(E)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F →</a:t>
            </a:r>
            <a:r>
              <a:rPr sz="2800" spc="-2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10" dirty="0">
                <a:latin typeface="Bookman Old Style" panose="02050604050505020204" pitchFamily="18" charset="0"/>
                <a:cs typeface="Calibri"/>
              </a:rPr>
              <a:t>id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715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04" y="228600"/>
            <a:ext cx="111226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b="1" kern="1200" spc="-5" dirty="0">
                <a:solidFill>
                  <a:srgbClr val="FF0000"/>
                </a:solidFill>
                <a:latin typeface="Bell MT" panose="02020503060305020303" pitchFamily="18" charset="0"/>
              </a:rPr>
              <a:t>EXAMPLE	OF FIRST AND FOLLOW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139" y="1143000"/>
            <a:ext cx="3350261" cy="42409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The</a:t>
            </a:r>
            <a:r>
              <a:rPr sz="2800" spc="-8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Grammar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E →</a:t>
            </a:r>
            <a:r>
              <a:rPr sz="2800" spc="-3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TE'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E'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→</a:t>
            </a:r>
            <a:r>
              <a:rPr sz="2800" spc="-3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+TE'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spc="-5" dirty="0">
                <a:latin typeface="Bookman Old Style" panose="02050604050505020204" pitchFamily="18" charset="0"/>
                <a:cs typeface="Calibri"/>
              </a:rPr>
              <a:t>E'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→</a:t>
            </a:r>
            <a:r>
              <a:rPr sz="2800" spc="-2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ε</a:t>
            </a: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FT'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T' →</a:t>
            </a:r>
            <a:r>
              <a:rPr sz="2800" spc="-3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*FT'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T'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dirty="0">
                <a:latin typeface="Bookman Old Style" panose="02050604050505020204" pitchFamily="18" charset="0"/>
                <a:cs typeface="Calibri"/>
              </a:rPr>
              <a:t>ε</a:t>
            </a:r>
          </a:p>
          <a:p>
            <a:pPr marL="469265" lvl="1">
              <a:spcBef>
                <a:spcPts val="33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F →</a:t>
            </a:r>
            <a:r>
              <a:rPr sz="2800" spc="-2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5" dirty="0">
                <a:latin typeface="Bookman Old Style" panose="02050604050505020204" pitchFamily="18" charset="0"/>
                <a:cs typeface="Calibri"/>
              </a:rPr>
              <a:t>(E)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spcBef>
                <a:spcPts val="320"/>
              </a:spcBef>
              <a:buSzPct val="96428"/>
              <a:tabLst>
                <a:tab pos="138430" algn="l"/>
              </a:tabLst>
            </a:pPr>
            <a:r>
              <a:rPr sz="2800" dirty="0">
                <a:latin typeface="Bookman Old Style" panose="02050604050505020204" pitchFamily="18" charset="0"/>
                <a:cs typeface="Calibri"/>
              </a:rPr>
              <a:t>F →</a:t>
            </a:r>
            <a:r>
              <a:rPr sz="2800" spc="-2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2800" spc="-10" dirty="0">
                <a:latin typeface="Bookman Old Style" panose="02050604050505020204" pitchFamily="18" charset="0"/>
                <a:cs typeface="Calibri"/>
              </a:rPr>
              <a:t>id</a:t>
            </a:r>
            <a:endParaRPr sz="2800" dirty="0">
              <a:latin typeface="Bookman Old Style" panose="02050604050505020204" pitchFamily="18" charset="0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0" y="1219200"/>
            <a:ext cx="2323381" cy="2127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21347" y="4038600"/>
            <a:ext cx="2978069" cy="2143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10715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8200" y="1774685"/>
            <a:ext cx="2819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S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aBDh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B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cC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C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bC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 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</a:rPr>
              <a:t> 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D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 EF</a:t>
            </a: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E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 g |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</a:t>
            </a:r>
            <a:endParaRPr lang="az-Cyrl-AZ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F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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f | </a:t>
            </a:r>
            <a:r>
              <a:rPr lang="en-US" sz="2800" spc="-5" dirty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</a:t>
            </a:r>
            <a:endParaRPr lang="az-Cyrl-AZ" sz="2800" spc="-5" dirty="0">
              <a:latin typeface="Bookman Old Style" panose="02050604050505020204" pitchFamily="18" charset="0"/>
              <a:cs typeface="Calibri"/>
            </a:endParaRPr>
          </a:p>
          <a:p>
            <a:pPr marL="594995" lvl="1" indent="-125730">
              <a:buSzPct val="96428"/>
              <a:buFont typeface="Arial"/>
              <a:buChar char="•"/>
              <a:tabLst>
                <a:tab pos="138430" algn="l"/>
              </a:tabLst>
            </a:pPr>
            <a:endParaRPr lang="az-Cyrl-AZ" sz="2800" spc="-5" dirty="0">
              <a:latin typeface="Bookman Old Style" panose="02050604050505020204" pitchFamily="18" charset="0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8200" y="1066800"/>
            <a:ext cx="5867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FIRST set</a:t>
            </a:r>
          </a:p>
          <a:p>
            <a:r>
              <a:rPr lang="en-US" dirty="0">
                <a:latin typeface="Book Antiqua" panose="02040602050305030304" pitchFamily="18" charset="0"/>
              </a:rPr>
              <a:t>FIRST(S) = </a:t>
            </a:r>
            <a:r>
              <a:rPr lang="en-US" dirty="0" smtClean="0">
                <a:latin typeface="Book Antiqua" panose="02040602050305030304" pitchFamily="18" charset="0"/>
              </a:rPr>
              <a:t>{a}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FIRST(B) = </a:t>
            </a:r>
            <a:r>
              <a:rPr lang="en-US" dirty="0" smtClean="0">
                <a:latin typeface="Book Antiqua" panose="02040602050305030304" pitchFamily="18" charset="0"/>
              </a:rPr>
              <a:t>{c}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FIRST(C) = </a:t>
            </a:r>
            <a:r>
              <a:rPr lang="en-US" dirty="0" smtClean="0">
                <a:latin typeface="Book Antiqua" panose="02040602050305030304" pitchFamily="18" charset="0"/>
              </a:rPr>
              <a:t>{b </a:t>
            </a:r>
            <a:r>
              <a:rPr lang="en-US" dirty="0">
                <a:latin typeface="Book Antiqua" panose="02040602050305030304" pitchFamily="18" charset="0"/>
              </a:rPr>
              <a:t>,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FIRST(D) = FIRST(E) U FIRST(F) = </a:t>
            </a:r>
            <a:r>
              <a:rPr lang="en-US" dirty="0" smtClean="0">
                <a:latin typeface="Book Antiqua" panose="02040602050305030304" pitchFamily="18" charset="0"/>
              </a:rPr>
              <a:t>{g</a:t>
            </a:r>
            <a:r>
              <a:rPr lang="en-US" dirty="0">
                <a:latin typeface="Book Antiqua" panose="02040602050305030304" pitchFamily="18" charset="0"/>
              </a:rPr>
              <a:t>, f,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FIRST(E) = </a:t>
            </a:r>
            <a:r>
              <a:rPr lang="en-US" dirty="0" smtClean="0">
                <a:latin typeface="Book Antiqua" panose="02040602050305030304" pitchFamily="18" charset="0"/>
              </a:rPr>
              <a:t>{g </a:t>
            </a:r>
            <a:r>
              <a:rPr lang="en-US" dirty="0">
                <a:latin typeface="Book Antiqua" panose="02040602050305030304" pitchFamily="18" charset="0"/>
              </a:rPr>
              <a:t>,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FIRST(F) = </a:t>
            </a:r>
            <a:r>
              <a:rPr lang="en-US" dirty="0" smtClean="0">
                <a:latin typeface="Book Antiqua" panose="02040602050305030304" pitchFamily="18" charset="0"/>
              </a:rPr>
              <a:t>{f </a:t>
            </a:r>
            <a:r>
              <a:rPr lang="en-US" dirty="0">
                <a:latin typeface="Book Antiqua" panose="02040602050305030304" pitchFamily="18" charset="0"/>
              </a:rPr>
              <a:t>,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 Set</a:t>
            </a:r>
          </a:p>
          <a:p>
            <a:r>
              <a:rPr lang="en-US" dirty="0">
                <a:latin typeface="Book Antiqua" panose="02040602050305030304" pitchFamily="18" charset="0"/>
              </a:rPr>
              <a:t>FOLLOW(S) = </a:t>
            </a:r>
            <a:r>
              <a:rPr lang="en-US" dirty="0" smtClean="0">
                <a:latin typeface="Book Antiqua" panose="02040602050305030304" pitchFamily="18" charset="0"/>
              </a:rPr>
              <a:t>{$} 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FOLLOW(B) = </a:t>
            </a:r>
            <a:r>
              <a:rPr lang="en-US" dirty="0" smtClean="0">
                <a:latin typeface="Book Antiqua" panose="02040602050305030304" pitchFamily="18" charset="0"/>
              </a:rPr>
              <a:t>{FIRST(D</a:t>
            </a:r>
            <a:r>
              <a:rPr lang="en-US" dirty="0">
                <a:latin typeface="Book Antiqua" panose="02040602050305030304" pitchFamily="18" charset="0"/>
              </a:rPr>
              <a:t>) –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 </a:t>
            </a:r>
            <a:r>
              <a:rPr lang="en-US" dirty="0">
                <a:latin typeface="Book Antiqua" panose="02040602050305030304" pitchFamily="18" charset="0"/>
              </a:rPr>
              <a:t>U FIRST(h) = </a:t>
            </a:r>
            <a:r>
              <a:rPr lang="en-US" dirty="0" smtClean="0">
                <a:latin typeface="Book Antiqua" panose="02040602050305030304" pitchFamily="18" charset="0"/>
              </a:rPr>
              <a:t>{g </a:t>
            </a:r>
            <a:r>
              <a:rPr lang="en-US" dirty="0">
                <a:latin typeface="Book Antiqua" panose="02040602050305030304" pitchFamily="18" charset="0"/>
              </a:rPr>
              <a:t>, f , </a:t>
            </a:r>
            <a:r>
              <a:rPr lang="en-US" dirty="0" smtClean="0">
                <a:latin typeface="Book Antiqua" panose="02040602050305030304" pitchFamily="18" charset="0"/>
              </a:rPr>
              <a:t>h}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FOLLOW(C) = FOLLOW(B) = </a:t>
            </a:r>
            <a:r>
              <a:rPr lang="en-US" dirty="0" smtClean="0">
                <a:latin typeface="Book Antiqua" panose="02040602050305030304" pitchFamily="18" charset="0"/>
              </a:rPr>
              <a:t>{g </a:t>
            </a:r>
            <a:r>
              <a:rPr lang="en-US" dirty="0">
                <a:latin typeface="Book Antiqua" panose="02040602050305030304" pitchFamily="18" charset="0"/>
              </a:rPr>
              <a:t>, f , </a:t>
            </a:r>
            <a:r>
              <a:rPr lang="en-US" dirty="0" smtClean="0">
                <a:latin typeface="Book Antiqua" panose="02040602050305030304" pitchFamily="18" charset="0"/>
              </a:rPr>
              <a:t>h}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FOLLOW(D) = FIRST(h) = </a:t>
            </a:r>
            <a:r>
              <a:rPr lang="en-US" dirty="0" smtClean="0">
                <a:latin typeface="Book Antiqua" panose="02040602050305030304" pitchFamily="18" charset="0"/>
              </a:rPr>
              <a:t>{h}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FOLLOW(E) = </a:t>
            </a:r>
            <a:r>
              <a:rPr lang="en-US" dirty="0" smtClean="0">
                <a:latin typeface="Book Antiqua" panose="02040602050305030304" pitchFamily="18" charset="0"/>
              </a:rPr>
              <a:t>{FIRST(F</a:t>
            </a:r>
            <a:r>
              <a:rPr lang="en-US" dirty="0">
                <a:latin typeface="Book Antiqua" panose="02040602050305030304" pitchFamily="18" charset="0"/>
              </a:rPr>
              <a:t>) – </a:t>
            </a:r>
            <a:r>
              <a:rPr lang="en-US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 </a:t>
            </a:r>
            <a:r>
              <a:rPr lang="az-Cyrl-AZ" dirty="0">
                <a:latin typeface="Book Antiqua" panose="02040602050305030304" pitchFamily="18" charset="0"/>
              </a:rPr>
              <a:t>} </a:t>
            </a:r>
            <a:r>
              <a:rPr lang="en-US" dirty="0">
                <a:latin typeface="Book Antiqua" panose="02040602050305030304" pitchFamily="18" charset="0"/>
              </a:rPr>
              <a:t>U FOLLOW(D) = </a:t>
            </a:r>
            <a:r>
              <a:rPr lang="en-US" dirty="0" smtClean="0">
                <a:latin typeface="Book Antiqua" panose="02040602050305030304" pitchFamily="18" charset="0"/>
              </a:rPr>
              <a:t>{f </a:t>
            </a:r>
            <a:r>
              <a:rPr lang="en-US" dirty="0">
                <a:latin typeface="Book Antiqua" panose="02040602050305030304" pitchFamily="18" charset="0"/>
              </a:rPr>
              <a:t>, </a:t>
            </a:r>
            <a:r>
              <a:rPr lang="en-US" dirty="0" smtClean="0">
                <a:latin typeface="Book Antiqua" panose="02040602050305030304" pitchFamily="18" charset="0"/>
              </a:rPr>
              <a:t>h}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FOLLOW(F) = FOLLOW(D) = </a:t>
            </a:r>
            <a:r>
              <a:rPr lang="en-US" dirty="0" smtClean="0">
                <a:latin typeface="Book Antiqua" panose="02040602050305030304" pitchFamily="18" charset="0"/>
              </a:rPr>
              <a:t>{h}</a:t>
            </a:r>
            <a:endParaRPr lang="en-US" dirty="0">
              <a:latin typeface="Book Antiqua" panose="020406020503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330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2743200"/>
            <a:ext cx="39624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S →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ACB|Cbb|Ba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A →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da|BC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B → g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</a:rPr>
              <a:t>|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 </a:t>
            </a:r>
            <a:endParaRPr lang="en-US" sz="2800" spc="-5" dirty="0">
              <a:latin typeface="Bookman Old Style" panose="02050604050505020204" pitchFamily="18" charset="0"/>
              <a:cs typeface="Calibri"/>
              <a:sym typeface="Symbol" panose="05050102010706020507" pitchFamily="18" charset="2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C → h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</a:rPr>
              <a:t>|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</a:t>
            </a:r>
            <a:endParaRPr lang="az-Cyrl-AZ" sz="2800" spc="-5" dirty="0">
              <a:latin typeface="Bookman Old Style" panose="02050604050505020204" pitchFamily="18" charset="0"/>
              <a:cs typeface="Calibri"/>
            </a:endParaRPr>
          </a:p>
          <a:p>
            <a:endParaRPr lang="az-Cyrl-AZ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464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2743200"/>
            <a:ext cx="39624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S →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ACB|Cbb|Ba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A → </a:t>
            </a:r>
            <a:r>
              <a:rPr lang="en-US" sz="2800" spc="-5" dirty="0" err="1">
                <a:latin typeface="Bookman Old Style" panose="02050604050505020204" pitchFamily="18" charset="0"/>
                <a:cs typeface="Calibri"/>
              </a:rPr>
              <a:t>da|BC</a:t>
            </a:r>
            <a:endParaRPr lang="en-US" sz="2800" spc="-5" dirty="0">
              <a:latin typeface="Bookman Old Style" panose="02050604050505020204" pitchFamily="18" charset="0"/>
              <a:cs typeface="Calibri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B → g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</a:rPr>
              <a:t>|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 </a:t>
            </a:r>
            <a:endParaRPr lang="en-US" sz="2800" spc="-5" dirty="0">
              <a:latin typeface="Bookman Old Style" panose="02050604050505020204" pitchFamily="18" charset="0"/>
              <a:cs typeface="Calibri"/>
              <a:sym typeface="Symbol" panose="05050102010706020507" pitchFamily="18" charset="2"/>
            </a:endParaRPr>
          </a:p>
          <a:p>
            <a:pPr marL="469265" lvl="1">
              <a:buSzPct val="96428"/>
              <a:tabLst>
                <a:tab pos="138430" algn="l"/>
              </a:tabLst>
            </a:pPr>
            <a:r>
              <a:rPr lang="en-US" sz="2800" spc="-5" dirty="0">
                <a:latin typeface="Bookman Old Style" panose="02050604050505020204" pitchFamily="18" charset="0"/>
                <a:cs typeface="Calibri"/>
              </a:rPr>
              <a:t>C → h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</a:rPr>
              <a:t>|</a:t>
            </a:r>
            <a:r>
              <a:rPr lang="en-US" sz="2800" spc="-5" dirty="0" smtClean="0">
                <a:latin typeface="Bookman Old Style" panose="02050604050505020204" pitchFamily="18" charset="0"/>
                <a:cs typeface="Calibri"/>
                <a:sym typeface="Symbol" panose="05050102010706020507" pitchFamily="18" charset="2"/>
              </a:rPr>
              <a:t></a:t>
            </a:r>
            <a:endParaRPr lang="az-Cyrl-AZ" sz="2800" spc="-5" dirty="0">
              <a:latin typeface="Bookman Old Style" panose="02050604050505020204" pitchFamily="18" charset="0"/>
              <a:cs typeface="Calibri"/>
            </a:endParaRPr>
          </a:p>
          <a:p>
            <a:endParaRPr lang="az-Cyrl-AZ" dirty="0">
              <a:latin typeface="Book Antiqua" panose="0204060205030503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5400" y="1905000"/>
            <a:ext cx="670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FIRST set</a:t>
            </a:r>
          </a:p>
          <a:p>
            <a:r>
              <a:rPr lang="en-US" dirty="0">
                <a:latin typeface="Book Antiqua" panose="02040602050305030304" pitchFamily="18" charset="0"/>
              </a:rPr>
              <a:t>FIRST(S) = FIRST(A) U FIRST(B) U FIRST(C) = { d, g, h, </a:t>
            </a:r>
            <a:r>
              <a:rPr lang="en-US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, </a:t>
            </a:r>
            <a:r>
              <a:rPr lang="en-US" dirty="0">
                <a:latin typeface="Book Antiqua" panose="02040602050305030304" pitchFamily="18" charset="0"/>
              </a:rPr>
              <a:t>b, a}</a:t>
            </a:r>
          </a:p>
          <a:p>
            <a:r>
              <a:rPr lang="en-US" dirty="0">
                <a:latin typeface="Book Antiqua" panose="02040602050305030304" pitchFamily="18" charset="0"/>
              </a:rPr>
              <a:t>FIRST(A) = { d } U {FIRST(B)-</a:t>
            </a:r>
            <a:r>
              <a:rPr lang="az-Cyrl-AZ" dirty="0">
                <a:latin typeface="Book Antiqua" panose="02040602050305030304" pitchFamily="18" charset="0"/>
              </a:rPr>
              <a:t>Є} </a:t>
            </a:r>
            <a:r>
              <a:rPr lang="en-US" dirty="0">
                <a:latin typeface="Book Antiqua" panose="02040602050305030304" pitchFamily="18" charset="0"/>
              </a:rPr>
              <a:t>U FIRST(C) = { d, g, h, </a:t>
            </a:r>
            <a:r>
              <a:rPr lang="en-US" dirty="0" smtClean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FIRST(B) = { g, </a:t>
            </a:r>
            <a:r>
              <a:rPr lang="en-US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FIRST(C) = { h, </a:t>
            </a:r>
            <a:r>
              <a:rPr lang="en-US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az-Cyrl-AZ" dirty="0" smtClean="0">
                <a:latin typeface="Book Antiqua" panose="02040602050305030304" pitchFamily="18" charset="0"/>
              </a:rPr>
              <a:t>}</a:t>
            </a:r>
            <a:endParaRPr lang="az-Cyrl-AZ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az-Cyrl-AZ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FOLLOW Set</a:t>
            </a:r>
          </a:p>
          <a:p>
            <a:r>
              <a:rPr lang="en-US" dirty="0">
                <a:latin typeface="Book Antiqua" panose="02040602050305030304" pitchFamily="18" charset="0"/>
              </a:rPr>
              <a:t>FOLLOW(S) = { $ }</a:t>
            </a:r>
          </a:p>
          <a:p>
            <a:r>
              <a:rPr lang="en-US" dirty="0">
                <a:latin typeface="Book Antiqua" panose="02040602050305030304" pitchFamily="18" charset="0"/>
              </a:rPr>
              <a:t>FOLLOW(A)  = { h, g, $ }</a:t>
            </a:r>
          </a:p>
          <a:p>
            <a:r>
              <a:rPr lang="en-US" dirty="0">
                <a:latin typeface="Book Antiqua" panose="02040602050305030304" pitchFamily="18" charset="0"/>
              </a:rPr>
              <a:t>FOLLOW(B) = { a, $, h, g }</a:t>
            </a:r>
          </a:p>
          <a:p>
            <a:r>
              <a:rPr lang="en-US" dirty="0">
                <a:latin typeface="Book Antiqua" panose="02040602050305030304" pitchFamily="18" charset="0"/>
              </a:rPr>
              <a:t>FOLLOW(C) = { b, g, $, h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4464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133600"/>
            <a:ext cx="4317797" cy="2570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  <a:tabLst>
                <a:tab pos="914400" algn="l"/>
                <a:tab pos="1828800" algn="l"/>
              </a:tabLst>
            </a:pP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E </a:t>
            </a:r>
            <a:r>
              <a:rPr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lang="en-US"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T</a:t>
            </a:r>
            <a:r>
              <a:rPr lang="en-US" sz="3200" spc="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E</a:t>
            </a:r>
            <a:r>
              <a:rPr sz="3200" spc="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endParaRPr sz="32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>
              <a:tabLst>
                <a:tab pos="914400" algn="l"/>
                <a:tab pos="1828800" algn="l"/>
              </a:tabLst>
            </a:pP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E</a:t>
            </a:r>
            <a:r>
              <a:rPr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lang="en-US"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+ </a:t>
            </a: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T</a:t>
            </a:r>
            <a:r>
              <a:rPr sz="3200" spc="-95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lang="en-US" sz="3200" spc="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E</a:t>
            </a:r>
            <a:r>
              <a:rPr sz="3200" spc="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r>
              <a:rPr lang="en-US" sz="32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|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</a:t>
            </a:r>
            <a:r>
              <a:rPr lang="en-US" sz="32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/>
            </a:r>
            <a:br>
              <a:rPr lang="en-US" sz="32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</a:b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T</a:t>
            </a:r>
            <a:r>
              <a:rPr lang="en-US"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3350" spc="-12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	</a:t>
            </a: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FT</a:t>
            </a:r>
            <a:r>
              <a:rPr sz="3200" spc="-1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endParaRPr sz="32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>
              <a:tabLst>
                <a:tab pos="914400" algn="l"/>
                <a:tab pos="1828800" algn="l"/>
              </a:tabLst>
            </a:pPr>
            <a:r>
              <a:rPr lang="en-US" sz="32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T</a:t>
            </a:r>
            <a:r>
              <a:rPr sz="32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r>
              <a:rPr lang="en-US" sz="32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3350" spc="-12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	</a:t>
            </a:r>
            <a:r>
              <a:rPr sz="32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* </a:t>
            </a: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FT</a:t>
            </a:r>
            <a:r>
              <a:rPr sz="3200" spc="-1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'</a:t>
            </a:r>
            <a:r>
              <a:rPr lang="en-US" sz="32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|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</a:t>
            </a:r>
            <a:endParaRPr lang="en-US" sz="3200" dirty="0">
              <a:solidFill>
                <a:prstClr val="black"/>
              </a:solidFill>
              <a:latin typeface="Bell MT" panose="02020503060305020303" pitchFamily="18" charset="0"/>
              <a:cs typeface="Cambria Math"/>
            </a:endParaRPr>
          </a:p>
          <a:p>
            <a:pPr>
              <a:tabLst>
                <a:tab pos="914400" algn="l"/>
                <a:tab pos="1828800" algn="l"/>
              </a:tabLst>
            </a:pPr>
            <a:r>
              <a:rPr lang="en-US" sz="32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F</a:t>
            </a:r>
            <a:r>
              <a:rPr lang="en-US"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350" spc="-125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lang="en-US" sz="3350" spc="-12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 </a:t>
            </a:r>
            <a:r>
              <a:rPr lang="en-US" sz="3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E</a:t>
            </a:r>
            <a:r>
              <a:rPr sz="3200" spc="-65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lang="en-US" sz="32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| </a:t>
            </a:r>
            <a:r>
              <a:rPr lang="en-US" sz="3200" dirty="0" err="1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x</a:t>
            </a:r>
            <a:r>
              <a:rPr sz="3200" dirty="0" err="1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|</a:t>
            </a:r>
            <a:r>
              <a:rPr lang="en-US" sz="3200" dirty="0" err="1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y</a:t>
            </a:r>
            <a:endParaRPr lang="en-US" sz="32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1371600"/>
            <a:ext cx="17062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dirty="0">
                <a:solidFill>
                  <a:prstClr val="black"/>
                </a:solidFill>
                <a:latin typeface="Calibri"/>
                <a:cs typeface="Calibri"/>
              </a:rPr>
              <a:t>G</a:t>
            </a:r>
            <a:r>
              <a:rPr sz="3200" spc="-70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prstClr val="black"/>
                </a:solidFill>
                <a:latin typeface="Calibri"/>
                <a:cs typeface="Calibri"/>
              </a:rPr>
              <a:t>ammar: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00190" y="1613309"/>
            <a:ext cx="34112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b="1" i="1" spc="-10" dirty="0">
                <a:solidFill>
                  <a:prstClr val="black"/>
                </a:solidFill>
                <a:latin typeface="Calibri"/>
                <a:cs typeface="Calibri"/>
              </a:rPr>
              <a:t>first </a:t>
            </a:r>
            <a:r>
              <a:rPr sz="3200" dirty="0">
                <a:solidFill>
                  <a:prstClr val="black"/>
                </a:solidFill>
                <a:latin typeface="Calibri"/>
                <a:cs typeface="Calibri"/>
              </a:rPr>
              <a:t>and </a:t>
            </a:r>
            <a:r>
              <a:rPr sz="3200" b="1" i="1" spc="-10" dirty="0">
                <a:solidFill>
                  <a:prstClr val="black"/>
                </a:solidFill>
                <a:latin typeface="Calibri"/>
                <a:cs typeface="Calibri"/>
              </a:rPr>
              <a:t>follow</a:t>
            </a:r>
            <a:r>
              <a:rPr sz="3200" b="1" i="1" spc="-4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Calibri"/>
                <a:cs typeface="Calibri"/>
              </a:rPr>
              <a:t>sets:</a:t>
            </a:r>
            <a:endParaRPr sz="32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91200" y="2266645"/>
          <a:ext cx="5029200" cy="3067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87143">
                <a:tc>
                  <a:txBody>
                    <a:bodyPr/>
                    <a:lstStyle/>
                    <a:p>
                      <a:pPr marL="108585" marR="100330" indent="1720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No</a:t>
                      </a:r>
                      <a:r>
                        <a:rPr lang="en-US" sz="1800" i="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n-</a:t>
                      </a:r>
                      <a:r>
                        <a:rPr sz="1800" i="0" spc="-16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T</a:t>
                      </a:r>
                      <a:r>
                        <a:rPr sz="1800" i="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erminal</a:t>
                      </a:r>
                      <a:endParaRPr sz="1800" i="0" dirty="0">
                        <a:latin typeface="Bookman Old Style" panose="020506040505050202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i="0" spc="-1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first</a:t>
                      </a:r>
                      <a:endParaRPr sz="1800" i="0" dirty="0">
                        <a:latin typeface="Bookman Old Style" panose="02050604050505020204" pitchFamily="18" charset="0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i="0" spc="-1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Calibri"/>
                        </a:rPr>
                        <a:t>follow</a:t>
                      </a:r>
                      <a:endParaRPr sz="1800" i="0" dirty="0">
                        <a:latin typeface="Bookman Old Style" panose="02050604050505020204" pitchFamily="18" charset="0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6042">
                <a:tc>
                  <a:txBody>
                    <a:bodyPr/>
                    <a:lstStyle/>
                    <a:p>
                      <a:pPr marR="4476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Bell MT" panose="02020503060305020303" pitchFamily="18" charset="0"/>
                          <a:cs typeface="Calibri"/>
                        </a:rPr>
                        <a:t>E</a:t>
                      </a:r>
                      <a:endParaRPr sz="1800" i="0" u="none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‘(‘, </a:t>
                      </a:r>
                      <a:r>
                        <a:rPr sz="2000" i="0" spc="-40" dirty="0">
                          <a:latin typeface="Bell MT" panose="02020503060305020303" pitchFamily="18" charset="0"/>
                          <a:cs typeface="Calibri"/>
                        </a:rPr>
                        <a:t>‘x’,</a:t>
                      </a:r>
                      <a:r>
                        <a:rPr sz="2000" i="0" spc="35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10" dirty="0">
                          <a:latin typeface="Bell MT" panose="02020503060305020303" pitchFamily="18" charset="0"/>
                          <a:cs typeface="Calibri"/>
                        </a:rPr>
                        <a:t>‘y’</a:t>
                      </a:r>
                      <a:endParaRPr sz="2000" i="0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0" dirty="0">
                          <a:latin typeface="Bell MT" panose="02020503060305020303" pitchFamily="18" charset="0"/>
                          <a:cs typeface="Calibri"/>
                        </a:rPr>
                        <a:t>$,</a:t>
                      </a:r>
                      <a:r>
                        <a:rPr sz="2000" i="0" spc="-20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-5" dirty="0">
                          <a:latin typeface="Bell MT" panose="02020503060305020303" pitchFamily="18" charset="0"/>
                          <a:cs typeface="Calibri"/>
                        </a:rPr>
                        <a:t>‘)’</a:t>
                      </a:r>
                      <a:endParaRPr sz="2000" i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6042">
                <a:tc>
                  <a:txBody>
                    <a:bodyPr/>
                    <a:lstStyle/>
                    <a:p>
                      <a:pPr marR="4210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Bell MT" panose="02020503060305020303" pitchFamily="18" charset="0"/>
                          <a:cs typeface="Calibri"/>
                        </a:rPr>
                        <a:t>E’</a:t>
                      </a:r>
                      <a:endParaRPr sz="1800" i="0" u="none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‘+’,</a:t>
                      </a:r>
                      <a:r>
                        <a:rPr sz="2000" i="0" spc="-10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dirty="0">
                          <a:latin typeface="Bell MT" panose="02020503060305020303" pitchFamily="18" charset="0"/>
                          <a:cs typeface="Cambria Math"/>
                        </a:rPr>
                        <a:t>𝜀</a:t>
                      </a: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i="0" dirty="0">
                          <a:latin typeface="Bell MT" panose="02020503060305020303" pitchFamily="18" charset="0"/>
                          <a:cs typeface="Calibri"/>
                        </a:rPr>
                        <a:t>$,</a:t>
                      </a:r>
                      <a:r>
                        <a:rPr sz="2000" i="0" spc="-20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-5" dirty="0">
                          <a:latin typeface="Bell MT" panose="02020503060305020303" pitchFamily="18" charset="0"/>
                          <a:cs typeface="Calibri"/>
                        </a:rPr>
                        <a:t>‘)’</a:t>
                      </a:r>
                      <a:endParaRPr sz="2000" i="0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6042">
                <a:tc>
                  <a:txBody>
                    <a:bodyPr/>
                    <a:lstStyle/>
                    <a:p>
                      <a:pPr marR="46355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Bell MT" panose="02020503060305020303" pitchFamily="18" charset="0"/>
                          <a:cs typeface="Calibri"/>
                        </a:rPr>
                        <a:t>T</a:t>
                      </a:r>
                      <a:endParaRPr sz="1800" i="0" u="none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‘(‘, </a:t>
                      </a:r>
                      <a:r>
                        <a:rPr sz="2000" i="0" spc="-40" dirty="0">
                          <a:latin typeface="Bell MT" panose="02020503060305020303" pitchFamily="18" charset="0"/>
                          <a:cs typeface="Calibri"/>
                        </a:rPr>
                        <a:t>‘x’,</a:t>
                      </a:r>
                      <a:r>
                        <a:rPr sz="2000" i="0" spc="35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10" dirty="0">
                          <a:latin typeface="Bell MT" panose="02020503060305020303" pitchFamily="18" charset="0"/>
                          <a:cs typeface="Calibri"/>
                        </a:rPr>
                        <a:t>‘y’</a:t>
                      </a:r>
                      <a:endParaRPr sz="2000" i="0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‘+’, </a:t>
                      </a:r>
                      <a:r>
                        <a:rPr sz="2000" i="0" dirty="0">
                          <a:latin typeface="Bell MT" panose="02020503060305020303" pitchFamily="18" charset="0"/>
                          <a:cs typeface="Calibri"/>
                        </a:rPr>
                        <a:t>$,</a:t>
                      </a:r>
                      <a:r>
                        <a:rPr sz="2000" i="0" spc="25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-5" dirty="0">
                          <a:latin typeface="Bell MT" panose="02020503060305020303" pitchFamily="18" charset="0"/>
                          <a:cs typeface="Calibri"/>
                        </a:rPr>
                        <a:t>‘)’</a:t>
                      </a:r>
                      <a:endParaRPr sz="2000" i="0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6043">
                <a:tc>
                  <a:txBody>
                    <a:bodyPr/>
                    <a:lstStyle/>
                    <a:p>
                      <a:pPr marR="4381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Bell MT" panose="02020503060305020303" pitchFamily="18" charset="0"/>
                          <a:cs typeface="Calibri"/>
                        </a:rPr>
                        <a:t>T’</a:t>
                      </a:r>
                      <a:endParaRPr sz="1800" i="0" u="none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‘*’,</a:t>
                      </a:r>
                      <a:r>
                        <a:rPr sz="2000" i="0" spc="-10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dirty="0">
                          <a:latin typeface="Bell MT" panose="02020503060305020303" pitchFamily="18" charset="0"/>
                          <a:cs typeface="Cambria Math"/>
                        </a:rPr>
                        <a:t>𝜀</a:t>
                      </a:r>
                      <a:endParaRPr sz="2000" i="0">
                        <a:latin typeface="Bell MT" panose="02020503060305020303" pitchFamily="18" charset="0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‘+’, </a:t>
                      </a:r>
                      <a:r>
                        <a:rPr sz="2000" i="0" dirty="0">
                          <a:latin typeface="Bell MT" panose="02020503060305020303" pitchFamily="18" charset="0"/>
                          <a:cs typeface="Calibri"/>
                        </a:rPr>
                        <a:t>$,</a:t>
                      </a:r>
                      <a:r>
                        <a:rPr sz="2000" i="0" spc="25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-5" dirty="0">
                          <a:latin typeface="Bell MT" panose="02020503060305020303" pitchFamily="18" charset="0"/>
                          <a:cs typeface="Calibri"/>
                        </a:rPr>
                        <a:t>‘)’</a:t>
                      </a:r>
                      <a:endParaRPr sz="2000" i="0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6042">
                <a:tc>
                  <a:txBody>
                    <a:bodyPr/>
                    <a:lstStyle/>
                    <a:p>
                      <a:pPr marR="467359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Bell MT" panose="02020503060305020303" pitchFamily="18" charset="0"/>
                          <a:cs typeface="Calibri"/>
                        </a:rPr>
                        <a:t>F</a:t>
                      </a:r>
                      <a:endParaRPr sz="1800" i="0" u="none" dirty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‘(‘, </a:t>
                      </a:r>
                      <a:r>
                        <a:rPr sz="2000" i="0" spc="-40" dirty="0">
                          <a:latin typeface="Bell MT" panose="02020503060305020303" pitchFamily="18" charset="0"/>
                          <a:cs typeface="Calibri"/>
                        </a:rPr>
                        <a:t>‘x’,</a:t>
                      </a:r>
                      <a:r>
                        <a:rPr sz="2000" i="0" spc="35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spc="10" dirty="0">
                          <a:latin typeface="Bell MT" panose="02020503060305020303" pitchFamily="18" charset="0"/>
                          <a:cs typeface="Calibri"/>
                        </a:rPr>
                        <a:t>‘y’</a:t>
                      </a:r>
                      <a:endParaRPr sz="2000" i="0">
                        <a:latin typeface="Bell MT" panose="02020503060305020303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i="0" spc="-50" dirty="0">
                          <a:latin typeface="Bell MT" panose="02020503060305020303" pitchFamily="18" charset="0"/>
                          <a:cs typeface="Calibri"/>
                        </a:rPr>
                        <a:t>‘*’, ‘+’, </a:t>
                      </a:r>
                      <a:r>
                        <a:rPr sz="2000" i="0" spc="-55" dirty="0">
                          <a:latin typeface="Bell MT" panose="02020503060305020303" pitchFamily="18" charset="0"/>
                          <a:cs typeface="Calibri"/>
                        </a:rPr>
                        <a:t>‘)’,</a:t>
                      </a:r>
                      <a:r>
                        <a:rPr sz="2000" i="0" spc="120" dirty="0">
                          <a:latin typeface="Bell MT" panose="02020503060305020303" pitchFamily="18" charset="0"/>
                          <a:cs typeface="Calibri"/>
                        </a:rPr>
                        <a:t> </a:t>
                      </a:r>
                      <a:r>
                        <a:rPr sz="2000" i="0" dirty="0">
                          <a:latin typeface="Bell MT" panose="02020503060305020303" pitchFamily="18" charset="0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7" name="object 4"/>
          <p:cNvSpPr txBox="1">
            <a:spLocks/>
          </p:cNvSpPr>
          <p:nvPr/>
        </p:nvSpPr>
        <p:spPr>
          <a:xfrm>
            <a:off x="228600" y="228600"/>
            <a:ext cx="10439400" cy="5995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065" marR="5080" algn="ctr">
              <a:lnSpc>
                <a:spcPts val="3779"/>
              </a:lnSpc>
              <a:spcBef>
                <a:spcPts val="580"/>
              </a:spcBef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Construction of Predictive Parsing Tables</a:t>
            </a:r>
          </a:p>
        </p:txBody>
      </p:sp>
    </p:spTree>
    <p:extLst>
      <p:ext uri="{BB962C8B-B14F-4D97-AF65-F5344CB8AC3E}">
        <p14:creationId xmlns:p14="http://schemas.microsoft.com/office/powerpoint/2010/main" xmlns="" val="337127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70304" y="3048000"/>
          <a:ext cx="8134981" cy="2595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06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66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39">
                <a:tc rowSpan="2">
                  <a:txBody>
                    <a:bodyPr/>
                    <a:lstStyle/>
                    <a:p>
                      <a:pPr marL="91440" marR="85090" indent="1778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  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(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$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5194" y="1219200"/>
            <a:ext cx="111252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3200" kern="1200" spc="-5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Start with an empty parsing table; the rows are  non-terminals and the columns are terminals.</a:t>
            </a:r>
          </a:p>
        </p:txBody>
      </p:sp>
      <p:sp>
        <p:nvSpPr>
          <p:cNvPr id="4" name="object 4"/>
          <p:cNvSpPr txBox="1">
            <a:spLocks/>
          </p:cNvSpPr>
          <p:nvPr/>
        </p:nvSpPr>
        <p:spPr>
          <a:xfrm>
            <a:off x="228600" y="228600"/>
            <a:ext cx="10439400" cy="5995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065" marR="5080" algn="ctr">
              <a:lnSpc>
                <a:spcPts val="3779"/>
              </a:lnSpc>
              <a:spcBef>
                <a:spcPts val="580"/>
              </a:spcBef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Construction of Predictive Parsing Tables</a:t>
            </a:r>
          </a:p>
        </p:txBody>
      </p:sp>
    </p:spTree>
    <p:extLst>
      <p:ext uri="{BB962C8B-B14F-4D97-AF65-F5344CB8AC3E}">
        <p14:creationId xmlns:p14="http://schemas.microsoft.com/office/powerpoint/2010/main" xmlns="" val="11399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object 2"/>
          <p:cNvSpPr txBox="1"/>
          <p:nvPr/>
        </p:nvSpPr>
        <p:spPr>
          <a:xfrm>
            <a:off x="6781800" y="1774431"/>
            <a:ext cx="1447800" cy="4603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lang="en-US" sz="28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20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1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1146997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81800" y="2823514"/>
          <a:ext cx="3672839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5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1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92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 smtClean="0">
                          <a:latin typeface="Calibri"/>
                          <a:cs typeface="Calibri"/>
                        </a:rPr>
                        <a:t>first(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sz="2800" b="0" i="0" spc="-5" dirty="0" smtClean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65" dirty="0">
                          <a:latin typeface="Calibri"/>
                          <a:cs typeface="Calibri"/>
                        </a:rPr>
                        <a:t>‘(‘,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1" spc="-75" dirty="0">
                          <a:latin typeface="Calibri"/>
                          <a:cs typeface="Calibri"/>
                        </a:rPr>
                        <a:t>‘x’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1" spc="-5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2800" i="1" spc="20" dirty="0">
                          <a:latin typeface="Calibri"/>
                          <a:cs typeface="Calibri"/>
                        </a:rPr>
                        <a:t>‘y’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pattFill prst="pct5">
                      <a:fgClr>
                        <a:srgbClr val="E9ECF4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69401" y="4084098"/>
          <a:ext cx="8134981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06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66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(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$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 useBgFill="1">
        <p:nvSpPr>
          <p:cNvPr id="7" name="object 7"/>
          <p:cNvSpPr txBox="1"/>
          <p:nvPr/>
        </p:nvSpPr>
        <p:spPr>
          <a:xfrm>
            <a:off x="623778" y="1146015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  <p:sp>
        <p:nvSpPr>
          <p:cNvPr id="8" name="object 4"/>
          <p:cNvSpPr txBox="1">
            <a:spLocks/>
          </p:cNvSpPr>
          <p:nvPr/>
        </p:nvSpPr>
        <p:spPr>
          <a:xfrm>
            <a:off x="228600" y="228600"/>
            <a:ext cx="10439400" cy="5995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065" marR="5080" algn="ctr">
              <a:lnSpc>
                <a:spcPts val="3779"/>
              </a:lnSpc>
              <a:spcBef>
                <a:spcPts val="580"/>
              </a:spcBef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Construction of Predictive Parsing Tables</a:t>
            </a:r>
          </a:p>
        </p:txBody>
      </p:sp>
    </p:spTree>
    <p:extLst>
      <p:ext uri="{BB962C8B-B14F-4D97-AF65-F5344CB8AC3E}">
        <p14:creationId xmlns:p14="http://schemas.microsoft.com/office/powerpoint/2010/main" xmlns="" val="277717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object 2"/>
          <p:cNvSpPr txBox="1"/>
          <p:nvPr/>
        </p:nvSpPr>
        <p:spPr>
          <a:xfrm>
            <a:off x="6456806" y="1988425"/>
            <a:ext cx="3672840" cy="4603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lang="en-US" sz="28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20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1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6448" y="1154756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25056" y="3060941"/>
          <a:ext cx="393814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3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94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425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i="0" u="none" spc="-1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800" i="0" u="none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" dirty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= </a:t>
                      </a:r>
                      <a:r>
                        <a:rPr sz="2800" i="1" spc="-65" dirty="0">
                          <a:latin typeface="Calibri"/>
                          <a:cs typeface="Calibri"/>
                        </a:rPr>
                        <a:t>‘(‘, </a:t>
                      </a:r>
                      <a:r>
                        <a:rPr sz="2800" i="1" spc="-55" dirty="0">
                          <a:latin typeface="Calibri"/>
                          <a:cs typeface="Calibri"/>
                        </a:rPr>
                        <a:t>‘x’,</a:t>
                      </a:r>
                      <a:r>
                        <a:rPr sz="2800" i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‘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1" spc="35" dirty="0">
                          <a:latin typeface="Calibri"/>
                          <a:cs typeface="Calibri"/>
                        </a:rPr>
                        <a:t>y’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19542" y="4084098"/>
          <a:ext cx="8134981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06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66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8" name="object 4"/>
          <p:cNvSpPr txBox="1">
            <a:spLocks/>
          </p:cNvSpPr>
          <p:nvPr/>
        </p:nvSpPr>
        <p:spPr>
          <a:xfrm>
            <a:off x="228600" y="228600"/>
            <a:ext cx="10439400" cy="5995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065" marR="5080" algn="ctr">
              <a:lnSpc>
                <a:spcPts val="3779"/>
              </a:lnSpc>
              <a:spcBef>
                <a:spcPts val="580"/>
              </a:spcBef>
            </a:pPr>
            <a:r>
              <a:rPr lang="en-US" sz="4400" b="1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Construction of Predictive Parsing Tables</a:t>
            </a:r>
          </a:p>
        </p:txBody>
      </p:sp>
      <p:sp useBgFill="1">
        <p:nvSpPr>
          <p:cNvPr id="9" name="object 7"/>
          <p:cNvSpPr txBox="1"/>
          <p:nvPr/>
        </p:nvSpPr>
        <p:spPr>
          <a:xfrm>
            <a:off x="623778" y="1146015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882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60382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E'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+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1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18708" y="2251455"/>
          <a:ext cx="4020692" cy="491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5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64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07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917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 smtClean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‘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1" spc="-5" dirty="0">
                          <a:latin typeface="Calibri"/>
                          <a:cs typeface="Calibri"/>
                        </a:rPr>
                        <a:t>+’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897251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927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60382"/>
          </a:xfrm>
          <a:prstGeom prst="rect">
            <a:avLst/>
          </a:prstGeom>
          <a:solidFill>
            <a:srgbClr val="E9ECF4"/>
          </a:solidFill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2800" spc="-5" dirty="0" smtClean="0">
                <a:solidFill>
                  <a:prstClr val="black"/>
                </a:solidFill>
                <a:latin typeface="Cambria Math"/>
                <a:cs typeface="Cambria Math"/>
              </a:rPr>
              <a:t>𝜀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18708" y="2251455"/>
          <a:ext cx="3672839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35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follow(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 smtClean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b="0" i="0" spc="-6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>
                          <a:latin typeface="Calibri"/>
                          <a:cs typeface="Calibri"/>
                        </a:rPr>
                        <a:t>=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5" dirty="0">
                          <a:latin typeface="Calibri"/>
                          <a:cs typeface="Calibri"/>
                        </a:rPr>
                        <a:t>$,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5" dirty="0">
                          <a:latin typeface="Calibri"/>
                          <a:cs typeface="Calibri"/>
                        </a:rPr>
                        <a:t>‘)’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85800" y="658192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566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5057" y="1340738"/>
            <a:ext cx="3672840" cy="46038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latin typeface="Cambria Math"/>
                <a:cs typeface="Cambria Math"/>
              </a:rPr>
              <a:t>𝜀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18707" y="2251455"/>
          <a:ext cx="3672838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5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772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2800" i="0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 smtClean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i="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$,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spc="-5" dirty="0">
                          <a:latin typeface="Calibri"/>
                          <a:cs typeface="Calibri"/>
                        </a:rPr>
                        <a:t>‘)’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i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216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2719" y="1391619"/>
            <a:ext cx="3672840" cy="460382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1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98970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58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34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103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 smtClean="0">
                          <a:latin typeface="Calibri"/>
                          <a:cs typeface="Calibri"/>
                        </a:rPr>
                        <a:t>first</a:t>
                      </a:r>
                      <a:r>
                        <a:rPr lang="en-US" sz="2800" b="0" i="0" u="none" spc="-10" dirty="0" smtClean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 smtClean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b="0" i="0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b="0" i="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>
                          <a:latin typeface="Calibri"/>
                          <a:cs typeface="Calibri"/>
                        </a:rPr>
                        <a:t>‘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90" dirty="0">
                          <a:latin typeface="Calibri"/>
                          <a:cs typeface="Calibri"/>
                        </a:rPr>
                        <a:t>(‘,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55" dirty="0">
                          <a:latin typeface="Calibri"/>
                          <a:cs typeface="Calibri"/>
                        </a:rPr>
                        <a:t>‘x’,</a:t>
                      </a:r>
                      <a:r>
                        <a:rPr sz="2800" b="0" i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20" dirty="0">
                          <a:latin typeface="Calibri"/>
                          <a:cs typeface="Calibri"/>
                        </a:rPr>
                        <a:t>‘y’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478869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058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5057" y="1340738"/>
            <a:ext cx="3672840" cy="46038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1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414210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9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6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943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first(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sz="2800" b="0" i="0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>
                          <a:latin typeface="Calibri"/>
                          <a:cs typeface="Calibri"/>
                        </a:rPr>
                        <a:t>) = </a:t>
                      </a:r>
                      <a:r>
                        <a:rPr sz="2800" b="0" i="0" spc="-65" dirty="0">
                          <a:latin typeface="Calibri"/>
                          <a:cs typeface="Calibri"/>
                        </a:rPr>
                        <a:t>‘(‘,</a:t>
                      </a:r>
                      <a:r>
                        <a:rPr sz="2800" b="0" i="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spc="-5" dirty="0">
                          <a:latin typeface="Calibri"/>
                          <a:cs typeface="Calibri"/>
                        </a:rPr>
                        <a:t>‘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7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b="0" i="0" spc="-280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2800" b="0" i="0" dirty="0">
                          <a:latin typeface="Calibri"/>
                          <a:cs typeface="Calibri"/>
                        </a:rPr>
                        <a:t>,</a:t>
                      </a:r>
                      <a:endParaRPr sz="2800" b="0" i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20" dirty="0">
                          <a:latin typeface="Calibri"/>
                          <a:cs typeface="Calibri"/>
                        </a:rPr>
                        <a:t>‘y’</a:t>
                      </a:r>
                      <a:endParaRPr sz="2800" b="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403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5057" y="1340738"/>
            <a:ext cx="3672840" cy="46038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1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T'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E’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98970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2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11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127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i="0" u="none" spc="-1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800" i="0" u="none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" dirty="0">
                          <a:latin typeface="Calibri"/>
                          <a:cs typeface="Calibri"/>
                        </a:rPr>
                        <a:t>) = </a:t>
                      </a:r>
                      <a:r>
                        <a:rPr sz="2800" i="0" u="none" spc="-65" dirty="0">
                          <a:latin typeface="Calibri"/>
                          <a:cs typeface="Calibri"/>
                        </a:rPr>
                        <a:t>‘(‘,</a:t>
                      </a:r>
                      <a:r>
                        <a:rPr sz="2800" i="0" u="none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5" dirty="0">
                          <a:latin typeface="Calibri"/>
                          <a:cs typeface="Calibri"/>
                        </a:rPr>
                        <a:t>‘x’,</a:t>
                      </a:r>
                      <a:endParaRPr sz="2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u="none" spc="20" dirty="0">
                          <a:latin typeface="Calibri"/>
                          <a:cs typeface="Calibri"/>
                        </a:rPr>
                        <a:t>‘y’</a:t>
                      </a:r>
                      <a:endParaRPr sz="2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811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98855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3200" spc="-6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*FT’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i="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E’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681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98855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 </a:t>
            </a:r>
            <a:r>
              <a:rPr lang="en-US" sz="3200" spc="-6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i="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E’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672839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43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u="none" spc="-1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2800" i="0" u="none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i="0" u="none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" dirty="0">
                          <a:latin typeface="Calibri"/>
                          <a:cs typeface="Calibri"/>
                        </a:rPr>
                        <a:t>=</a:t>
                      </a:r>
                      <a:endParaRPr sz="2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u="none" spc="-100" dirty="0">
                          <a:latin typeface="Calibri"/>
                          <a:cs typeface="Calibri"/>
                        </a:rPr>
                        <a:t>‘+’</a:t>
                      </a:r>
                      <a:endParaRPr sz="2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u="none" spc="-5" dirty="0">
                          <a:latin typeface="Calibri"/>
                          <a:cs typeface="Calibri"/>
                        </a:rPr>
                        <a:t>, $,</a:t>
                      </a:r>
                      <a:r>
                        <a:rPr sz="2800" i="0" u="none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u="none" spc="-5" dirty="0">
                          <a:latin typeface="Calibri"/>
                          <a:cs typeface="Calibri"/>
                        </a:rPr>
                        <a:t>‘)’</a:t>
                      </a:r>
                      <a:endParaRPr sz="2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681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6680" y="1353800"/>
            <a:ext cx="3672840" cy="498855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3200" spc="-6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∊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67220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2800" i="0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 smtClean="0">
                          <a:latin typeface="Calibri"/>
                          <a:cs typeface="Calibri"/>
                        </a:rPr>
                        <a:t>)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i="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75" dirty="0">
                          <a:latin typeface="Calibri"/>
                          <a:cs typeface="Calibri"/>
                        </a:rPr>
                        <a:t>‘+’,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spc="-5" dirty="0">
                          <a:latin typeface="Calibri"/>
                          <a:cs typeface="Calibri"/>
                        </a:rPr>
                        <a:t>$,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spc="-5" dirty="0">
                          <a:latin typeface="Calibri"/>
                          <a:cs typeface="Calibri"/>
                        </a:rPr>
                        <a:t>‘)’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09600" y="56211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254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5057" y="1340738"/>
            <a:ext cx="3672840" cy="46038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>
              <a:spcBef>
                <a:spcPts val="50"/>
              </a:spcBef>
              <a:tabLst>
                <a:tab pos="1006475" algn="l"/>
                <a:tab pos="1920875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T‘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60" dirty="0" smtClean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</a:t>
            </a:r>
            <a:endParaRPr lang="en-US" sz="2800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2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672839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57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sz="2800" i="1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) = </a:t>
                      </a:r>
                      <a:r>
                        <a:rPr sz="2800" i="1" spc="-75" dirty="0">
                          <a:latin typeface="Calibri"/>
                          <a:cs typeface="Calibri"/>
                        </a:rPr>
                        <a:t>‘+’,</a:t>
                      </a:r>
                      <a:r>
                        <a:rPr sz="2800" i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$,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1" spc="-5" dirty="0">
                          <a:latin typeface="Calibri"/>
                          <a:cs typeface="Calibri"/>
                        </a:rPr>
                        <a:t>‘)’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978943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221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60382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sz="2800" spc="-5" dirty="0" smtClean="0">
                <a:solidFill>
                  <a:prstClr val="black"/>
                </a:solidFill>
                <a:latin typeface="Calibri"/>
                <a:cs typeface="Calibri"/>
              </a:rPr>
              <a:t>(</a:t>
            </a: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2800" spc="-5" dirty="0" smtClean="0">
                <a:solidFill>
                  <a:prstClr val="black"/>
                </a:solidFill>
                <a:latin typeface="Calibri"/>
                <a:cs typeface="Calibri"/>
              </a:rPr>
              <a:t>)</a:t>
            </a:r>
            <a:endParaRPr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)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67220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5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906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800" i="0" spc="-10" dirty="0" smtClean="0"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2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2800" i="0" u="none" spc="-5" dirty="0" smtClean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i="0" spc="-5" dirty="0" smtClean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i="0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=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spc="-5" dirty="0">
                          <a:latin typeface="Calibri"/>
                          <a:cs typeface="Calibri"/>
                        </a:rPr>
                        <a:t>‘(’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i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858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879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60382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x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  <a:endParaRPr sz="1800" i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b="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b="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b="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b="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b="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b="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b="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b="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b="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b="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b="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b="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b="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b="0" i="0" u="none" spc="-5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x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b="0" i="0" u="none" spc="-8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1800" b="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800" b="0" i="0" u="none" spc="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b="0" i="0" u="none" dirty="0" smtClean="0">
                          <a:latin typeface="Calibri"/>
                          <a:cs typeface="Calibri"/>
                        </a:rPr>
                        <a:t>)</a:t>
                      </a:r>
                      <a:endParaRPr lang="en-US" sz="1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65881452"/>
              </p:ext>
            </p:extLst>
          </p:nvPr>
        </p:nvGraphicFramePr>
        <p:xfrm>
          <a:off x="6449696" y="2251455"/>
          <a:ext cx="368490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7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672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u="none" spc="-10" dirty="0">
                          <a:latin typeface="Calibri"/>
                          <a:cs typeface="Calibri"/>
                        </a:rPr>
                        <a:t>first( </a:t>
                      </a:r>
                      <a:r>
                        <a:rPr lang="en-US" sz="2800" b="0" i="0" u="none" spc="-5" dirty="0" smtClean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b="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u="none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b="0" i="0" u="none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0" i="0" u="none" spc="-5" dirty="0">
                          <a:latin typeface="Calibri"/>
                          <a:cs typeface="Calibri"/>
                        </a:rPr>
                        <a:t>=</a:t>
                      </a:r>
                      <a:endParaRPr sz="2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u="none" spc="20" dirty="0" smtClean="0">
                          <a:latin typeface="Calibri"/>
                          <a:cs typeface="Calibri"/>
                        </a:rPr>
                        <a:t>‘</a:t>
                      </a:r>
                      <a:r>
                        <a:rPr lang="en-US" sz="2800" b="0" i="0" u="none" spc="20" dirty="0" smtClean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b="0" i="0" u="none" spc="20" dirty="0" smtClean="0">
                          <a:latin typeface="Calibri"/>
                          <a:cs typeface="Calibri"/>
                        </a:rPr>
                        <a:t>’</a:t>
                      </a:r>
                      <a:endParaRPr sz="2800" b="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b="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685800" y="523241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658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641" y="1340751"/>
            <a:ext cx="3672840" cy="460382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10489">
              <a:spcBef>
                <a:spcPts val="50"/>
              </a:spcBef>
              <a:tabLst>
                <a:tab pos="1024890" algn="l"/>
                <a:tab pos="1939289" algn="l"/>
              </a:tabLst>
            </a:pPr>
            <a:r>
              <a:rPr lang="en-US" sz="2800" spc="-5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→</a:t>
            </a:r>
            <a:r>
              <a:rPr lang="en-US" sz="2950" spc="-130" dirty="0" smtClean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lang="en-US" sz="2800" spc="-5" dirty="0" smtClean="0">
                <a:solidFill>
                  <a:prstClr val="black"/>
                </a:solidFill>
                <a:latin typeface="Calibri"/>
                <a:cs typeface="Calibri"/>
              </a:rPr>
              <a:t>y</a:t>
            </a:r>
            <a:endParaRPr lang="en-US" sz="2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877" y="702945"/>
            <a:ext cx="848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8690">
              <a:spcBef>
                <a:spcPts val="95"/>
              </a:spcBef>
            </a:pPr>
            <a:r>
              <a:rPr spc="-20" dirty="0"/>
              <a:t>Current</a:t>
            </a:r>
            <a:r>
              <a:rPr spc="-15" dirty="0"/>
              <a:t> production: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197" y="3638678"/>
          <a:ext cx="8139427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3111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+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*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(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0" dirty="0">
                          <a:latin typeface="Calibri"/>
                          <a:cs typeface="Calibri"/>
                        </a:rPr>
                        <a:t>$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2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0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900" i="0" u="none" spc="-30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+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E'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6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4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3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900" i="0" u="none" spc="-3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*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spc="-3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sz="1800" i="0" u="none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T'</a:t>
                      </a:r>
                      <a:r>
                        <a:rPr lang="en-US" sz="1800" i="0" u="none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45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mbria Math"/>
                          <a:cs typeface="Cambria Math"/>
                        </a:rPr>
                        <a:t>𝜀</a:t>
                      </a:r>
                      <a:endParaRPr lang="en-US" sz="1800" i="0" u="none" dirty="0">
                        <a:latin typeface="Cambria Math"/>
                        <a:cs typeface="Cambria Math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x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lang="en-US" sz="1900" i="0" u="none" spc="-50" dirty="0" smtClean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y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900" i="0" u="none" spc="-85" dirty="0" smtClean="0">
                          <a:latin typeface="Cambria Math"/>
                          <a:cs typeface="Cambria Math"/>
                        </a:rPr>
                        <a:t>→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1800" i="0" u="none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</a:t>
                      </a:r>
                      <a:r>
                        <a:rPr lang="en-US" sz="1800" i="0" u="none" spc="1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i="0" u="none" dirty="0" smtClean="0">
                          <a:latin typeface="Calibri"/>
                          <a:cs typeface="Calibri"/>
                        </a:rPr>
                        <a:t>)</a:t>
                      </a:r>
                      <a:endParaRPr lang="en-US" sz="1800" i="0" u="none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i="0" u="none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449696" y="2251455"/>
          <a:ext cx="367220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7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45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0" i="0" spc="-1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800" i="0" spc="-10" dirty="0">
                          <a:latin typeface="Calibri"/>
                          <a:cs typeface="Calibri"/>
                        </a:rPr>
                        <a:t>( </a:t>
                      </a:r>
                      <a:r>
                        <a:rPr lang="en-US" sz="2800" i="0" spc="-5" dirty="0" smtClean="0">
                          <a:latin typeface="Calibri"/>
                          <a:cs typeface="Calibri"/>
                        </a:rPr>
                        <a:t>y</a:t>
                      </a:r>
                      <a:r>
                        <a:rPr sz="2800" i="0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2800" i="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0" spc="-5" dirty="0">
                          <a:latin typeface="Calibri"/>
                          <a:cs typeface="Calibri"/>
                        </a:rPr>
                        <a:t>=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i="0" spc="20" dirty="0">
                          <a:latin typeface="Calibri"/>
                          <a:cs typeface="Calibri"/>
                        </a:rPr>
                        <a:t>‘y’</a:t>
                      </a:r>
                      <a:endParaRPr sz="2800" i="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53975">
                      <a:solidFill>
                        <a:srgbClr val="FFC000"/>
                      </a:solidFill>
                      <a:prstDash val="solid"/>
                    </a:lnR>
                    <a:lnT w="53975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 useBgFill="1">
        <p:nvSpPr>
          <p:cNvPr id="8" name="object 7"/>
          <p:cNvSpPr txBox="1"/>
          <p:nvPr/>
        </p:nvSpPr>
        <p:spPr>
          <a:xfrm>
            <a:off x="828374" y="528105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3225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83966" y="1800621"/>
            <a:ext cx="4109431" cy="2865143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spcBef>
                <a:spcPts val="1090"/>
              </a:spcBef>
            </a:pPr>
            <a:r>
              <a:rPr sz="2800" u="heavy">
                <a:uFill>
                  <a:solidFill>
                    <a:srgbClr val="FFFFFF"/>
                  </a:solidFill>
                </a:uFill>
                <a:latin typeface="Bell MT" panose="02020503060305020303" pitchFamily="18" charset="0"/>
                <a:cs typeface="Arial"/>
              </a:rPr>
              <a:t>GRAMMAR</a:t>
            </a:r>
            <a:r>
              <a:rPr sz="2800" u="heavy" smtClean="0">
                <a:uFill>
                  <a:solidFill>
                    <a:srgbClr val="FFFFFF"/>
                  </a:solidFill>
                </a:uFill>
                <a:latin typeface="Bell MT" panose="02020503060305020303" pitchFamily="18" charset="0"/>
                <a:cs typeface="Arial"/>
              </a:rPr>
              <a:t>:</a:t>
            </a:r>
            <a:endParaRPr lang="en-US" sz="2800" u="heavy" dirty="0" smtClean="0">
              <a:uFill>
                <a:solidFill>
                  <a:srgbClr val="FFFFFF"/>
                </a:solidFill>
              </a:uFill>
              <a:latin typeface="Bell MT" panose="02020503060305020303" pitchFamily="18" charset="0"/>
              <a:cs typeface="Arial"/>
            </a:endParaRPr>
          </a:p>
          <a:p>
            <a:pPr marL="12700">
              <a:spcBef>
                <a:spcPts val="1090"/>
              </a:spcBef>
            </a:pPr>
            <a:endParaRPr sz="2800" dirty="0">
              <a:latin typeface="Bell MT" panose="02020503060305020303" pitchFamily="18" charset="0"/>
              <a:cs typeface="Arial"/>
            </a:endParaRPr>
          </a:p>
          <a:p>
            <a:pPr marL="12700">
              <a:spcBef>
                <a:spcPts val="994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S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80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-10" dirty="0">
                <a:latin typeface="Bell MT" panose="02020503060305020303" pitchFamily="18" charset="0"/>
                <a:cs typeface="Arial"/>
              </a:rPr>
              <a:t>iEtSS’ </a:t>
            </a:r>
            <a:r>
              <a:rPr sz="2800" dirty="0">
                <a:latin typeface="Bell MT" panose="02020503060305020303" pitchFamily="18" charset="0"/>
                <a:cs typeface="Arial"/>
              </a:rPr>
              <a:t>|</a:t>
            </a:r>
            <a:r>
              <a:rPr sz="2800" spc="-95" dirty="0">
                <a:latin typeface="Bell MT" panose="02020503060305020303" pitchFamily="18" charset="0"/>
                <a:cs typeface="Arial"/>
              </a:rPr>
              <a:t> </a:t>
            </a:r>
            <a:r>
              <a:rPr sz="2800" dirty="0">
                <a:latin typeface="Bell MT" panose="02020503060305020303" pitchFamily="18" charset="0"/>
                <a:cs typeface="Arial"/>
              </a:rPr>
              <a:t>a</a:t>
            </a:r>
          </a:p>
          <a:p>
            <a:pPr marL="12700" marR="512445">
              <a:lnSpc>
                <a:spcPct val="134600"/>
              </a:lnSpc>
              <a:spcBef>
                <a:spcPts val="5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S’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 </a:t>
            </a:r>
            <a:r>
              <a:rPr sz="2800" spc="-5" dirty="0" err="1" smtClean="0">
                <a:latin typeface="Bell MT" panose="02020503060305020303" pitchFamily="18" charset="0"/>
                <a:cs typeface="Arial"/>
              </a:rPr>
              <a:t>eS</a:t>
            </a:r>
            <a:r>
              <a:rPr sz="2800" spc="-12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800" spc="-10" dirty="0" smtClean="0">
                <a:latin typeface="Bell MT" panose="02020503060305020303" pitchFamily="18" charset="0"/>
                <a:cs typeface="Arial"/>
              </a:rPr>
              <a:t>|ε  </a:t>
            </a:r>
            <a:endParaRPr lang="en-US" sz="2800" spc="-10" dirty="0" smtClean="0">
              <a:latin typeface="Bell MT" panose="02020503060305020303" pitchFamily="18" charset="0"/>
              <a:cs typeface="Arial"/>
            </a:endParaRPr>
          </a:p>
          <a:p>
            <a:pPr marL="12700" marR="512445">
              <a:lnSpc>
                <a:spcPct val="134600"/>
              </a:lnSpc>
              <a:spcBef>
                <a:spcPts val="5"/>
              </a:spcBef>
            </a:pPr>
            <a:r>
              <a:rPr sz="2800" dirty="0" smtClean="0">
                <a:latin typeface="Bell MT" panose="02020503060305020303" pitchFamily="18" charset="0"/>
                <a:cs typeface="Arial"/>
              </a:rPr>
              <a:t>E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800" spc="3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-5" dirty="0">
                <a:latin typeface="Bell MT" panose="02020503060305020303" pitchFamily="18" charset="0"/>
                <a:cs typeface="Arial"/>
              </a:rPr>
              <a:t>b</a:t>
            </a:r>
            <a:endParaRPr sz="2800" dirty="0">
              <a:latin typeface="Bell MT" panose="020205030603050203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56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785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1830" y="2666035"/>
            <a:ext cx="4109431" cy="2293192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spcBef>
                <a:spcPts val="1090"/>
              </a:spcBef>
            </a:pPr>
            <a:r>
              <a:rPr sz="2800" u="heavy" dirty="0">
                <a:uFill>
                  <a:solidFill>
                    <a:srgbClr val="FFFFFF"/>
                  </a:solidFill>
                </a:uFill>
                <a:latin typeface="Bell MT" panose="02020503060305020303" pitchFamily="18" charset="0"/>
                <a:cs typeface="Arial"/>
              </a:rPr>
              <a:t>GRAMMAR:</a:t>
            </a:r>
            <a:endParaRPr sz="2800" dirty="0">
              <a:latin typeface="Bell MT" panose="02020503060305020303" pitchFamily="18" charset="0"/>
              <a:cs typeface="Arial"/>
            </a:endParaRPr>
          </a:p>
          <a:p>
            <a:pPr marL="12700">
              <a:spcBef>
                <a:spcPts val="994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S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80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-10" dirty="0">
                <a:latin typeface="Bell MT" panose="02020503060305020303" pitchFamily="18" charset="0"/>
                <a:cs typeface="Arial"/>
              </a:rPr>
              <a:t>iEtSS’ </a:t>
            </a:r>
            <a:r>
              <a:rPr sz="2800" dirty="0">
                <a:latin typeface="Bell MT" panose="02020503060305020303" pitchFamily="18" charset="0"/>
                <a:cs typeface="Arial"/>
              </a:rPr>
              <a:t>|</a:t>
            </a:r>
            <a:r>
              <a:rPr sz="2800" spc="-95" dirty="0">
                <a:latin typeface="Bell MT" panose="02020503060305020303" pitchFamily="18" charset="0"/>
                <a:cs typeface="Arial"/>
              </a:rPr>
              <a:t> </a:t>
            </a:r>
            <a:r>
              <a:rPr sz="2800" dirty="0">
                <a:latin typeface="Bell MT" panose="02020503060305020303" pitchFamily="18" charset="0"/>
                <a:cs typeface="Arial"/>
              </a:rPr>
              <a:t>a</a:t>
            </a:r>
          </a:p>
          <a:p>
            <a:pPr marL="12700" marR="512445">
              <a:lnSpc>
                <a:spcPct val="134600"/>
              </a:lnSpc>
              <a:spcBef>
                <a:spcPts val="5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S’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 </a:t>
            </a:r>
            <a:r>
              <a:rPr sz="2800" spc="-5" dirty="0" err="1" smtClean="0">
                <a:latin typeface="Bell MT" panose="02020503060305020303" pitchFamily="18" charset="0"/>
                <a:cs typeface="Arial"/>
              </a:rPr>
              <a:t>eS</a:t>
            </a:r>
            <a:r>
              <a:rPr sz="2800" spc="-12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800" spc="-10" dirty="0" smtClean="0">
                <a:latin typeface="Bell MT" panose="02020503060305020303" pitchFamily="18" charset="0"/>
                <a:cs typeface="Arial"/>
              </a:rPr>
              <a:t>|ε  </a:t>
            </a:r>
            <a:endParaRPr lang="en-US" sz="2800" spc="-10" dirty="0" smtClean="0">
              <a:latin typeface="Bell MT" panose="02020503060305020303" pitchFamily="18" charset="0"/>
              <a:cs typeface="Arial"/>
            </a:endParaRPr>
          </a:p>
          <a:p>
            <a:pPr marL="12700" marR="512445">
              <a:lnSpc>
                <a:spcPct val="134600"/>
              </a:lnSpc>
              <a:spcBef>
                <a:spcPts val="5"/>
              </a:spcBef>
            </a:pPr>
            <a:r>
              <a:rPr sz="2800" dirty="0" smtClean="0">
                <a:latin typeface="Bell MT" panose="02020503060305020303" pitchFamily="18" charset="0"/>
                <a:cs typeface="Arial"/>
              </a:rPr>
              <a:t>E </a:t>
            </a:r>
            <a:r>
              <a:rPr lang="en-US" sz="28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800" spc="3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-5" dirty="0">
                <a:latin typeface="Bell MT" panose="02020503060305020303" pitchFamily="18" charset="0"/>
                <a:cs typeface="Arial"/>
              </a:rPr>
              <a:t>b</a:t>
            </a:r>
            <a:endParaRPr sz="2800" dirty="0">
              <a:latin typeface="Bell MT" panose="020205030603050203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96129" y="3058947"/>
            <a:ext cx="4306048" cy="1623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815" algn="ctr">
              <a:spcBef>
                <a:spcPts val="2365"/>
              </a:spcBef>
              <a:tabLst>
                <a:tab pos="1668145" algn="l"/>
                <a:tab pos="3355975" algn="l"/>
              </a:tabLst>
            </a:pPr>
            <a:r>
              <a:rPr lang="en-US" sz="1500" b="1" spc="-5" dirty="0" smtClean="0">
                <a:latin typeface="Bell MT" panose="02020503060305020303" pitchFamily="18" charset="0"/>
                <a:cs typeface="Arial"/>
              </a:rPr>
              <a:t>S</a:t>
            </a:r>
            <a:r>
              <a:rPr sz="1500" b="1" spc="-5" dirty="0" smtClean="0">
                <a:latin typeface="Bell MT" panose="02020503060305020303" pitchFamily="18" charset="0"/>
                <a:cs typeface="Arial"/>
              </a:rPr>
              <a:t>YM</a:t>
            </a:r>
            <a:r>
              <a:rPr sz="1500" b="1" spc="-10" dirty="0" smtClean="0">
                <a:latin typeface="Bell MT" panose="02020503060305020303" pitchFamily="18" charset="0"/>
                <a:cs typeface="Arial"/>
              </a:rPr>
              <a:t>B</a:t>
            </a:r>
            <a:r>
              <a:rPr sz="1500" b="1" dirty="0" smtClean="0">
                <a:latin typeface="Bell MT" panose="02020503060305020303" pitchFamily="18" charset="0"/>
                <a:cs typeface="Arial"/>
              </a:rPr>
              <a:t>OL</a:t>
            </a:r>
            <a:r>
              <a:rPr sz="1500" b="1" dirty="0">
                <a:solidFill>
                  <a:srgbClr val="FFFFFF"/>
                </a:solidFill>
                <a:latin typeface="Bell MT" panose="02020503060305020303" pitchFamily="18" charset="0"/>
                <a:cs typeface="Arial"/>
              </a:rPr>
              <a:t>	</a:t>
            </a:r>
            <a:r>
              <a:rPr sz="1500" b="1" spc="-5" dirty="0" smtClean="0">
                <a:latin typeface="Bell MT" panose="02020503060305020303" pitchFamily="18" charset="0"/>
                <a:cs typeface="Arial"/>
              </a:rPr>
              <a:t>F</a:t>
            </a:r>
            <a:r>
              <a:rPr sz="1500" b="1" dirty="0" smtClean="0">
                <a:latin typeface="Bell MT" panose="02020503060305020303" pitchFamily="18" charset="0"/>
                <a:cs typeface="Arial"/>
              </a:rPr>
              <a:t>IR</a:t>
            </a:r>
            <a:r>
              <a:rPr lang="en-US" sz="1500" b="1" dirty="0" smtClean="0">
                <a:latin typeface="Bell MT" panose="02020503060305020303" pitchFamily="18" charset="0"/>
                <a:cs typeface="Arial"/>
              </a:rPr>
              <a:t>ST</a:t>
            </a:r>
            <a:r>
              <a:rPr sz="1500" b="1" dirty="0">
                <a:latin typeface="Bell MT" panose="02020503060305020303" pitchFamily="18" charset="0"/>
                <a:cs typeface="Arial"/>
              </a:rPr>
              <a:t>	</a:t>
            </a:r>
            <a:r>
              <a:rPr sz="1500" b="1" spc="-5" dirty="0">
                <a:latin typeface="Bell MT" panose="02020503060305020303" pitchFamily="18" charset="0"/>
                <a:cs typeface="Arial"/>
              </a:rPr>
              <a:t>F</a:t>
            </a:r>
            <a:r>
              <a:rPr sz="1500" b="1" dirty="0">
                <a:latin typeface="Bell MT" panose="02020503060305020303" pitchFamily="18" charset="0"/>
                <a:cs typeface="Arial"/>
              </a:rPr>
              <a:t>O</a:t>
            </a:r>
            <a:r>
              <a:rPr sz="1500" b="1" spc="-5" dirty="0">
                <a:latin typeface="Bell MT" panose="02020503060305020303" pitchFamily="18" charset="0"/>
                <a:cs typeface="Arial"/>
              </a:rPr>
              <a:t>LL</a:t>
            </a:r>
            <a:r>
              <a:rPr sz="1500" b="1" dirty="0">
                <a:latin typeface="Bell MT" panose="02020503060305020303" pitchFamily="18" charset="0"/>
                <a:cs typeface="Arial"/>
              </a:rPr>
              <a:t>OW</a:t>
            </a:r>
            <a:endParaRPr sz="1500" dirty="0">
              <a:latin typeface="Bell MT" panose="02020503060305020303" pitchFamily="18" charset="0"/>
              <a:cs typeface="Arial"/>
            </a:endParaRPr>
          </a:p>
          <a:p>
            <a:pPr>
              <a:spcBef>
                <a:spcPts val="25"/>
              </a:spcBef>
            </a:pPr>
            <a:endParaRPr sz="2050" dirty="0">
              <a:solidFill>
                <a:prstClr val="black"/>
              </a:solidFill>
              <a:latin typeface="Bell MT" panose="02020503060305020303" pitchFamily="18" charset="0"/>
              <a:cs typeface="Arial"/>
            </a:endParaRPr>
          </a:p>
          <a:p>
            <a:pPr marL="355600">
              <a:spcBef>
                <a:spcPts val="5"/>
              </a:spcBef>
              <a:tabLst>
                <a:tab pos="1826895" algn="l"/>
                <a:tab pos="3594100" algn="l"/>
              </a:tabLst>
            </a:pP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S	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a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 ,</a:t>
            </a:r>
            <a:r>
              <a:rPr sz="1500" spc="-1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i	$ 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,</a:t>
            </a:r>
            <a:r>
              <a:rPr sz="1500" spc="-9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e</a:t>
            </a:r>
            <a:endParaRPr sz="1500" dirty="0">
              <a:solidFill>
                <a:prstClr val="black"/>
              </a:solidFill>
              <a:latin typeface="Bell MT" panose="02020503060305020303" pitchFamily="18" charset="0"/>
              <a:cs typeface="Arial"/>
            </a:endParaRPr>
          </a:p>
          <a:p>
            <a:pPr marL="334010">
              <a:spcBef>
                <a:spcPts val="1505"/>
              </a:spcBef>
              <a:tabLst>
                <a:tab pos="1779905" algn="l"/>
                <a:tab pos="3594100" algn="l"/>
              </a:tabLst>
            </a:pP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S’	e 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,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ε	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$ 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,</a:t>
            </a:r>
            <a:r>
              <a:rPr sz="1500" spc="-9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e</a:t>
            </a:r>
            <a:endParaRPr sz="1500" dirty="0">
              <a:solidFill>
                <a:prstClr val="black"/>
              </a:solidFill>
              <a:latin typeface="Bell MT" panose="02020503060305020303" pitchFamily="18" charset="0"/>
              <a:cs typeface="Arial"/>
            </a:endParaRPr>
          </a:p>
          <a:p>
            <a:pPr marR="86995" algn="ctr">
              <a:spcBef>
                <a:spcPts val="1405"/>
              </a:spcBef>
              <a:tabLst>
                <a:tab pos="1544320" algn="l"/>
                <a:tab pos="3397250" algn="l"/>
              </a:tabLst>
            </a:pP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E	</a:t>
            </a:r>
            <a:r>
              <a:rPr sz="1500" spc="-5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b	</a:t>
            </a:r>
            <a:r>
              <a:rPr sz="1500" dirty="0">
                <a:solidFill>
                  <a:prstClr val="black"/>
                </a:solidFill>
                <a:latin typeface="Bell MT" panose="02020503060305020303" pitchFamily="18" charset="0"/>
                <a:cs typeface="Arial"/>
              </a:rPr>
              <a:t>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56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11928" y="2689615"/>
            <a:ext cx="3522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88645" algn="ctr">
              <a:spcBef>
                <a:spcPts val="100"/>
              </a:spcBef>
            </a:pPr>
            <a:r>
              <a:rPr lang="en-US" spc="-35" dirty="0">
                <a:latin typeface="Bell MT" panose="02020503060305020303" pitchFamily="18" charset="0"/>
                <a:cs typeface="Arial"/>
              </a:rPr>
              <a:t>TABLE: </a:t>
            </a:r>
            <a:r>
              <a:rPr lang="en-US" spc="-5" dirty="0">
                <a:latin typeface="Bell MT" panose="02020503060305020303" pitchFamily="18" charset="0"/>
                <a:cs typeface="Arial"/>
              </a:rPr>
              <a:t>FIRST </a:t>
            </a:r>
            <a:r>
              <a:rPr lang="en-US" dirty="0">
                <a:latin typeface="Bell MT" panose="02020503060305020303" pitchFamily="18" charset="0"/>
                <a:cs typeface="Arial"/>
              </a:rPr>
              <a:t>&amp;</a:t>
            </a:r>
            <a:r>
              <a:rPr lang="en-US" spc="-90" dirty="0">
                <a:latin typeface="Bell MT" panose="02020503060305020303" pitchFamily="18" charset="0"/>
                <a:cs typeface="Arial"/>
              </a:rPr>
              <a:t> </a:t>
            </a:r>
            <a:r>
              <a:rPr lang="en-US" dirty="0">
                <a:latin typeface="Bell MT" panose="02020503060305020303" pitchFamily="18" charset="0"/>
                <a:cs typeface="Arial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xmlns="" val="154144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933" y="4786009"/>
            <a:ext cx="38513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pc="-35" dirty="0" smtClean="0">
                <a:latin typeface="Bell MT" panose="02020503060305020303" pitchFamily="18" charset="0"/>
                <a:cs typeface="Arial"/>
              </a:rPr>
              <a:t>TABLE:  PARSING TABLE</a:t>
            </a:r>
            <a:endParaRPr spc="-35" dirty="0">
              <a:latin typeface="Bell MT" panose="02020503060305020303" pitchFamily="18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2583" y="2571810"/>
            <a:ext cx="452986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93420" algn="ctr" rtl="0">
              <a:spcBef>
                <a:spcPts val="100"/>
              </a:spcBef>
            </a:pP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TABLE:  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F</a:t>
            </a:r>
            <a:r>
              <a:rPr lang="en-US"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IR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ST </a:t>
            </a: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57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5840" y="566419"/>
            <a:ext cx="5051425" cy="438416"/>
            <a:chOff x="493712" y="1193787"/>
            <a:chExt cx="5051425" cy="438416"/>
          </a:xfrm>
        </p:grpSpPr>
        <p:sp>
          <p:nvSpPr>
            <p:cNvPr id="6" name="object 6"/>
            <p:cNvSpPr/>
            <p:nvPr/>
          </p:nvSpPr>
          <p:spPr>
            <a:xfrm>
              <a:off x="493712" y="1193787"/>
              <a:ext cx="5051425" cy="370840"/>
            </a:xfrm>
            <a:custGeom>
              <a:avLst/>
              <a:gdLst/>
              <a:ahLst/>
              <a:cxnLst/>
              <a:rect l="l" t="t" r="r" b="b"/>
              <a:pathLst>
                <a:path w="5051425" h="370840">
                  <a:moveTo>
                    <a:pt x="1683766" y="0"/>
                  </a:moveTo>
                  <a:lnTo>
                    <a:pt x="0" y="0"/>
                  </a:lnTo>
                  <a:lnTo>
                    <a:pt x="0" y="370471"/>
                  </a:lnTo>
                  <a:lnTo>
                    <a:pt x="1683766" y="370471"/>
                  </a:lnTo>
                  <a:lnTo>
                    <a:pt x="1683766" y="0"/>
                  </a:lnTo>
                  <a:close/>
                </a:path>
                <a:path w="5051425" h="370840">
                  <a:moveTo>
                    <a:pt x="5051361" y="0"/>
                  </a:moveTo>
                  <a:lnTo>
                    <a:pt x="3367595" y="0"/>
                  </a:lnTo>
                  <a:lnTo>
                    <a:pt x="1683829" y="0"/>
                  </a:lnTo>
                  <a:lnTo>
                    <a:pt x="1683829" y="370471"/>
                  </a:lnTo>
                  <a:lnTo>
                    <a:pt x="3367595" y="370471"/>
                  </a:lnTo>
                  <a:lnTo>
                    <a:pt x="5051361" y="370471"/>
                  </a:lnTo>
                  <a:lnTo>
                    <a:pt x="5051361" y="0"/>
                  </a:lnTo>
                  <a:close/>
                </a:path>
              </a:pathLst>
            </a:custGeom>
            <a:solidFill>
              <a:srgbClr val="9B6BF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07720" y="1200912"/>
              <a:ext cx="1071372" cy="4312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851" y="1200912"/>
              <a:ext cx="804672" cy="4312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71188" y="1200912"/>
              <a:ext cx="1082039" cy="4312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>
            <p:extLst/>
          </p:nvPr>
        </p:nvGraphicFramePr>
        <p:xfrm>
          <a:off x="675933" y="573544"/>
          <a:ext cx="5052059" cy="2016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67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3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840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0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0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sz="20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r>
                        <a:rPr sz="20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0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0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0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0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0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0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0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0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0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0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0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0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0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0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0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35" name="object 35"/>
          <p:cNvGraphicFramePr>
            <a:graphicFrameLocks noGrp="1"/>
          </p:cNvGraphicFramePr>
          <p:nvPr>
            <p:extLst/>
          </p:nvPr>
        </p:nvGraphicFramePr>
        <p:xfrm>
          <a:off x="4817364" y="4136999"/>
          <a:ext cx="5831201" cy="2052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04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533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135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287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151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 useBgFill="1">
        <p:nvSpPr>
          <p:cNvPr id="13" name="object 7"/>
          <p:cNvSpPr txBox="1"/>
          <p:nvPr/>
        </p:nvSpPr>
        <p:spPr>
          <a:xfrm>
            <a:off x="6468657" y="490278"/>
            <a:ext cx="5167422" cy="2285882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602615" algn="ctr">
              <a:lnSpc>
                <a:spcPts val="2940"/>
              </a:lnSpc>
              <a:spcBef>
                <a:spcPts val="125"/>
              </a:spcBef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production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</a:t>
            </a:r>
            <a:r>
              <a:rPr sz="2500" spc="-9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</a:p>
          <a:p>
            <a:pPr marR="532765" algn="ctr">
              <a:lnSpc>
                <a:spcPts val="2880"/>
              </a:lnSpc>
              <a:tabLst>
                <a:tab pos="1623060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-2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 </a:t>
            </a:r>
            <a:r>
              <a:rPr sz="2500" spc="-5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309245" algn="ctr">
              <a:lnSpc>
                <a:spcPts val="2930"/>
              </a:lnSpc>
            </a:pP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r>
              <a:rPr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3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R="831850" algn="ctr">
              <a:lnSpc>
                <a:spcPts val="2820"/>
              </a:lnSpc>
            </a:pP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if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𝜀 ∊ 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first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</a:t>
            </a:r>
            <a:r>
              <a:rPr sz="2400" spc="-4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then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for </a:t>
            </a:r>
            <a:r>
              <a:rPr sz="2400" b="1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each</a:t>
            </a:r>
            <a:r>
              <a:rPr sz="2400" b="1" spc="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6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∊	</a:t>
            </a:r>
            <a:r>
              <a:rPr sz="2400" b="1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follow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(</a:t>
            </a:r>
            <a:r>
              <a:rPr sz="24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1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) 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add </a:t>
            </a:r>
            <a:endParaRPr lang="en-US" sz="2400" dirty="0" smtClean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  <a:p>
            <a:pPr marL="1318260" marR="180975" indent="-410845">
              <a:lnSpc>
                <a:spcPts val="2880"/>
              </a:lnSpc>
              <a:spcBef>
                <a:spcPts val="150"/>
              </a:spcBef>
              <a:tabLst>
                <a:tab pos="2533015" algn="l"/>
              </a:tabLst>
            </a:pPr>
            <a:r>
              <a:rPr lang="en-US" sz="24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       </a:t>
            </a:r>
            <a:r>
              <a:rPr sz="2400" dirty="0" smtClean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dirty="0" smtClean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500" spc="-85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→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mbria Math"/>
              </a:rPr>
              <a:t>𝛼 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T[</a:t>
            </a:r>
            <a:r>
              <a:rPr sz="2400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Bell MT" panose="02020503060305020303" pitchFamily="18" charset="0"/>
                <a:cs typeface="Calibri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,</a:t>
            </a:r>
            <a:r>
              <a:rPr sz="2400" spc="-1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a]</a:t>
            </a:r>
            <a:endParaRPr sz="2400" dirty="0">
              <a:solidFill>
                <a:prstClr val="black"/>
              </a:solidFill>
              <a:latin typeface="Bell MT" panose="02020503060305020303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466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331" y="4688204"/>
            <a:ext cx="2395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pc="-35" dirty="0">
                <a:latin typeface="Bell MT" panose="02020503060305020303" pitchFamily="18" charset="0"/>
                <a:cs typeface="Arial"/>
              </a:rPr>
              <a:t>TABLE:  PARSING 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1051" y="1600534"/>
            <a:ext cx="40343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 rtl="0">
              <a:spcBef>
                <a:spcPts val="100"/>
              </a:spcBef>
            </a:pP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TABLE:  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F</a:t>
            </a:r>
            <a:r>
              <a:rPr lang="en-US"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IR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ST </a:t>
            </a: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58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/>
          </p:nvPr>
        </p:nvGraphicFramePr>
        <p:xfrm>
          <a:off x="750571" y="845213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/>
                        <a:t>S </a:t>
                      </a:r>
                      <a:r>
                        <a:rPr lang="en-US" dirty="0" smtClean="0"/>
                        <a:t>→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iEtSS’ | a</a:t>
                      </a: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50" name="object 35"/>
          <p:cNvGraphicFramePr>
            <a:graphicFrameLocks noGrp="1"/>
          </p:cNvGraphicFramePr>
          <p:nvPr>
            <p:extLst/>
          </p:nvPr>
        </p:nvGraphicFramePr>
        <p:xfrm>
          <a:off x="4817364" y="4156455"/>
          <a:ext cx="5831201" cy="2164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04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533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135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287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151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80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331" y="4688204"/>
            <a:ext cx="2395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pc="-35" dirty="0">
                <a:latin typeface="Bell MT" panose="02020503060305020303" pitchFamily="18" charset="0"/>
                <a:cs typeface="Arial"/>
              </a:rPr>
              <a:t>TABLE:  PARSING 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73975" y="1806671"/>
            <a:ext cx="53546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 rtl="0">
              <a:spcBef>
                <a:spcPts val="100"/>
              </a:spcBef>
            </a:pP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TABLE:  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F</a:t>
            </a:r>
            <a:r>
              <a:rPr lang="en-US"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IR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ST </a:t>
            </a: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59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3" name="object 20"/>
          <p:cNvGraphicFramePr>
            <a:graphicFrameLocks noGrp="1"/>
          </p:cNvGraphicFramePr>
          <p:nvPr>
            <p:extLst/>
          </p:nvPr>
        </p:nvGraphicFramePr>
        <p:xfrm>
          <a:off x="750571" y="854941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iEtSS’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400" b="1" spc="-9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4" name="object 35"/>
          <p:cNvGraphicFramePr>
            <a:graphicFrameLocks noGrp="1"/>
          </p:cNvGraphicFramePr>
          <p:nvPr>
            <p:extLst/>
          </p:nvPr>
        </p:nvGraphicFramePr>
        <p:xfrm>
          <a:off x="4931924" y="3782806"/>
          <a:ext cx="6480738" cy="218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8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1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8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3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72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357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403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6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86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49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8550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331" y="4688204"/>
            <a:ext cx="2395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pc="-35" dirty="0">
                <a:latin typeface="Bell MT" panose="02020503060305020303" pitchFamily="18" charset="0"/>
                <a:cs typeface="Arial"/>
              </a:rPr>
              <a:t>TABLE:  PARSING 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43062" y="1588844"/>
            <a:ext cx="41312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 rtl="0">
              <a:spcBef>
                <a:spcPts val="100"/>
              </a:spcBef>
            </a:pP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TABLE:  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F</a:t>
            </a:r>
            <a:r>
              <a:rPr lang="en-US"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IR</a:t>
            </a:r>
            <a:r>
              <a:rPr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ST </a:t>
            </a:r>
            <a:r>
              <a:rPr sz="1800" kern="1200" spc="-35" dirty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6" name="object 20"/>
          <p:cNvGraphicFramePr>
            <a:graphicFrameLocks noGrp="1"/>
          </p:cNvGraphicFramePr>
          <p:nvPr>
            <p:extLst/>
          </p:nvPr>
        </p:nvGraphicFramePr>
        <p:xfrm>
          <a:off x="750571" y="845213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iEtSS’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400" b="1" spc="-9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7" name="object 35"/>
          <p:cNvGraphicFramePr>
            <a:graphicFrameLocks noGrp="1"/>
          </p:cNvGraphicFramePr>
          <p:nvPr>
            <p:extLst/>
          </p:nvPr>
        </p:nvGraphicFramePr>
        <p:xfrm>
          <a:off x="4931924" y="3782806"/>
          <a:ext cx="6480738" cy="218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8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1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8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3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72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357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403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6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86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lang="en-US" sz="1800" b="1" spc="-7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49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1192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331" y="4688204"/>
            <a:ext cx="2395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pc="-35" dirty="0">
                <a:latin typeface="Bell MT" panose="02020503060305020303" pitchFamily="18" charset="0"/>
                <a:cs typeface="Arial"/>
              </a:rPr>
              <a:t>TABLE:  PARSING TABLE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61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885944" y="5984747"/>
            <a:ext cx="385572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7" name="object 35"/>
          <p:cNvGraphicFramePr>
            <a:graphicFrameLocks noGrp="1"/>
          </p:cNvGraphicFramePr>
          <p:nvPr>
            <p:extLst/>
          </p:nvPr>
        </p:nvGraphicFramePr>
        <p:xfrm>
          <a:off x="4885944" y="3782291"/>
          <a:ext cx="6480738" cy="263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8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1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8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3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72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357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403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6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86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7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49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8" name="object 20"/>
          <p:cNvGraphicFramePr>
            <a:graphicFrameLocks noGrp="1"/>
          </p:cNvGraphicFramePr>
          <p:nvPr>
            <p:extLst/>
          </p:nvPr>
        </p:nvGraphicFramePr>
        <p:xfrm>
          <a:off x="750571" y="845213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iEtSS’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400" b="1" spc="-9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0" name="Title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1" name="object 3"/>
          <p:cNvSpPr txBox="1">
            <a:spLocks/>
          </p:cNvSpPr>
          <p:nvPr/>
        </p:nvSpPr>
        <p:spPr>
          <a:xfrm>
            <a:off x="5543062" y="1588844"/>
            <a:ext cx="41312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588645" marR="5080" indent="670560" algn="ctr" rtl="0">
              <a:spcBef>
                <a:spcPts val="100"/>
              </a:spcBef>
            </a:pPr>
            <a:r>
              <a:rPr lang="en-US" sz="1800" kern="1200" spc="-35" dirty="0" smtClean="0">
                <a:solidFill>
                  <a:schemeClr val="tx1"/>
                </a:solidFill>
                <a:latin typeface="Bell MT" panose="02020503060305020303" pitchFamily="18" charset="0"/>
                <a:ea typeface="+mn-ea"/>
              </a:rPr>
              <a:t>TABLE:  FIRST &amp; FOLLOW</a:t>
            </a:r>
            <a:endParaRPr lang="en-US" sz="1800" kern="1200" spc="-35" dirty="0">
              <a:solidFill>
                <a:schemeClr val="tx1"/>
              </a:solidFill>
              <a:latin typeface="Bell MT" panose="02020503060305020303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8227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object 2"/>
          <p:cNvSpPr txBox="1"/>
          <p:nvPr/>
        </p:nvSpPr>
        <p:spPr>
          <a:xfrm>
            <a:off x="982494" y="4688204"/>
            <a:ext cx="33260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z="2400" spc="-35" dirty="0">
                <a:latin typeface="Bell MT" panose="02020503060305020303" pitchFamily="18" charset="0"/>
                <a:ea typeface="+mj-ea"/>
                <a:cs typeface="Arial"/>
              </a:rPr>
              <a:t>TABLE:  PARSING 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02630" y="1777110"/>
            <a:ext cx="431812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 rtl="0">
              <a:spcBef>
                <a:spcPts val="100"/>
              </a:spcBef>
            </a:pPr>
            <a:r>
              <a:rPr lang="en-US" kern="1200" spc="-35" dirty="0">
                <a:solidFill>
                  <a:schemeClr val="tx1"/>
                </a:solidFill>
                <a:latin typeface="Bell MT" panose="02020503060305020303" pitchFamily="18" charset="0"/>
              </a:rPr>
              <a:t>TABLE:  FIRST 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72" name="object 20"/>
          <p:cNvGraphicFramePr>
            <a:graphicFrameLocks noGrp="1"/>
          </p:cNvGraphicFramePr>
          <p:nvPr>
            <p:extLst/>
          </p:nvPr>
        </p:nvGraphicFramePr>
        <p:xfrm>
          <a:off x="750571" y="845213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iEtSS’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400" b="1" spc="-9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3" name="object 35"/>
          <p:cNvGraphicFramePr>
            <a:graphicFrameLocks noGrp="1"/>
          </p:cNvGraphicFramePr>
          <p:nvPr>
            <p:extLst/>
          </p:nvPr>
        </p:nvGraphicFramePr>
        <p:xfrm>
          <a:off x="4885944" y="3782291"/>
          <a:ext cx="6480738" cy="279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8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1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8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3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72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357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403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6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86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7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49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5676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object 2"/>
          <p:cNvSpPr txBox="1"/>
          <p:nvPr/>
        </p:nvSpPr>
        <p:spPr>
          <a:xfrm>
            <a:off x="982494" y="4688204"/>
            <a:ext cx="33260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sz="2400" spc="-35" dirty="0">
                <a:latin typeface="Bell MT" panose="02020503060305020303" pitchFamily="18" charset="0"/>
                <a:ea typeface="+mj-ea"/>
                <a:cs typeface="Arial"/>
              </a:rPr>
              <a:t>TABLE:  PARSING 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02630" y="1777110"/>
            <a:ext cx="431812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670560" algn="ctr" rtl="0">
              <a:spcBef>
                <a:spcPts val="100"/>
              </a:spcBef>
            </a:pPr>
            <a:r>
              <a:rPr lang="en-US" kern="1200" spc="-35" dirty="0">
                <a:solidFill>
                  <a:schemeClr val="tx1"/>
                </a:solidFill>
                <a:latin typeface="Bell MT" panose="02020503060305020303" pitchFamily="18" charset="0"/>
              </a:rPr>
              <a:t>TABLE:  FIRST &amp; FOLLOW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764" y="566419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28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72" name="object 20"/>
          <p:cNvGraphicFramePr>
            <a:graphicFrameLocks noGrp="1"/>
          </p:cNvGraphicFramePr>
          <p:nvPr/>
        </p:nvGraphicFramePr>
        <p:xfrm>
          <a:off x="750571" y="845213"/>
          <a:ext cx="5052059" cy="20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0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16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SYMBOL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FIRST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FOLLOW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iEtSS’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</a:t>
                      </a:r>
                      <a:r>
                        <a:rPr sz="2400" b="1" spc="-9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r>
                        <a:rPr sz="2400" b="1" spc="-7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|ε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ε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$ 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,</a:t>
                      </a:r>
                      <a:r>
                        <a:rPr sz="2400" spc="-2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sz="2400" spc="-5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513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sz="24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sz="240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t</a:t>
                      </a: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3" name="object 35"/>
          <p:cNvGraphicFramePr>
            <a:graphicFrameLocks noGrp="1"/>
          </p:cNvGraphicFramePr>
          <p:nvPr/>
        </p:nvGraphicFramePr>
        <p:xfrm>
          <a:off x="4885944" y="3782291"/>
          <a:ext cx="6480738" cy="279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8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1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8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3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72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357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18403">
                <a:tc>
                  <a:txBody>
                    <a:bodyPr/>
                    <a:lstStyle/>
                    <a:p>
                      <a:pPr marL="110489" marR="104775" indent="205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Non  </a:t>
                      </a:r>
                      <a:r>
                        <a:rPr sz="15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ermi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SYMBOLS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62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b="1" spc="-9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a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spc="-5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iEtSS</a:t>
                      </a: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’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986"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S’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S’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eS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pc="-7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 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5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S’ 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lang="en-US" sz="1800" dirty="0" smtClean="0">
                          <a:solidFill>
                            <a:srgbClr val="79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l-GR" sz="1800" b="1" dirty="0" smtClean="0">
                          <a:solidFill>
                            <a:srgbClr val="790D0D"/>
                          </a:solidFill>
                          <a:latin typeface="Arial"/>
                          <a:cs typeface="Arial"/>
                        </a:rPr>
                        <a:t>ε</a:t>
                      </a:r>
                      <a:endParaRPr lang="el-GR" sz="18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49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E 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Microsoft Sans Serif" panose="020B0604020202020204" pitchFamily="34" charset="0"/>
                          <a:cs typeface="Arial"/>
                        </a:rPr>
                        <a:t>→</a:t>
                      </a:r>
                      <a:r>
                        <a:rPr lang="en-US" sz="1800" spc="15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Times New Roman"/>
                        </a:rPr>
                        <a:t>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cs typeface="Arial"/>
                        </a:rPr>
                        <a:t>b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Bell MT" panose="02020503060305020303" pitchFamily="18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object 77"/>
          <p:cNvSpPr/>
          <p:nvPr/>
        </p:nvSpPr>
        <p:spPr>
          <a:xfrm>
            <a:off x="4075176" y="5705246"/>
            <a:ext cx="4027964" cy="396240"/>
          </a:xfrm>
          <a:custGeom>
            <a:avLst/>
            <a:gdLst/>
            <a:ahLst/>
            <a:cxnLst/>
            <a:rect l="l" t="t" r="r" b="b"/>
            <a:pathLst>
              <a:path w="3077210" h="396239">
                <a:moveTo>
                  <a:pt x="36570" y="356615"/>
                </a:moveTo>
                <a:lnTo>
                  <a:pt x="11524" y="359451"/>
                </a:lnTo>
                <a:lnTo>
                  <a:pt x="93853" y="395770"/>
                </a:lnTo>
                <a:lnTo>
                  <a:pt x="97662" y="394322"/>
                </a:lnTo>
                <a:lnTo>
                  <a:pt x="100456" y="387896"/>
                </a:lnTo>
                <a:lnTo>
                  <a:pt x="98932" y="384149"/>
                </a:lnTo>
                <a:lnTo>
                  <a:pt x="36570" y="356615"/>
                </a:lnTo>
                <a:close/>
              </a:path>
              <a:path w="3077210" h="396239">
                <a:moveTo>
                  <a:pt x="6947" y="357433"/>
                </a:moveTo>
                <a:lnTo>
                  <a:pt x="9651" y="359664"/>
                </a:lnTo>
                <a:lnTo>
                  <a:pt x="11524" y="359451"/>
                </a:lnTo>
                <a:lnTo>
                  <a:pt x="6947" y="357433"/>
                </a:lnTo>
                <a:close/>
              </a:path>
              <a:path w="3077210" h="396239">
                <a:moveTo>
                  <a:pt x="35076" y="344003"/>
                </a:moveTo>
                <a:lnTo>
                  <a:pt x="10097" y="346831"/>
                </a:lnTo>
                <a:lnTo>
                  <a:pt x="5892" y="349970"/>
                </a:lnTo>
                <a:lnTo>
                  <a:pt x="5715" y="350189"/>
                </a:lnTo>
                <a:lnTo>
                  <a:pt x="6223" y="353669"/>
                </a:lnTo>
                <a:lnTo>
                  <a:pt x="6604" y="357149"/>
                </a:lnTo>
                <a:lnTo>
                  <a:pt x="6947" y="357433"/>
                </a:lnTo>
                <a:lnTo>
                  <a:pt x="11524" y="359451"/>
                </a:lnTo>
                <a:lnTo>
                  <a:pt x="24007" y="358038"/>
                </a:lnTo>
                <a:lnTo>
                  <a:pt x="16256" y="358038"/>
                </a:lnTo>
                <a:lnTo>
                  <a:pt x="15112" y="347141"/>
                </a:lnTo>
                <a:lnTo>
                  <a:pt x="30867" y="347141"/>
                </a:lnTo>
                <a:lnTo>
                  <a:pt x="35076" y="344003"/>
                </a:lnTo>
                <a:close/>
              </a:path>
              <a:path w="3077210" h="396239">
                <a:moveTo>
                  <a:pt x="15112" y="347141"/>
                </a:moveTo>
                <a:lnTo>
                  <a:pt x="16256" y="358038"/>
                </a:lnTo>
                <a:lnTo>
                  <a:pt x="25008" y="351510"/>
                </a:lnTo>
                <a:lnTo>
                  <a:pt x="15112" y="347141"/>
                </a:lnTo>
                <a:close/>
              </a:path>
              <a:path w="3077210" h="396239">
                <a:moveTo>
                  <a:pt x="25008" y="351510"/>
                </a:moveTo>
                <a:lnTo>
                  <a:pt x="16256" y="358038"/>
                </a:lnTo>
                <a:lnTo>
                  <a:pt x="24007" y="358038"/>
                </a:lnTo>
                <a:lnTo>
                  <a:pt x="36570" y="356615"/>
                </a:lnTo>
                <a:lnTo>
                  <a:pt x="25008" y="351510"/>
                </a:lnTo>
                <a:close/>
              </a:path>
              <a:path w="3077210" h="396239">
                <a:moveTo>
                  <a:pt x="5892" y="349970"/>
                </a:moveTo>
                <a:lnTo>
                  <a:pt x="0" y="354368"/>
                </a:lnTo>
                <a:lnTo>
                  <a:pt x="6947" y="357433"/>
                </a:lnTo>
                <a:lnTo>
                  <a:pt x="6604" y="357149"/>
                </a:lnTo>
                <a:lnTo>
                  <a:pt x="6223" y="353669"/>
                </a:lnTo>
                <a:lnTo>
                  <a:pt x="5715" y="350189"/>
                </a:lnTo>
                <a:lnTo>
                  <a:pt x="5892" y="349970"/>
                </a:lnTo>
                <a:close/>
              </a:path>
              <a:path w="3077210" h="396239">
                <a:moveTo>
                  <a:pt x="3073019" y="0"/>
                </a:moveTo>
                <a:lnTo>
                  <a:pt x="35076" y="344003"/>
                </a:lnTo>
                <a:lnTo>
                  <a:pt x="25008" y="351510"/>
                </a:lnTo>
                <a:lnTo>
                  <a:pt x="36570" y="356615"/>
                </a:lnTo>
                <a:lnTo>
                  <a:pt x="3074416" y="12623"/>
                </a:lnTo>
                <a:lnTo>
                  <a:pt x="3076956" y="9474"/>
                </a:lnTo>
                <a:lnTo>
                  <a:pt x="3076194" y="2501"/>
                </a:lnTo>
                <a:lnTo>
                  <a:pt x="3073019" y="0"/>
                </a:lnTo>
                <a:close/>
              </a:path>
              <a:path w="3077210" h="396239">
                <a:moveTo>
                  <a:pt x="30867" y="347141"/>
                </a:moveTo>
                <a:lnTo>
                  <a:pt x="15112" y="347141"/>
                </a:lnTo>
                <a:lnTo>
                  <a:pt x="25008" y="351510"/>
                </a:lnTo>
                <a:lnTo>
                  <a:pt x="30867" y="347141"/>
                </a:lnTo>
                <a:close/>
              </a:path>
              <a:path w="3077210" h="396239">
                <a:moveTo>
                  <a:pt x="10097" y="346831"/>
                </a:moveTo>
                <a:lnTo>
                  <a:pt x="8255" y="347040"/>
                </a:lnTo>
                <a:lnTo>
                  <a:pt x="5892" y="349970"/>
                </a:lnTo>
                <a:lnTo>
                  <a:pt x="10097" y="346831"/>
                </a:lnTo>
                <a:close/>
              </a:path>
              <a:path w="3077210" h="396239">
                <a:moveTo>
                  <a:pt x="82168" y="293027"/>
                </a:moveTo>
                <a:lnTo>
                  <a:pt x="10097" y="346831"/>
                </a:lnTo>
                <a:lnTo>
                  <a:pt x="35076" y="344003"/>
                </a:lnTo>
                <a:lnTo>
                  <a:pt x="89788" y="303199"/>
                </a:lnTo>
                <a:lnTo>
                  <a:pt x="90424" y="299224"/>
                </a:lnTo>
                <a:lnTo>
                  <a:pt x="88265" y="296418"/>
                </a:lnTo>
                <a:lnTo>
                  <a:pt x="86232" y="293598"/>
                </a:lnTo>
                <a:lnTo>
                  <a:pt x="82168" y="293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41643" y="5903366"/>
            <a:ext cx="1633534" cy="67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5173" y="6009283"/>
            <a:ext cx="3332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8645" marR="5080" indent="670560" algn="ctr">
              <a:spcBef>
                <a:spcPts val="100"/>
              </a:spcBef>
            </a:pPr>
            <a:r>
              <a:rPr lang="en-US" sz="2400" spc="-35" dirty="0">
                <a:latin typeface="Bell MT" panose="02020503060305020303" pitchFamily="18" charset="0"/>
                <a:ea typeface="+mj-ea"/>
                <a:cs typeface="Arial"/>
              </a:rPr>
              <a:t>Ambiguity</a:t>
            </a:r>
          </a:p>
        </p:txBody>
      </p:sp>
    </p:spTree>
    <p:extLst>
      <p:ext uri="{BB962C8B-B14F-4D97-AF65-F5344CB8AC3E}">
        <p14:creationId xmlns:p14="http://schemas.microsoft.com/office/powerpoint/2010/main" xmlns="" val="150580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147" y="64509"/>
            <a:ext cx="762822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 rtl="0">
              <a:spcBef>
                <a:spcPts val="100"/>
              </a:spcBef>
            </a:pPr>
            <a:r>
              <a:rPr sz="4400" kern="1200" spc="-5" dirty="0">
                <a:solidFill>
                  <a:srgbClr val="FF0000"/>
                </a:solidFill>
                <a:latin typeface="Bell MT" panose="02020503060305020303" pitchFamily="18" charset="0"/>
                <a:cs typeface="+mj-cs"/>
              </a:rPr>
              <a:t>A Grammar which is not LL(1)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1" y="835659"/>
            <a:ext cx="2409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95475" algn="l"/>
                <a:tab pos="2261235" algn="l"/>
              </a:tabLst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 i C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E	|	a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7801" y="796289"/>
            <a:ext cx="2817495" cy="1240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spcBef>
                <a:spcPts val="409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FOLLOW(S)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{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$,e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310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FOLLOW(E)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{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$,e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310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FOLLOW(C)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{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1201421"/>
            <a:ext cx="2490470" cy="40500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spcBef>
                <a:spcPts val="409"/>
              </a:spcBef>
              <a:tabLst>
                <a:tab pos="1336675" algn="l"/>
                <a:tab pos="1626235" algn="l"/>
              </a:tabLst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 e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S	|	</a:t>
            </a:r>
            <a:r>
              <a:rPr sz="2400" dirty="0">
                <a:solidFill>
                  <a:prstClr val="black"/>
                </a:solidFill>
                <a:latin typeface="Symbol"/>
                <a:cs typeface="Symbol"/>
              </a:rPr>
              <a:t></a:t>
            </a:r>
            <a:endParaRPr sz="2400">
              <a:solidFill>
                <a:prstClr val="black"/>
              </a:solidFill>
              <a:latin typeface="Symbol"/>
              <a:cs typeface="Symbol"/>
            </a:endParaRPr>
          </a:p>
          <a:p>
            <a:pPr marL="12700" marR="5080">
              <a:lnSpc>
                <a:spcPts val="3190"/>
              </a:lnSpc>
              <a:spcBef>
                <a:spcPts val="155"/>
              </a:spcBef>
            </a:pP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C </a:t>
            </a:r>
            <a:r>
              <a:rPr sz="2400" dirty="0">
                <a:solidFill>
                  <a:prstClr val="black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 b 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FIRST(iCtSE)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{i} </a:t>
            </a:r>
            <a:r>
              <a:rPr sz="2400" spc="-5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FIRST(a)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{a}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55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FIRST(eS)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{e}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309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</a:t>
            </a:r>
            <a:r>
              <a:rPr sz="2400" spc="-5" dirty="0">
                <a:solidFill>
                  <a:prstClr val="black"/>
                </a:solidFill>
                <a:latin typeface="Symbol"/>
                <a:cs typeface="Symbol"/>
              </a:rPr>
              <a:t>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prstClr val="black"/>
                </a:solidFill>
                <a:latin typeface="Symbol"/>
                <a:cs typeface="Symbol"/>
              </a:rPr>
              <a:t>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309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FIRST(b)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{b}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300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FIRST(S)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{i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 ,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a}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209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FIRST(E)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{e</a:t>
            </a:r>
            <a:r>
              <a:rPr sz="24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Symbol"/>
                <a:cs typeface="Symbol"/>
              </a:rPr>
              <a:t>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209"/>
              </a:spcBef>
            </a:pP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FIRST(C)</a:t>
            </a:r>
            <a:r>
              <a:rPr sz="2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imes New Roman"/>
                <a:cs typeface="Times New Roman"/>
              </a:rPr>
              <a:t>{b}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200" y="4911090"/>
            <a:ext cx="329120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two</a:t>
            </a: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 production</a:t>
            </a:r>
            <a:r>
              <a:rPr sz="20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rules</a:t>
            </a:r>
            <a:r>
              <a:rPr sz="20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for</a:t>
            </a:r>
            <a:r>
              <a:rPr sz="20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M[E,e]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0200" y="5934709"/>
            <a:ext cx="23850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003935" algn="l"/>
              </a:tabLst>
            </a:pP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Problem	</a:t>
            </a:r>
            <a:r>
              <a:rPr sz="2000" dirty="0">
                <a:solidFill>
                  <a:prstClr val="black"/>
                </a:solidFill>
                <a:latin typeface="Wingdings"/>
                <a:cs typeface="Wingdings"/>
              </a:rPr>
              <a:t>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ambiguity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10204" y="2424203"/>
          <a:ext cx="5943597" cy="2209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02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470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$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243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iCtSE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8993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191135">
                        <a:lnSpc>
                          <a:spcPts val="2900"/>
                        </a:lnSpc>
                        <a:spcBef>
                          <a:spcPts val="50"/>
                        </a:spcBef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3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2000" spc="-3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000" spc="-48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2000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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042150" y="4114800"/>
            <a:ext cx="74930" cy="78740"/>
          </a:xfrm>
          <a:custGeom>
            <a:avLst/>
            <a:gdLst/>
            <a:ahLst/>
            <a:cxnLst/>
            <a:rect l="l" t="t" r="r" b="b"/>
            <a:pathLst>
              <a:path w="74929" h="78739">
                <a:moveTo>
                  <a:pt x="44450" y="0"/>
                </a:moveTo>
                <a:lnTo>
                  <a:pt x="0" y="72389"/>
                </a:lnTo>
                <a:lnTo>
                  <a:pt x="74929" y="78739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05320" y="4174490"/>
            <a:ext cx="80010" cy="778510"/>
          </a:xfrm>
          <a:custGeom>
            <a:avLst/>
            <a:gdLst/>
            <a:ahLst/>
            <a:cxnLst/>
            <a:rect l="l" t="t" r="r" b="b"/>
            <a:pathLst>
              <a:path w="80010" h="778510">
                <a:moveTo>
                  <a:pt x="71119" y="0"/>
                </a:moveTo>
                <a:lnTo>
                  <a:pt x="0" y="778510"/>
                </a:lnTo>
                <a:lnTo>
                  <a:pt x="10159" y="778510"/>
                </a:lnTo>
                <a:lnTo>
                  <a:pt x="80009" y="1270"/>
                </a:lnTo>
                <a:lnTo>
                  <a:pt x="711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3855896" y="6522355"/>
            <a:ext cx="285262" cy="124393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9535">
              <a:spcBef>
                <a:spcPts val="10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89535">
                <a:spcBef>
                  <a:spcPts val="10"/>
                </a:spcBef>
              </a:pPr>
              <a:t>68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103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352" y="85990"/>
            <a:ext cx="946277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+mj-cs"/>
              </a:rPr>
              <a:t>Properties of LL(1) Grammars 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3367" y="1453918"/>
            <a:ext cx="10026650" cy="4670766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spcBef>
                <a:spcPts val="8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No left-recursive grammar is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LL(1)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spcBef>
                <a:spcPts val="7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No ambiguous grammar is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LL(1)</a:t>
            </a:r>
          </a:p>
          <a:p>
            <a:pPr marL="469900" marR="0" lvl="0" indent="-457200" algn="l" defTabSz="914400" rtl="0" eaLnBrk="1" fontAlgn="auto" latinLnBrk="0" hangingPunct="1">
              <a:spcBef>
                <a:spcPts val="7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Some languages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have no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LL(1)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grammar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 panose="02020503060305020303" pitchFamily="18" charset="0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spcBef>
                <a:spcPts val="7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ε–free grammar where each alternative expansion for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begins with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distinct terminal is</a:t>
            </a:r>
            <a:r>
              <a:rPr kumimoji="0" sz="2400" b="0" i="0" u="none" strike="noStrike" kern="1200" cap="none" spc="1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a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</a:t>
            </a:r>
            <a:r>
              <a:rPr kumimoji="0" sz="2400" b="0" i="1" u="none" strike="noStrike" kern="1200" cap="none" spc="-5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simple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LL(1)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ll MT" panose="02020503060305020303" pitchFamily="18" charset="0"/>
                <a:cs typeface="Calibri"/>
              </a:rPr>
              <a:t>grammar.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ell MT" panose="02020503060305020303" pitchFamily="18" charset="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88365" marR="0" lvl="0" indent="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</a:p>
          <a:p>
            <a:pPr marL="888365" marR="5319395" lvl="0" indent="-457200" algn="l" defTabSz="914400" rtl="0" eaLnBrk="1" fontAlgn="auto" latinLnBrk="0" hangingPunct="1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not LL(1) because FIRST(aS)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FIRST(a)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 { a }  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aS´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88365" marR="0" lvl="0" indent="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S´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ε</a:t>
            </a:r>
          </a:p>
          <a:p>
            <a:pPr marL="431800" marR="0" lvl="0" indent="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accepts the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 and is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LL(1)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16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19" y="345440"/>
            <a:ext cx="11868726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2807970" algn="l"/>
              </a:tabLst>
            </a:pPr>
            <a:r>
              <a:rPr lang="en-US" b="1" kern="1200" spc="-5" dirty="0" smtClean="0">
                <a:solidFill>
                  <a:srgbClr val="FF0000"/>
                </a:solidFill>
                <a:latin typeface="Bell MT" panose="02020503060305020303" pitchFamily="18" charset="0"/>
                <a:cs typeface="+mj-cs"/>
              </a:rPr>
              <a:t>Example of Predictive Parsing  LL(1) Table</a:t>
            </a:r>
            <a:endParaRPr lang="en-US" b="1" kern="1200" spc="-5" dirty="0">
              <a:solidFill>
                <a:srgbClr val="FF0000"/>
              </a:solidFill>
              <a:latin typeface="Bell MT" panose="02020503060305020303" pitchFamily="18" charset="0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68856"/>
            <a:ext cx="4622165" cy="26371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5" dirty="0">
                <a:solidFill>
                  <a:prstClr val="black"/>
                </a:solidFill>
                <a:latin typeface="Bell MT" panose="02020503060305020303" pitchFamily="18" charset="0"/>
                <a:cs typeface="Calibri"/>
              </a:rPr>
              <a:t>The given grammar is as follows</a:t>
            </a: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  <a:tab pos="926465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  <a:tab pos="926465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TE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´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E´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—E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ε</a:t>
            </a: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T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FT´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T´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*</a:t>
            </a:r>
            <a:r>
              <a:rPr kumimoji="0" sz="2000" b="0" i="0" u="none" strike="noStrike" kern="1200" cap="none" spc="-75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/</a:t>
            </a:r>
            <a:r>
              <a:rPr kumimoji="0" sz="2000" b="0" i="0" u="none" strike="noStrike" kern="1200" cap="none" spc="-74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T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ε</a:t>
            </a:r>
          </a:p>
          <a:p>
            <a:pPr marL="102235" marR="0" lvl="0" indent="-9017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Pct val="95000"/>
              <a:buFont typeface="Arial"/>
              <a:buChar char="•"/>
              <a:tabLst>
                <a:tab pos="10287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num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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id</a:t>
            </a:r>
          </a:p>
        </p:txBody>
      </p:sp>
      <p:sp>
        <p:nvSpPr>
          <p:cNvPr id="4" name="object 4"/>
          <p:cNvSpPr/>
          <p:nvPr/>
        </p:nvSpPr>
        <p:spPr>
          <a:xfrm>
            <a:off x="3125234" y="2426970"/>
            <a:ext cx="8708218" cy="3315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731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13855896" y="6522355"/>
            <a:ext cx="285262" cy="124393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9535" marR="0" lvl="0" indent="0" algn="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89535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02" y="152078"/>
            <a:ext cx="754671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  <a:tabLst>
                <a:tab pos="2807970" algn="l"/>
              </a:tabLst>
            </a:pPr>
            <a:r>
              <a:rPr sz="4400" b="0" kern="12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LL(1) Parser – Parser Actions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1941" y="1276844"/>
            <a:ext cx="9097010" cy="470256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825500" marR="42545" lvl="0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symbol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at the top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stack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(say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X)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current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symbol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input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string </a:t>
            </a:r>
            <a:r>
              <a:rPr kumimoji="0" sz="2000" b="0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(say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a)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determine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parser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action.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25500" marR="42545" lvl="0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There</a:t>
            </a:r>
            <a:r>
              <a:rPr kumimoji="0" sz="2000" b="0" i="0" u="none" strike="noStrike" kern="1200" cap="none" spc="-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FOUR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possible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ACTIONS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82700" marR="42545" lvl="1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= $	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halts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announces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successful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completion</a:t>
            </a:r>
            <a:r>
              <a:rPr kumimoji="0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parsing </a:t>
            </a:r>
            <a:r>
              <a:rPr kumimoji="0" sz="2000" b="0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endParaRPr kumimoji="0" lang="en-US" sz="2000" b="0" i="0" u="none" strike="noStrike" kern="1200" cap="none" spc="-484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82700" marR="42545" lvl="1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	X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 a #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$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pops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stack,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advances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input pointer </a:t>
            </a:r>
            <a:r>
              <a:rPr kumimoji="0" sz="20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0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next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input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symbol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82700" marR="42545" lvl="1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sz="2000" b="0" i="0" u="none" strike="noStrike" kern="1200" cap="none" spc="-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non-terminal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</a:t>
            </a:r>
            <a:r>
              <a:rPr kumimoji="0" sz="2000" b="0" i="0" u="none" strike="noStrike" kern="1200" cap="none" spc="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looks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at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parsing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table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entry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M[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X,a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].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M[X,a] holds a production rule </a:t>
            </a:r>
            <a:r>
              <a:rPr kumimoji="0" sz="2000" b="0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...Y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pops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stack</a:t>
            </a:r>
            <a:r>
              <a:rPr kumimoji="0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pushes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k-1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,...,Y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sz="1725" b="0" i="0" u="none" strike="noStrike" kern="1200" cap="none" spc="0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into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stack.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also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outputs the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production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rule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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...Y</a:t>
            </a:r>
            <a:r>
              <a:rPr kumimoji="0" sz="1725" b="0" i="0" u="none" strike="noStrike" kern="1200" cap="none" spc="7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sz="1725" b="0" i="0" u="none" strike="noStrike" kern="1200" cap="none" spc="330" normalizeH="0" baseline="-2415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represent a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step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derivation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82700" marR="42545" lvl="1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739900" marR="42545" lvl="2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all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empty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entries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in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parsing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table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errors.</a:t>
            </a:r>
          </a:p>
          <a:p>
            <a:pPr marL="1739900" marR="42545" lvl="2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lang="en-US" sz="2000" b="0" i="0" u="none" strike="noStrike" kern="1200" cap="none" spc="1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terminal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symbol different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a,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also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error case</a:t>
            </a:r>
          </a:p>
          <a:p>
            <a:pPr marL="1282700" marR="42545" lvl="1" indent="-342900" algn="just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874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76656"/>
            <a:ext cx="42386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6" marR="5080" indent="-342900" algn="just" rtl="0">
              <a:spcBef>
                <a:spcPts val="1100"/>
              </a:spcBef>
              <a:buClr>
                <a:srgbClr val="EE52A4"/>
              </a:buClr>
              <a:buSzPct val="80555"/>
              <a:buFont typeface="Arial" panose="020B0604020202020204" pitchFamily="34" charset="0"/>
              <a:buChar char="•"/>
              <a:tabLst>
                <a:tab pos="425450" algn="l"/>
                <a:tab pos="426084" algn="l"/>
              </a:tabLst>
            </a:pPr>
            <a:r>
              <a:rPr sz="2800" b="1" kern="1200" spc="-5" dirty="0">
                <a:solidFill>
                  <a:srgbClr val="FF0000"/>
                </a:solidFill>
                <a:latin typeface="Bell MT" panose="02020503060305020303" pitchFamily="18" charset="0"/>
                <a:ea typeface="+mn-ea"/>
              </a:rPr>
              <a:t>STACK 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5248" y="1475527"/>
            <a:ext cx="8991140" cy="4178708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4966" marR="5080" indent="-342900" algn="just">
              <a:spcBef>
                <a:spcPts val="1100"/>
              </a:spcBef>
              <a:buClr>
                <a:srgbClr val="EE52A4"/>
              </a:buClr>
              <a:buSzPct val="80555"/>
              <a:buFont typeface="Arial" panose="020B0604020202020204" pitchFamily="34" charset="0"/>
              <a:buChar char="•"/>
              <a:tabLst>
                <a:tab pos="425450" algn="l"/>
                <a:tab pos="426084" algn="l"/>
              </a:tabLst>
            </a:pPr>
            <a:r>
              <a:rPr sz="2800" spc="-5" dirty="0">
                <a:latin typeface="Bell MT" panose="02020503060305020303" pitchFamily="18" charset="0"/>
                <a:cs typeface="Arial"/>
              </a:rPr>
              <a:t>The predictive parser uses an explicit stack to keep track of pending  non-terminals. It can thus be implemented without </a:t>
            </a:r>
            <a:r>
              <a:rPr sz="2800" spc="-5" dirty="0" smtClean="0">
                <a:latin typeface="Bell MT" panose="02020503060305020303" pitchFamily="18" charset="0"/>
                <a:cs typeface="Arial"/>
              </a:rPr>
              <a:t>recursion.</a:t>
            </a:r>
            <a:endParaRPr lang="en-US" sz="2800" spc="-5" dirty="0" smtClean="0">
              <a:latin typeface="Bell MT" panose="02020503060305020303" pitchFamily="18" charset="0"/>
              <a:cs typeface="Arial"/>
            </a:endParaRPr>
          </a:p>
          <a:p>
            <a:pPr marL="469265" marR="23495" indent="-457200" algn="just">
              <a:spcBef>
                <a:spcPts val="325"/>
              </a:spcBef>
              <a:buClr>
                <a:srgbClr val="EE52A4"/>
              </a:buClr>
              <a:buSzPct val="80000"/>
              <a:buFont typeface="Arial" panose="020B0604020202020204" pitchFamily="34" charset="0"/>
              <a:buChar char="•"/>
              <a:tabLst>
                <a:tab pos="321945" algn="l"/>
                <a:tab pos="322580" algn="l"/>
              </a:tabLst>
            </a:pPr>
            <a:r>
              <a:rPr lang="en-US" sz="2800" spc="-5" dirty="0" smtClean="0">
                <a:latin typeface="Bell MT" panose="02020503060305020303" pitchFamily="18" charset="0"/>
                <a:cs typeface="Arial"/>
              </a:rPr>
              <a:t>The </a:t>
            </a:r>
            <a:r>
              <a:rPr lang="en-US" sz="2800" spc="-5" dirty="0">
                <a:latin typeface="Bell MT" panose="02020503060305020303" pitchFamily="18" charset="0"/>
                <a:cs typeface="Arial"/>
              </a:rPr>
              <a:t>input buffer contains the string to be parsed; </a:t>
            </a:r>
            <a:r>
              <a:rPr lang="en-US" sz="28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$ is the end- </a:t>
            </a:r>
            <a:r>
              <a:rPr lang="en-US" sz="2800" spc="-5" dirty="0" smtClean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of-input </a:t>
            </a:r>
            <a:r>
              <a:rPr lang="en-US" sz="2800" spc="-5" dirty="0">
                <a:solidFill>
                  <a:srgbClr val="FF0000"/>
                </a:solidFill>
                <a:latin typeface="Bell MT" panose="02020503060305020303" pitchFamily="18" charset="0"/>
                <a:cs typeface="Arial"/>
              </a:rPr>
              <a:t>marker.</a:t>
            </a:r>
          </a:p>
          <a:p>
            <a:pPr marL="469265" marR="23495" indent="-457200" algn="just">
              <a:spcBef>
                <a:spcPts val="325"/>
              </a:spcBef>
              <a:buClr>
                <a:srgbClr val="EE52A4"/>
              </a:buClr>
              <a:buSzPct val="80000"/>
              <a:buFont typeface="Arial" panose="020B0604020202020204" pitchFamily="34" charset="0"/>
              <a:buChar char="•"/>
              <a:tabLst>
                <a:tab pos="321945" algn="l"/>
                <a:tab pos="322580" algn="l"/>
              </a:tabLst>
            </a:pPr>
            <a:r>
              <a:rPr lang="en-US" sz="2800" spc="-5" dirty="0">
                <a:latin typeface="Bell MT" panose="02020503060305020303" pitchFamily="18" charset="0"/>
                <a:cs typeface="Arial"/>
              </a:rPr>
              <a:t>The stack contains a sequence of grammar symbols</a:t>
            </a:r>
          </a:p>
          <a:p>
            <a:pPr marL="469265" marR="23495" indent="-457200" algn="just">
              <a:spcBef>
                <a:spcPts val="325"/>
              </a:spcBef>
              <a:buClr>
                <a:srgbClr val="EE52A4"/>
              </a:buClr>
              <a:buSzPct val="80000"/>
              <a:buFont typeface="Arial" panose="020B0604020202020204" pitchFamily="34" charset="0"/>
              <a:buChar char="•"/>
              <a:tabLst>
                <a:tab pos="321945" algn="l"/>
                <a:tab pos="322580" algn="l"/>
              </a:tabLst>
            </a:pPr>
            <a:r>
              <a:rPr lang="en-US" sz="2800" spc="-5" dirty="0">
                <a:latin typeface="Bell MT" panose="02020503060305020303" pitchFamily="18" charset="0"/>
                <a:cs typeface="Arial"/>
              </a:rPr>
              <a:t>Initially, the stack contains the start symbol of the grammar on  the top of $.</a:t>
            </a:r>
          </a:p>
          <a:p>
            <a:pPr marL="354966" marR="5080" indent="-342900" algn="just">
              <a:spcBef>
                <a:spcPts val="1100"/>
              </a:spcBef>
              <a:buClr>
                <a:srgbClr val="EE52A4"/>
              </a:buClr>
              <a:buSzPct val="80555"/>
              <a:buFont typeface="Arial" panose="020B0604020202020204" pitchFamily="34" charset="0"/>
              <a:buChar char="•"/>
              <a:tabLst>
                <a:tab pos="425450" algn="l"/>
                <a:tab pos="426084" algn="l"/>
              </a:tabLst>
            </a:pPr>
            <a:endParaRPr sz="2800" spc="-5" dirty="0">
              <a:latin typeface="Bell MT" panose="02020503060305020303" pitchFamily="18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69933" y="494791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29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10513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spc="-5" dirty="0">
                <a:solidFill>
                  <a:srgbClr val="FF0000"/>
                </a:solidFill>
                <a:latin typeface="Bell MT" panose="02020503060305020303" pitchFamily="18" charset="0"/>
              </a:rPr>
              <a:t>LL(1)</a:t>
            </a:r>
            <a:r>
              <a:rPr sz="3600" b="1" spc="-8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sz="3600" b="1" dirty="0">
                <a:solidFill>
                  <a:srgbClr val="FF0000"/>
                </a:solidFill>
                <a:latin typeface="Bell MT" panose="02020503060305020303" pitchFamily="18" charset="0"/>
              </a:rPr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950" y="539604"/>
            <a:ext cx="11826243" cy="482568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 algn="just">
              <a:spcBef>
                <a:spcPts val="950"/>
              </a:spcBef>
            </a:pPr>
            <a:r>
              <a:rPr sz="2400" dirty="0">
                <a:latin typeface="Bell MT" panose="02020503060305020303" pitchFamily="18" charset="0"/>
                <a:cs typeface="Arial"/>
              </a:rPr>
              <a:t>The parser is controlled by a program that behaves as</a:t>
            </a:r>
            <a:r>
              <a:rPr sz="2400" spc="-215" dirty="0">
                <a:latin typeface="Bell MT" panose="02020503060305020303" pitchFamily="18" charset="0"/>
                <a:cs typeface="Arial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Arial"/>
              </a:rPr>
              <a:t>follows:</a:t>
            </a:r>
            <a:endParaRPr lang="en-US" sz="2400" dirty="0" smtClean="0">
              <a:latin typeface="Bell MT" panose="02020503060305020303" pitchFamily="18" charset="0"/>
              <a:cs typeface="Arial"/>
            </a:endParaRPr>
          </a:p>
          <a:p>
            <a:pPr marL="1041400" lvl="1" indent="-571500" algn="just">
              <a:spcBef>
                <a:spcPts val="950"/>
              </a:spcBef>
              <a:buFont typeface="Arial" panose="020B0604020202020204" pitchFamily="34" charset="0"/>
              <a:buChar char="•"/>
            </a:pPr>
            <a:r>
              <a:rPr sz="2400" dirty="0" smtClean="0">
                <a:latin typeface="Bell MT" panose="02020503060305020303" pitchFamily="18" charset="0"/>
                <a:cs typeface="Arial"/>
              </a:rPr>
              <a:t>The </a:t>
            </a:r>
            <a:r>
              <a:rPr sz="2400" dirty="0">
                <a:latin typeface="Bell MT" panose="02020503060305020303" pitchFamily="18" charset="0"/>
                <a:cs typeface="Arial"/>
              </a:rPr>
              <a:t>program considers </a:t>
            </a:r>
            <a:r>
              <a:rPr sz="2400" b="1" i="1" spc="-35" dirty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</a:t>
            </a:r>
            <a:r>
              <a:rPr sz="2400" spc="-35" dirty="0">
                <a:latin typeface="Bell MT" panose="02020503060305020303" pitchFamily="18" charset="0"/>
                <a:cs typeface="Arial"/>
              </a:rPr>
              <a:t>, </a:t>
            </a:r>
            <a:r>
              <a:rPr sz="2400" dirty="0">
                <a:latin typeface="Bell MT" panose="02020503060305020303" pitchFamily="18" charset="0"/>
                <a:cs typeface="Arial"/>
              </a:rPr>
              <a:t>the symbol on top of the stack, and </a:t>
            </a:r>
            <a:r>
              <a:rPr sz="2400" b="1" i="1" spc="-35" dirty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a</a:t>
            </a:r>
            <a:r>
              <a:rPr sz="2400" spc="-5" dirty="0">
                <a:latin typeface="Bell MT" panose="02020503060305020303" pitchFamily="18" charset="0"/>
                <a:cs typeface="Arial"/>
              </a:rPr>
              <a:t>,</a:t>
            </a:r>
            <a:r>
              <a:rPr sz="2400" spc="-200" dirty="0">
                <a:latin typeface="Bell MT" panose="02020503060305020303" pitchFamily="18" charset="0"/>
                <a:cs typeface="Arial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the  current input</a:t>
            </a:r>
            <a:r>
              <a:rPr sz="2400" spc="-65" dirty="0">
                <a:latin typeface="Bell MT" panose="02020503060305020303" pitchFamily="18" charset="0"/>
                <a:cs typeface="Arial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Arial"/>
              </a:rPr>
              <a:t>symbol.</a:t>
            </a:r>
            <a:endParaRPr lang="en-US" sz="2400" dirty="0" smtClean="0">
              <a:latin typeface="Bell MT" panose="02020503060305020303" pitchFamily="18" charset="0"/>
              <a:cs typeface="Arial"/>
            </a:endParaRPr>
          </a:p>
          <a:p>
            <a:pPr marL="1041400" lvl="1" indent="-571500" algn="just">
              <a:spcBef>
                <a:spcPts val="950"/>
              </a:spcBef>
              <a:buFont typeface="Arial" panose="020B0604020202020204" pitchFamily="34" charset="0"/>
              <a:buChar char="•"/>
            </a:pPr>
            <a:r>
              <a:rPr sz="2400" dirty="0" smtClean="0">
                <a:latin typeface="Bell MT" panose="02020503060305020303" pitchFamily="18" charset="0"/>
                <a:cs typeface="Arial"/>
              </a:rPr>
              <a:t>These </a:t>
            </a:r>
            <a:r>
              <a:rPr sz="2400" dirty="0">
                <a:latin typeface="Bell MT" panose="02020503060305020303" pitchFamily="18" charset="0"/>
                <a:cs typeface="Arial"/>
              </a:rPr>
              <a:t>two symbols, </a:t>
            </a:r>
            <a:r>
              <a:rPr sz="2400" b="1" i="1" spc="-35" dirty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</a:t>
            </a:r>
            <a:r>
              <a:rPr sz="2400" i="1" spc="-70" dirty="0">
                <a:latin typeface="Bell MT" panose="02020503060305020303" pitchFamily="18" charset="0"/>
                <a:cs typeface="MS Reference Sans Serif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and </a:t>
            </a:r>
            <a:r>
              <a:rPr sz="2400" b="1" i="1" spc="-35" dirty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a</a:t>
            </a:r>
            <a:r>
              <a:rPr sz="2400" spc="-455" dirty="0">
                <a:latin typeface="Bell MT" panose="02020503060305020303" pitchFamily="18" charset="0"/>
                <a:cs typeface="MS Reference Sans Serif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determine the action of the </a:t>
            </a:r>
            <a:r>
              <a:rPr sz="2400" spc="-15" dirty="0" smtClean="0">
                <a:latin typeface="Bell MT" panose="02020503060305020303" pitchFamily="18" charset="0"/>
                <a:cs typeface="Arial"/>
              </a:rPr>
              <a:t>parser.</a:t>
            </a:r>
            <a:r>
              <a:rPr lang="en-US" sz="2400" dirty="0">
                <a:latin typeface="Bell MT" panose="02020503060305020303" pitchFamily="18" charset="0"/>
                <a:cs typeface="Arial"/>
              </a:rPr>
              <a:t> </a:t>
            </a:r>
            <a:r>
              <a:rPr sz="2400" spc="10" dirty="0" smtClean="0">
                <a:latin typeface="Bell MT" panose="02020503060305020303" pitchFamily="18" charset="0"/>
                <a:cs typeface="Arial"/>
              </a:rPr>
              <a:t>There </a:t>
            </a:r>
            <a:r>
              <a:rPr sz="2400" spc="10" dirty="0">
                <a:latin typeface="Bell MT" panose="02020503060305020303" pitchFamily="18" charset="0"/>
                <a:cs typeface="Arial"/>
              </a:rPr>
              <a:t>are </a:t>
            </a:r>
            <a:r>
              <a:rPr sz="2400" i="1" spc="5" dirty="0">
                <a:latin typeface="Bell MT" panose="02020503060305020303" pitchFamily="18" charset="0"/>
                <a:cs typeface="Arial"/>
              </a:rPr>
              <a:t>three</a:t>
            </a:r>
            <a:r>
              <a:rPr sz="2400" i="1" spc="40" dirty="0">
                <a:latin typeface="Bell MT" panose="02020503060305020303" pitchFamily="18" charset="0"/>
                <a:cs typeface="Arial"/>
              </a:rPr>
              <a:t> </a:t>
            </a:r>
            <a:r>
              <a:rPr sz="2400" spc="10" dirty="0" smtClean="0">
                <a:latin typeface="Bell MT" panose="02020503060305020303" pitchFamily="18" charset="0"/>
                <a:cs typeface="Arial"/>
              </a:rPr>
              <a:t>possibilities.</a:t>
            </a:r>
            <a:endParaRPr lang="en-US" sz="2400" spc="10" dirty="0">
              <a:latin typeface="Bell MT" panose="02020503060305020303" pitchFamily="18" charset="0"/>
              <a:cs typeface="Arial"/>
            </a:endParaRPr>
          </a:p>
          <a:p>
            <a:pPr marL="1498600" lvl="2" indent="-571500" algn="just">
              <a:spcBef>
                <a:spcPts val="950"/>
              </a:spcBef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2060"/>
                </a:solidFill>
                <a:latin typeface="Bell MT" panose="02020503060305020303" pitchFamily="18" charset="0"/>
                <a:cs typeface="Arial"/>
              </a:rPr>
              <a:t>X = a = $, 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the parser halts and announces successful completion.</a:t>
            </a:r>
          </a:p>
          <a:p>
            <a:pPr marL="1498600" lvl="2" indent="-571500" algn="just">
              <a:spcBef>
                <a:spcPts val="950"/>
              </a:spcBef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2060"/>
                </a:solidFill>
                <a:latin typeface="Bell MT" panose="02020503060305020303" pitchFamily="18" charset="0"/>
                <a:cs typeface="Arial"/>
              </a:rPr>
              <a:t>X =a ≠ $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	the parser pops </a:t>
            </a:r>
            <a:r>
              <a:rPr lang="en-US" sz="2400" b="1" i="1" spc="-35" dirty="0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 off the stack and advances input pointer to next  input symbol</a:t>
            </a:r>
          </a:p>
          <a:p>
            <a:pPr marL="1498600" lvl="2" indent="-571500" algn="just">
              <a:spcBef>
                <a:spcPts val="95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ell MT" panose="02020503060305020303" pitchFamily="18" charset="0"/>
                <a:cs typeface="Arial"/>
              </a:rPr>
              <a:t>If </a:t>
            </a:r>
            <a:r>
              <a:rPr lang="en-US" sz="2400" b="1" i="1" spc="-35" dirty="0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 is a nonterminal, the program consults entry M[</a:t>
            </a:r>
            <a:r>
              <a:rPr lang="en-US" sz="2400" b="1" i="1" spc="-35" dirty="0" err="1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X,a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] of parsing table M. If the entry is a production M[</a:t>
            </a:r>
            <a:r>
              <a:rPr lang="en-US" sz="2400" dirty="0" err="1" smtClean="0">
                <a:latin typeface="Bell MT" panose="02020503060305020303" pitchFamily="18" charset="0"/>
                <a:cs typeface="Arial"/>
              </a:rPr>
              <a:t>X,a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] = {</a:t>
            </a:r>
            <a:r>
              <a:rPr lang="en-US" sz="2400" b="1" i="1" spc="-35" dirty="0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 → </a:t>
            </a:r>
            <a:r>
              <a:rPr lang="en-US" sz="2400" b="1" i="1" spc="-35" dirty="0" err="1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uvw</a:t>
            </a:r>
            <a:r>
              <a:rPr lang="en-US" sz="2400" b="1" i="1" spc="-35" dirty="0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 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} then the  parser replaces </a:t>
            </a:r>
            <a:r>
              <a:rPr lang="en-US" sz="2400" b="1" i="1" spc="-35" dirty="0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X 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on top of the stack by </a:t>
            </a:r>
            <a:r>
              <a:rPr lang="en-US" sz="2400" b="1" i="1" spc="-35" dirty="0" err="1" smtClean="0">
                <a:solidFill>
                  <a:srgbClr val="002060"/>
                </a:solidFill>
                <a:latin typeface="Bell MT" panose="02020503060305020303" pitchFamily="18" charset="0"/>
                <a:cs typeface="MS Reference Sans Serif"/>
              </a:rPr>
              <a:t>wvu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 (with u on top). 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68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715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30691" y="2263071"/>
            <a:ext cx="8052227" cy="170303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spcBef>
                <a:spcPts val="1100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Example:</a:t>
            </a:r>
          </a:p>
          <a:p>
            <a:pPr marL="321945" marR="325120">
              <a:spcBef>
                <a:spcPts val="1000"/>
              </a:spcBef>
            </a:pPr>
            <a:r>
              <a:rPr sz="2800" spc="-10" dirty="0">
                <a:latin typeface="Bell MT" panose="02020503060305020303" pitchFamily="18" charset="0"/>
                <a:cs typeface="Arial"/>
              </a:rPr>
              <a:t>Let’s </a:t>
            </a:r>
            <a:r>
              <a:rPr sz="2800" dirty="0">
                <a:latin typeface="Bell MT" panose="02020503060305020303" pitchFamily="18" charset="0"/>
                <a:cs typeface="Arial"/>
              </a:rPr>
              <a:t>parse the</a:t>
            </a:r>
            <a:r>
              <a:rPr sz="2800" spc="-120" dirty="0">
                <a:latin typeface="Bell MT" panose="02020503060305020303" pitchFamily="18" charset="0"/>
                <a:cs typeface="Arial"/>
              </a:rPr>
              <a:t> </a:t>
            </a:r>
            <a:r>
              <a:rPr sz="2800" spc="-5" dirty="0">
                <a:latin typeface="Bell MT" panose="02020503060305020303" pitchFamily="18" charset="0"/>
                <a:cs typeface="Arial"/>
              </a:rPr>
              <a:t>input  </a:t>
            </a:r>
            <a:r>
              <a:rPr sz="2800" dirty="0" smtClean="0">
                <a:latin typeface="Bell MT" panose="02020503060305020303" pitchFamily="18" charset="0"/>
                <a:cs typeface="Arial"/>
              </a:rPr>
              <a:t>string</a:t>
            </a:r>
            <a:r>
              <a:rPr lang="en-US" sz="280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800" b="1" u="heavy" spc="-5" dirty="0" err="1" smtClean="0">
                <a:solidFill>
                  <a:srgbClr val="002060"/>
                </a:solidFill>
                <a:uFill>
                  <a:solidFill>
                    <a:srgbClr val="FFFF00"/>
                  </a:solidFill>
                </a:uFill>
                <a:latin typeface="Bell MT" panose="02020503060305020303" pitchFamily="18" charset="0"/>
                <a:cs typeface="Calibri"/>
              </a:rPr>
              <a:t>id</a:t>
            </a:r>
            <a:r>
              <a:rPr sz="2800" b="1" spc="-5" dirty="0" err="1" smtClean="0">
                <a:solidFill>
                  <a:srgbClr val="002060"/>
                </a:solidFill>
                <a:latin typeface="Bell MT" panose="02020503060305020303" pitchFamily="18" charset="0"/>
                <a:cs typeface="Calibri"/>
              </a:rPr>
              <a:t>+</a:t>
            </a:r>
            <a:r>
              <a:rPr sz="2800" b="1" u="heavy" spc="-5" dirty="0" err="1" smtClean="0">
                <a:solidFill>
                  <a:srgbClr val="002060"/>
                </a:solidFill>
                <a:uFill>
                  <a:solidFill>
                    <a:srgbClr val="FFFF00"/>
                  </a:solidFill>
                </a:uFill>
                <a:latin typeface="Bell MT" panose="02020503060305020303" pitchFamily="18" charset="0"/>
                <a:cs typeface="Calibri"/>
              </a:rPr>
              <a:t>id</a:t>
            </a:r>
            <a:r>
              <a:rPr lang="en-US" sz="2800" b="1" spc="-5" dirty="0">
                <a:solidFill>
                  <a:srgbClr val="002060"/>
                </a:solidFill>
                <a:latin typeface="Bell MT" panose="02020503060305020303" pitchFamily="18" charset="0"/>
                <a:cs typeface="Calibri"/>
              </a:rPr>
              <a:t>*</a:t>
            </a:r>
            <a:r>
              <a:rPr sz="2800" b="1" u="heavy" spc="-5" dirty="0" smtClean="0">
                <a:solidFill>
                  <a:srgbClr val="002060"/>
                </a:solidFill>
                <a:uFill>
                  <a:solidFill>
                    <a:srgbClr val="FFFF00"/>
                  </a:solidFill>
                </a:uFill>
                <a:latin typeface="Bell MT" panose="02020503060305020303" pitchFamily="18" charset="0"/>
                <a:cs typeface="Calibri"/>
              </a:rPr>
              <a:t>id</a:t>
            </a:r>
            <a:endParaRPr sz="2800" b="1" dirty="0">
              <a:solidFill>
                <a:srgbClr val="002060"/>
              </a:solidFill>
              <a:latin typeface="Bell MT" panose="02020503060305020303" pitchFamily="18" charset="0"/>
              <a:cs typeface="Calibri"/>
            </a:endParaRPr>
          </a:p>
          <a:p>
            <a:pPr marL="321945">
              <a:spcBef>
                <a:spcPts val="1060"/>
              </a:spcBef>
            </a:pPr>
            <a:r>
              <a:rPr sz="2800" dirty="0">
                <a:latin typeface="Bell MT" panose="02020503060305020303" pitchFamily="18" charset="0"/>
                <a:cs typeface="Arial"/>
              </a:rPr>
              <a:t>Using the</a:t>
            </a:r>
            <a:r>
              <a:rPr sz="2800" spc="-80" dirty="0">
                <a:latin typeface="Bell MT" panose="02020503060305020303" pitchFamily="18" charset="0"/>
                <a:cs typeface="Arial"/>
              </a:rPr>
              <a:t> </a:t>
            </a:r>
            <a:r>
              <a:rPr sz="2800" dirty="0" smtClean="0">
                <a:latin typeface="Bell MT" panose="02020503060305020303" pitchFamily="18" charset="0"/>
                <a:cs typeface="Arial"/>
              </a:rPr>
              <a:t>non</a:t>
            </a:r>
            <a:r>
              <a:rPr lang="en-US" sz="2800" dirty="0" smtClean="0">
                <a:latin typeface="Bell MT" panose="02020503060305020303" pitchFamily="18" charset="0"/>
                <a:cs typeface="Arial"/>
              </a:rPr>
              <a:t>-</a:t>
            </a:r>
            <a:r>
              <a:rPr sz="2800" dirty="0" smtClean="0">
                <a:latin typeface="Bell MT" panose="02020503060305020303" pitchFamily="18" charset="0"/>
                <a:cs typeface="Arial"/>
              </a:rPr>
              <a:t>recursive</a:t>
            </a:r>
            <a:r>
              <a:rPr lang="en-US" sz="280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800" dirty="0" smtClean="0">
                <a:latin typeface="Bell MT" panose="02020503060305020303" pitchFamily="18" charset="0"/>
                <a:cs typeface="Arial"/>
              </a:rPr>
              <a:t>LL(1</a:t>
            </a:r>
            <a:r>
              <a:rPr sz="2800" dirty="0">
                <a:latin typeface="Bell MT" panose="02020503060305020303" pitchFamily="18" charset="0"/>
                <a:cs typeface="Arial"/>
              </a:rPr>
              <a:t>)</a:t>
            </a:r>
            <a:r>
              <a:rPr sz="2800" spc="-45" dirty="0">
                <a:latin typeface="Bell MT" panose="02020503060305020303" pitchFamily="18" charset="0"/>
                <a:cs typeface="Arial"/>
              </a:rPr>
              <a:t> </a:t>
            </a:r>
            <a:r>
              <a:rPr sz="2800" dirty="0">
                <a:latin typeface="Bell MT" panose="02020503060305020303" pitchFamily="18" charset="0"/>
                <a:cs typeface="Arial"/>
              </a:rPr>
              <a:t>parser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978" y="1736645"/>
            <a:ext cx="3110992" cy="2229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400" u="heavy" dirty="0">
                <a:uFill>
                  <a:solidFill>
                    <a:srgbClr val="FFFF00"/>
                  </a:solidFill>
                </a:uFill>
                <a:latin typeface="Bell MT" panose="02020503060305020303" pitchFamily="18" charset="0"/>
                <a:cs typeface="Arial"/>
              </a:rPr>
              <a:t>Grammar:</a:t>
            </a:r>
            <a:endParaRPr sz="2400" dirty="0">
              <a:latin typeface="Bell MT" panose="02020503060305020303" pitchFamily="18" charset="0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2400" dirty="0">
                <a:latin typeface="Bell MT" panose="02020503060305020303" pitchFamily="18" charset="0"/>
                <a:cs typeface="Arial"/>
              </a:rPr>
              <a:t>E </a:t>
            </a:r>
            <a:r>
              <a:rPr lang="en-US" sz="24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 </a:t>
            </a:r>
            <a:r>
              <a:rPr sz="2400" dirty="0" smtClean="0">
                <a:latin typeface="Bell MT" panose="02020503060305020303" pitchFamily="18" charset="0"/>
                <a:cs typeface="Arial"/>
              </a:rPr>
              <a:t>TE</a:t>
            </a:r>
            <a:r>
              <a:rPr sz="2400" dirty="0">
                <a:latin typeface="Bell MT" panose="02020503060305020303" pitchFamily="18" charset="0"/>
                <a:cs typeface="Arial"/>
              </a:rPr>
              <a:t>'</a:t>
            </a:r>
          </a:p>
          <a:p>
            <a:pPr marL="12700" marR="5080"/>
            <a:r>
              <a:rPr sz="2400" dirty="0">
                <a:latin typeface="Bell MT" panose="02020503060305020303" pitchFamily="18" charset="0"/>
                <a:cs typeface="Arial"/>
              </a:rPr>
              <a:t>E</a:t>
            </a:r>
            <a:r>
              <a:rPr sz="2400" dirty="0" smtClean="0">
                <a:latin typeface="Bell MT" panose="02020503060305020303" pitchFamily="18" charset="0"/>
                <a:cs typeface="Arial"/>
              </a:rPr>
              <a:t>'</a:t>
            </a:r>
            <a:r>
              <a:rPr lang="en-US" sz="240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lang="en-US" sz="24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400" spc="-105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+</a:t>
            </a:r>
            <a:r>
              <a:rPr sz="2400" dirty="0" err="1">
                <a:latin typeface="Bell MT" panose="02020503060305020303" pitchFamily="18" charset="0"/>
                <a:cs typeface="Arial"/>
              </a:rPr>
              <a:t>TE'|ε</a:t>
            </a:r>
            <a:r>
              <a:rPr sz="2400" dirty="0">
                <a:latin typeface="Bell MT" panose="02020503060305020303" pitchFamily="18" charset="0"/>
                <a:cs typeface="Arial"/>
              </a:rPr>
              <a:t>  </a:t>
            </a:r>
            <a:endParaRPr lang="en-US" sz="2400" dirty="0" smtClean="0">
              <a:latin typeface="Bell MT" panose="02020503060305020303" pitchFamily="18" charset="0"/>
              <a:cs typeface="Arial"/>
            </a:endParaRPr>
          </a:p>
          <a:p>
            <a:pPr marL="12700" marR="5080"/>
            <a:r>
              <a:rPr sz="2400" dirty="0" smtClean="0">
                <a:latin typeface="Bell MT" panose="02020503060305020303" pitchFamily="18" charset="0"/>
                <a:cs typeface="Arial"/>
              </a:rPr>
              <a:t>T </a:t>
            </a:r>
            <a:r>
              <a:rPr lang="en-US" sz="24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400" spc="-95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FT'</a:t>
            </a:r>
          </a:p>
          <a:p>
            <a:pPr marL="12700"/>
            <a:r>
              <a:rPr sz="2400" dirty="0">
                <a:latin typeface="Bell MT" panose="02020503060305020303" pitchFamily="18" charset="0"/>
                <a:cs typeface="Arial"/>
              </a:rPr>
              <a:t>T' </a:t>
            </a:r>
            <a:r>
              <a:rPr lang="en-US" sz="24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400" spc="-105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*FT'|ε</a:t>
            </a:r>
          </a:p>
          <a:p>
            <a:pPr marL="12700"/>
            <a:r>
              <a:rPr sz="2400" dirty="0">
                <a:latin typeface="Bell MT" panose="02020503060305020303" pitchFamily="18" charset="0"/>
                <a:cs typeface="Arial"/>
              </a:rPr>
              <a:t>F </a:t>
            </a:r>
            <a:r>
              <a:rPr lang="en-US" sz="2400" dirty="0">
                <a:latin typeface="Bell MT" panose="02020503060305020303" pitchFamily="18" charset="0"/>
                <a:ea typeface="Microsoft Sans Serif" panose="020B0604020202020204" pitchFamily="34" charset="0"/>
                <a:cs typeface="Arial"/>
              </a:rPr>
              <a:t>→</a:t>
            </a:r>
            <a:r>
              <a:rPr sz="2400" spc="-80" dirty="0" smtClean="0">
                <a:latin typeface="Bell MT" panose="02020503060305020303" pitchFamily="18" charset="0"/>
                <a:cs typeface="Arial"/>
              </a:rPr>
              <a:t> </a:t>
            </a:r>
            <a:r>
              <a:rPr sz="2400" dirty="0">
                <a:latin typeface="Bell MT" panose="02020503060305020303" pitchFamily="18" charset="0"/>
                <a:cs typeface="Arial"/>
              </a:rPr>
              <a:t>(E)|id</a:t>
            </a: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155643" y="36837"/>
            <a:ext cx="3667327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3600" b="1" kern="0" spc="-5" dirty="0" smtClean="0">
                <a:solidFill>
                  <a:srgbClr val="FF0000"/>
                </a:solidFill>
                <a:latin typeface="Bell MT" panose="02020503060305020303" pitchFamily="18" charset="0"/>
              </a:rPr>
              <a:t>LL(1) Stack</a:t>
            </a:r>
            <a:endParaRPr lang="en-US" sz="3600" b="1" kern="0" spc="-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082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71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89320" y="984503"/>
            <a:ext cx="652780" cy="652780"/>
            <a:chOff x="4465320" y="984503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005327" y="3749041"/>
            <a:ext cx="652780" cy="650875"/>
            <a:chOff x="1481327" y="3749040"/>
            <a:chExt cx="652780" cy="650875"/>
          </a:xfrm>
        </p:grpSpPr>
        <p:sp>
          <p:nvSpPr>
            <p:cNvPr id="7" name="object 7"/>
            <p:cNvSpPr/>
            <p:nvPr/>
          </p:nvSpPr>
          <p:spPr>
            <a:xfrm>
              <a:off x="1487423" y="3755136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80" h="638810">
                  <a:moveTo>
                    <a:pt x="320039" y="0"/>
                  </a:moveTo>
                  <a:lnTo>
                    <a:pt x="272739" y="3463"/>
                  </a:lnTo>
                  <a:lnTo>
                    <a:pt x="227596" y="13522"/>
                  </a:lnTo>
                  <a:lnTo>
                    <a:pt x="185105" y="29683"/>
                  </a:lnTo>
                  <a:lnTo>
                    <a:pt x="145761" y="51451"/>
                  </a:lnTo>
                  <a:lnTo>
                    <a:pt x="110057" y="78332"/>
                  </a:lnTo>
                  <a:lnTo>
                    <a:pt x="78490" y="109831"/>
                  </a:lnTo>
                  <a:lnTo>
                    <a:pt x="51552" y="145452"/>
                  </a:lnTo>
                  <a:lnTo>
                    <a:pt x="29740" y="184702"/>
                  </a:lnTo>
                  <a:lnTo>
                    <a:pt x="13547" y="227086"/>
                  </a:lnTo>
                  <a:lnTo>
                    <a:pt x="3469" y="272110"/>
                  </a:lnTo>
                  <a:lnTo>
                    <a:pt x="0" y="319277"/>
                  </a:lnTo>
                  <a:lnTo>
                    <a:pt x="3469" y="366445"/>
                  </a:lnTo>
                  <a:lnTo>
                    <a:pt x="13547" y="411469"/>
                  </a:lnTo>
                  <a:lnTo>
                    <a:pt x="29740" y="453853"/>
                  </a:lnTo>
                  <a:lnTo>
                    <a:pt x="51552" y="493103"/>
                  </a:lnTo>
                  <a:lnTo>
                    <a:pt x="78490" y="528724"/>
                  </a:lnTo>
                  <a:lnTo>
                    <a:pt x="110057" y="560223"/>
                  </a:lnTo>
                  <a:lnTo>
                    <a:pt x="145761" y="587104"/>
                  </a:lnTo>
                  <a:lnTo>
                    <a:pt x="185105" y="608872"/>
                  </a:lnTo>
                  <a:lnTo>
                    <a:pt x="227596" y="625033"/>
                  </a:lnTo>
                  <a:lnTo>
                    <a:pt x="272739" y="635092"/>
                  </a:lnTo>
                  <a:lnTo>
                    <a:pt x="320039" y="638556"/>
                  </a:lnTo>
                  <a:lnTo>
                    <a:pt x="367340" y="635092"/>
                  </a:lnTo>
                  <a:lnTo>
                    <a:pt x="412483" y="625033"/>
                  </a:lnTo>
                  <a:lnTo>
                    <a:pt x="454974" y="608872"/>
                  </a:lnTo>
                  <a:lnTo>
                    <a:pt x="494318" y="587104"/>
                  </a:lnTo>
                  <a:lnTo>
                    <a:pt x="530022" y="560223"/>
                  </a:lnTo>
                  <a:lnTo>
                    <a:pt x="561589" y="528724"/>
                  </a:lnTo>
                  <a:lnTo>
                    <a:pt x="588527" y="493103"/>
                  </a:lnTo>
                  <a:lnTo>
                    <a:pt x="610339" y="453853"/>
                  </a:lnTo>
                  <a:lnTo>
                    <a:pt x="626532" y="411469"/>
                  </a:lnTo>
                  <a:lnTo>
                    <a:pt x="636610" y="366445"/>
                  </a:lnTo>
                  <a:lnTo>
                    <a:pt x="640080" y="319277"/>
                  </a:lnTo>
                  <a:lnTo>
                    <a:pt x="636610" y="272110"/>
                  </a:lnTo>
                  <a:lnTo>
                    <a:pt x="626532" y="227086"/>
                  </a:lnTo>
                  <a:lnTo>
                    <a:pt x="610339" y="184702"/>
                  </a:lnTo>
                  <a:lnTo>
                    <a:pt x="588527" y="145452"/>
                  </a:lnTo>
                  <a:lnTo>
                    <a:pt x="561589" y="109831"/>
                  </a:lnTo>
                  <a:lnTo>
                    <a:pt x="530022" y="78332"/>
                  </a:lnTo>
                  <a:lnTo>
                    <a:pt x="494318" y="51451"/>
                  </a:lnTo>
                  <a:lnTo>
                    <a:pt x="454974" y="29683"/>
                  </a:lnTo>
                  <a:lnTo>
                    <a:pt x="412483" y="13522"/>
                  </a:lnTo>
                  <a:lnTo>
                    <a:pt x="367340" y="34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487423" y="3755136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80" h="638810">
                  <a:moveTo>
                    <a:pt x="0" y="319277"/>
                  </a:moveTo>
                  <a:lnTo>
                    <a:pt x="3469" y="272110"/>
                  </a:lnTo>
                  <a:lnTo>
                    <a:pt x="13547" y="227086"/>
                  </a:lnTo>
                  <a:lnTo>
                    <a:pt x="29740" y="184702"/>
                  </a:lnTo>
                  <a:lnTo>
                    <a:pt x="51552" y="145452"/>
                  </a:lnTo>
                  <a:lnTo>
                    <a:pt x="78490" y="109831"/>
                  </a:lnTo>
                  <a:lnTo>
                    <a:pt x="110057" y="78332"/>
                  </a:lnTo>
                  <a:lnTo>
                    <a:pt x="145761" y="51451"/>
                  </a:lnTo>
                  <a:lnTo>
                    <a:pt x="185105" y="29683"/>
                  </a:lnTo>
                  <a:lnTo>
                    <a:pt x="227596" y="13522"/>
                  </a:lnTo>
                  <a:lnTo>
                    <a:pt x="272739" y="3463"/>
                  </a:lnTo>
                  <a:lnTo>
                    <a:pt x="320039" y="0"/>
                  </a:lnTo>
                  <a:lnTo>
                    <a:pt x="367340" y="3463"/>
                  </a:lnTo>
                  <a:lnTo>
                    <a:pt x="412483" y="13522"/>
                  </a:lnTo>
                  <a:lnTo>
                    <a:pt x="454974" y="29683"/>
                  </a:lnTo>
                  <a:lnTo>
                    <a:pt x="494318" y="51451"/>
                  </a:lnTo>
                  <a:lnTo>
                    <a:pt x="530022" y="78332"/>
                  </a:lnTo>
                  <a:lnTo>
                    <a:pt x="561589" y="109831"/>
                  </a:lnTo>
                  <a:lnTo>
                    <a:pt x="588527" y="145452"/>
                  </a:lnTo>
                  <a:lnTo>
                    <a:pt x="610339" y="184702"/>
                  </a:lnTo>
                  <a:lnTo>
                    <a:pt x="626532" y="227086"/>
                  </a:lnTo>
                  <a:lnTo>
                    <a:pt x="636610" y="272110"/>
                  </a:lnTo>
                  <a:lnTo>
                    <a:pt x="640080" y="319277"/>
                  </a:lnTo>
                  <a:lnTo>
                    <a:pt x="636610" y="366445"/>
                  </a:lnTo>
                  <a:lnTo>
                    <a:pt x="626532" y="411469"/>
                  </a:lnTo>
                  <a:lnTo>
                    <a:pt x="610339" y="453853"/>
                  </a:lnTo>
                  <a:lnTo>
                    <a:pt x="588527" y="493103"/>
                  </a:lnTo>
                  <a:lnTo>
                    <a:pt x="561589" y="528724"/>
                  </a:lnTo>
                  <a:lnTo>
                    <a:pt x="530022" y="560223"/>
                  </a:lnTo>
                  <a:lnTo>
                    <a:pt x="494318" y="587104"/>
                  </a:lnTo>
                  <a:lnTo>
                    <a:pt x="454974" y="608872"/>
                  </a:lnTo>
                  <a:lnTo>
                    <a:pt x="412483" y="625033"/>
                  </a:lnTo>
                  <a:lnTo>
                    <a:pt x="367340" y="635092"/>
                  </a:lnTo>
                  <a:lnTo>
                    <a:pt x="320039" y="638556"/>
                  </a:lnTo>
                  <a:lnTo>
                    <a:pt x="272739" y="635092"/>
                  </a:lnTo>
                  <a:lnTo>
                    <a:pt x="227596" y="625033"/>
                  </a:lnTo>
                  <a:lnTo>
                    <a:pt x="185105" y="608872"/>
                  </a:lnTo>
                  <a:lnTo>
                    <a:pt x="145761" y="587104"/>
                  </a:lnTo>
                  <a:lnTo>
                    <a:pt x="110057" y="560223"/>
                  </a:lnTo>
                  <a:lnTo>
                    <a:pt x="78490" y="528724"/>
                  </a:lnTo>
                  <a:lnTo>
                    <a:pt x="51552" y="493103"/>
                  </a:lnTo>
                  <a:lnTo>
                    <a:pt x="29740" y="453853"/>
                  </a:lnTo>
                  <a:lnTo>
                    <a:pt x="13547" y="411469"/>
                  </a:lnTo>
                  <a:lnTo>
                    <a:pt x="3469" y="366445"/>
                  </a:lnTo>
                  <a:lnTo>
                    <a:pt x="0" y="319277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R="361950" algn="r">
                        <a:lnSpc>
                          <a:spcPts val="4115"/>
                        </a:lnSpc>
                      </a:pPr>
                      <a:r>
                        <a:rPr sz="3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3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337820" algn="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9175" y="976326"/>
            <a:ext cx="316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02945" algn="l"/>
                <a:tab pos="1162050" algn="l"/>
                <a:tab pos="1811020" algn="l"/>
                <a:tab pos="2282825" algn="l"/>
                <a:tab pos="2895600" algn="l"/>
              </a:tabLst>
            </a:pPr>
            <a:r>
              <a:rPr sz="3600" dirty="0">
                <a:solidFill>
                  <a:srgbClr val="FF0000"/>
                </a:solidFill>
              </a:rPr>
              <a:t>id	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6358" y="5889427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3" name="object 11"/>
          <p:cNvGraphicFramePr>
            <a:graphicFrameLocks noGrp="1"/>
          </p:cNvGraphicFramePr>
          <p:nvPr>
            <p:extLst/>
          </p:nvPr>
        </p:nvGraphicFramePr>
        <p:xfrm>
          <a:off x="5925460" y="3999219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9084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73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R="333375" algn="r">
                        <a:lnSpc>
                          <a:spcPts val="4115"/>
                        </a:lnSpc>
                      </a:pPr>
                      <a:r>
                        <a:rPr sz="3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337820" algn="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99175" y="976326"/>
            <a:ext cx="316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02945" algn="l"/>
                <a:tab pos="1162050" algn="l"/>
                <a:tab pos="1811020" algn="l"/>
                <a:tab pos="2282825" algn="l"/>
                <a:tab pos="2895600" algn="l"/>
              </a:tabLst>
            </a:pPr>
            <a:r>
              <a:rPr sz="3600" dirty="0">
                <a:solidFill>
                  <a:srgbClr val="FF0000"/>
                </a:solidFill>
              </a:rPr>
              <a:t>id	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234" y="5323738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600" spc="-5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endParaRPr sz="3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70424" y="1909135"/>
            <a:ext cx="1060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lang="en-US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→</a:t>
            </a: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TE'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object 12"/>
          <p:cNvSpPr txBox="1"/>
          <p:nvPr/>
        </p:nvSpPr>
        <p:spPr>
          <a:xfrm>
            <a:off x="6526358" y="5879595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>
            <p:extLst/>
          </p:nvPr>
        </p:nvGraphicFramePr>
        <p:xfrm>
          <a:off x="5925460" y="3989387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5820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74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89320" y="984503"/>
            <a:ext cx="652780" cy="652780"/>
            <a:chOff x="4465320" y="984503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78836" y="3176017"/>
            <a:ext cx="652780" cy="650875"/>
            <a:chOff x="1354836" y="3176016"/>
            <a:chExt cx="652780" cy="650875"/>
          </a:xfrm>
        </p:grpSpPr>
        <p:sp>
          <p:nvSpPr>
            <p:cNvPr id="7" name="object 7"/>
            <p:cNvSpPr/>
            <p:nvPr/>
          </p:nvSpPr>
          <p:spPr>
            <a:xfrm>
              <a:off x="1360932" y="3182112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80" h="638810">
                  <a:moveTo>
                    <a:pt x="320040" y="0"/>
                  </a:moveTo>
                  <a:lnTo>
                    <a:pt x="272739" y="3463"/>
                  </a:lnTo>
                  <a:lnTo>
                    <a:pt x="227596" y="13522"/>
                  </a:lnTo>
                  <a:lnTo>
                    <a:pt x="185105" y="29683"/>
                  </a:lnTo>
                  <a:lnTo>
                    <a:pt x="145761" y="51451"/>
                  </a:lnTo>
                  <a:lnTo>
                    <a:pt x="110057" y="78332"/>
                  </a:lnTo>
                  <a:lnTo>
                    <a:pt x="78490" y="109831"/>
                  </a:lnTo>
                  <a:lnTo>
                    <a:pt x="51552" y="145452"/>
                  </a:lnTo>
                  <a:lnTo>
                    <a:pt x="29740" y="184702"/>
                  </a:lnTo>
                  <a:lnTo>
                    <a:pt x="13547" y="227086"/>
                  </a:lnTo>
                  <a:lnTo>
                    <a:pt x="3469" y="272110"/>
                  </a:lnTo>
                  <a:lnTo>
                    <a:pt x="0" y="319277"/>
                  </a:lnTo>
                  <a:lnTo>
                    <a:pt x="3469" y="366445"/>
                  </a:lnTo>
                  <a:lnTo>
                    <a:pt x="13547" y="411469"/>
                  </a:lnTo>
                  <a:lnTo>
                    <a:pt x="29740" y="453853"/>
                  </a:lnTo>
                  <a:lnTo>
                    <a:pt x="51552" y="493103"/>
                  </a:lnTo>
                  <a:lnTo>
                    <a:pt x="78490" y="528724"/>
                  </a:lnTo>
                  <a:lnTo>
                    <a:pt x="110057" y="560223"/>
                  </a:lnTo>
                  <a:lnTo>
                    <a:pt x="145761" y="587104"/>
                  </a:lnTo>
                  <a:lnTo>
                    <a:pt x="185105" y="608872"/>
                  </a:lnTo>
                  <a:lnTo>
                    <a:pt x="227596" y="625033"/>
                  </a:lnTo>
                  <a:lnTo>
                    <a:pt x="272739" y="635092"/>
                  </a:lnTo>
                  <a:lnTo>
                    <a:pt x="320040" y="638556"/>
                  </a:lnTo>
                  <a:lnTo>
                    <a:pt x="367340" y="635092"/>
                  </a:lnTo>
                  <a:lnTo>
                    <a:pt x="412483" y="625033"/>
                  </a:lnTo>
                  <a:lnTo>
                    <a:pt x="454974" y="608872"/>
                  </a:lnTo>
                  <a:lnTo>
                    <a:pt x="494318" y="587104"/>
                  </a:lnTo>
                  <a:lnTo>
                    <a:pt x="530022" y="560223"/>
                  </a:lnTo>
                  <a:lnTo>
                    <a:pt x="561589" y="528724"/>
                  </a:lnTo>
                  <a:lnTo>
                    <a:pt x="588527" y="493103"/>
                  </a:lnTo>
                  <a:lnTo>
                    <a:pt x="610339" y="453853"/>
                  </a:lnTo>
                  <a:lnTo>
                    <a:pt x="626532" y="411469"/>
                  </a:lnTo>
                  <a:lnTo>
                    <a:pt x="636610" y="366445"/>
                  </a:lnTo>
                  <a:lnTo>
                    <a:pt x="640080" y="319277"/>
                  </a:lnTo>
                  <a:lnTo>
                    <a:pt x="636610" y="272110"/>
                  </a:lnTo>
                  <a:lnTo>
                    <a:pt x="626532" y="227086"/>
                  </a:lnTo>
                  <a:lnTo>
                    <a:pt x="610339" y="184702"/>
                  </a:lnTo>
                  <a:lnTo>
                    <a:pt x="588527" y="145452"/>
                  </a:lnTo>
                  <a:lnTo>
                    <a:pt x="561589" y="109831"/>
                  </a:lnTo>
                  <a:lnTo>
                    <a:pt x="530022" y="78332"/>
                  </a:lnTo>
                  <a:lnTo>
                    <a:pt x="494318" y="51451"/>
                  </a:lnTo>
                  <a:lnTo>
                    <a:pt x="454974" y="29683"/>
                  </a:lnTo>
                  <a:lnTo>
                    <a:pt x="412483" y="13522"/>
                  </a:lnTo>
                  <a:lnTo>
                    <a:pt x="367340" y="3463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60932" y="3182112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80" h="638810">
                  <a:moveTo>
                    <a:pt x="0" y="319277"/>
                  </a:moveTo>
                  <a:lnTo>
                    <a:pt x="3469" y="272110"/>
                  </a:lnTo>
                  <a:lnTo>
                    <a:pt x="13547" y="227086"/>
                  </a:lnTo>
                  <a:lnTo>
                    <a:pt x="29740" y="184702"/>
                  </a:lnTo>
                  <a:lnTo>
                    <a:pt x="51552" y="145452"/>
                  </a:lnTo>
                  <a:lnTo>
                    <a:pt x="78490" y="109831"/>
                  </a:lnTo>
                  <a:lnTo>
                    <a:pt x="110057" y="78332"/>
                  </a:lnTo>
                  <a:lnTo>
                    <a:pt x="145761" y="51451"/>
                  </a:lnTo>
                  <a:lnTo>
                    <a:pt x="185105" y="29683"/>
                  </a:lnTo>
                  <a:lnTo>
                    <a:pt x="227596" y="13522"/>
                  </a:lnTo>
                  <a:lnTo>
                    <a:pt x="272739" y="3463"/>
                  </a:lnTo>
                  <a:lnTo>
                    <a:pt x="320040" y="0"/>
                  </a:lnTo>
                  <a:lnTo>
                    <a:pt x="367340" y="3463"/>
                  </a:lnTo>
                  <a:lnTo>
                    <a:pt x="412483" y="13522"/>
                  </a:lnTo>
                  <a:lnTo>
                    <a:pt x="454974" y="29683"/>
                  </a:lnTo>
                  <a:lnTo>
                    <a:pt x="494318" y="51451"/>
                  </a:lnTo>
                  <a:lnTo>
                    <a:pt x="530022" y="78332"/>
                  </a:lnTo>
                  <a:lnTo>
                    <a:pt x="561589" y="109831"/>
                  </a:lnTo>
                  <a:lnTo>
                    <a:pt x="588527" y="145452"/>
                  </a:lnTo>
                  <a:lnTo>
                    <a:pt x="610339" y="184702"/>
                  </a:lnTo>
                  <a:lnTo>
                    <a:pt x="626532" y="227086"/>
                  </a:lnTo>
                  <a:lnTo>
                    <a:pt x="636610" y="272110"/>
                  </a:lnTo>
                  <a:lnTo>
                    <a:pt x="640080" y="319277"/>
                  </a:lnTo>
                  <a:lnTo>
                    <a:pt x="636610" y="366445"/>
                  </a:lnTo>
                  <a:lnTo>
                    <a:pt x="626532" y="411469"/>
                  </a:lnTo>
                  <a:lnTo>
                    <a:pt x="610339" y="453853"/>
                  </a:lnTo>
                  <a:lnTo>
                    <a:pt x="588527" y="493103"/>
                  </a:lnTo>
                  <a:lnTo>
                    <a:pt x="561589" y="528724"/>
                  </a:lnTo>
                  <a:lnTo>
                    <a:pt x="530022" y="560223"/>
                  </a:lnTo>
                  <a:lnTo>
                    <a:pt x="494318" y="587104"/>
                  </a:lnTo>
                  <a:lnTo>
                    <a:pt x="454974" y="608872"/>
                  </a:lnTo>
                  <a:lnTo>
                    <a:pt x="412483" y="625033"/>
                  </a:lnTo>
                  <a:lnTo>
                    <a:pt x="367340" y="635092"/>
                  </a:lnTo>
                  <a:lnTo>
                    <a:pt x="320040" y="638556"/>
                  </a:lnTo>
                  <a:lnTo>
                    <a:pt x="272739" y="635092"/>
                  </a:lnTo>
                  <a:lnTo>
                    <a:pt x="227596" y="625033"/>
                  </a:lnTo>
                  <a:lnTo>
                    <a:pt x="185105" y="608872"/>
                  </a:lnTo>
                  <a:lnTo>
                    <a:pt x="145761" y="587104"/>
                  </a:lnTo>
                  <a:lnTo>
                    <a:pt x="110057" y="560223"/>
                  </a:lnTo>
                  <a:lnTo>
                    <a:pt x="78490" y="528724"/>
                  </a:lnTo>
                  <a:lnTo>
                    <a:pt x="51552" y="493103"/>
                  </a:lnTo>
                  <a:lnTo>
                    <a:pt x="29740" y="453853"/>
                  </a:lnTo>
                  <a:lnTo>
                    <a:pt x="13547" y="411469"/>
                  </a:lnTo>
                  <a:lnTo>
                    <a:pt x="3469" y="366445"/>
                  </a:lnTo>
                  <a:lnTo>
                    <a:pt x="0" y="319277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99175" y="976326"/>
            <a:ext cx="316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02945" algn="l"/>
                <a:tab pos="1162050" algn="l"/>
                <a:tab pos="1811020" algn="l"/>
                <a:tab pos="2282825" algn="l"/>
                <a:tab pos="2895600" algn="l"/>
              </a:tabLst>
            </a:pPr>
            <a:r>
              <a:rPr sz="3600" dirty="0">
                <a:solidFill>
                  <a:srgbClr val="FF0000"/>
                </a:solidFill>
              </a:rPr>
              <a:t>id	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 marL="274320">
                        <a:lnSpc>
                          <a:spcPts val="4270"/>
                        </a:lnSpc>
                        <a:spcBef>
                          <a:spcPts val="45"/>
                        </a:spcBef>
                      </a:pPr>
                      <a:r>
                        <a:rPr sz="3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78130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object 12"/>
          <p:cNvSpPr txBox="1"/>
          <p:nvPr/>
        </p:nvSpPr>
        <p:spPr>
          <a:xfrm>
            <a:off x="6526358" y="5889427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6" name="object 11"/>
          <p:cNvGraphicFramePr>
            <a:graphicFrameLocks noGrp="1"/>
          </p:cNvGraphicFramePr>
          <p:nvPr>
            <p:extLst/>
          </p:nvPr>
        </p:nvGraphicFramePr>
        <p:xfrm>
          <a:off x="5925460" y="3999219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1225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75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89320" y="984503"/>
            <a:ext cx="652780" cy="652780"/>
            <a:chOff x="4465320" y="984503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78836" y="2631948"/>
            <a:ext cx="652780" cy="652780"/>
            <a:chOff x="1354836" y="2631948"/>
            <a:chExt cx="652780" cy="652780"/>
          </a:xfrm>
        </p:grpSpPr>
        <p:sp>
          <p:nvSpPr>
            <p:cNvPr id="7" name="object 7"/>
            <p:cNvSpPr/>
            <p:nvPr/>
          </p:nvSpPr>
          <p:spPr>
            <a:xfrm>
              <a:off x="1360932" y="26380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60932" y="26380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99175" y="976326"/>
            <a:ext cx="316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02945" algn="l"/>
                <a:tab pos="1162050" algn="l"/>
                <a:tab pos="1811020" algn="l"/>
                <a:tab pos="2282825" algn="l"/>
                <a:tab pos="2895600" algn="l"/>
              </a:tabLst>
            </a:pPr>
            <a:r>
              <a:rPr sz="3600" dirty="0">
                <a:solidFill>
                  <a:srgbClr val="FF0000"/>
                </a:solidFill>
              </a:rPr>
              <a:t>id	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 marL="285750">
                        <a:lnSpc>
                          <a:spcPts val="4260"/>
                        </a:lnSpc>
                      </a:pPr>
                      <a:r>
                        <a:rPr sz="3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 marL="223520">
                        <a:lnSpc>
                          <a:spcPts val="4180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78130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object 12"/>
          <p:cNvSpPr txBox="1"/>
          <p:nvPr/>
        </p:nvSpPr>
        <p:spPr>
          <a:xfrm>
            <a:off x="6526358" y="5879595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6" name="object 11"/>
          <p:cNvGraphicFramePr>
            <a:graphicFrameLocks noGrp="1"/>
          </p:cNvGraphicFramePr>
          <p:nvPr>
            <p:extLst/>
          </p:nvPr>
        </p:nvGraphicFramePr>
        <p:xfrm>
          <a:off x="5925460" y="3989387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115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76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89320" y="984503"/>
            <a:ext cx="652780" cy="652780"/>
            <a:chOff x="4465320" y="984503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71416" y="990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78836" y="2631948"/>
            <a:ext cx="652780" cy="652780"/>
            <a:chOff x="1354836" y="2631948"/>
            <a:chExt cx="652780" cy="652780"/>
          </a:xfrm>
        </p:grpSpPr>
        <p:sp>
          <p:nvSpPr>
            <p:cNvPr id="7" name="object 7"/>
            <p:cNvSpPr/>
            <p:nvPr/>
          </p:nvSpPr>
          <p:spPr>
            <a:xfrm>
              <a:off x="1360932" y="26380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60932" y="26380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99175" y="976326"/>
            <a:ext cx="316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02945" algn="l"/>
                <a:tab pos="1162050" algn="l"/>
                <a:tab pos="1811020" algn="l"/>
                <a:tab pos="2282825" algn="l"/>
                <a:tab pos="2895600" algn="l"/>
              </a:tabLst>
            </a:pPr>
            <a:r>
              <a:rPr sz="3600" dirty="0">
                <a:solidFill>
                  <a:srgbClr val="FF0000"/>
                </a:solidFill>
              </a:rPr>
              <a:t>id	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 marL="248920">
                        <a:lnSpc>
                          <a:spcPts val="3895"/>
                        </a:lnSpc>
                      </a:pPr>
                      <a:r>
                        <a:rPr sz="3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 marL="223520">
                        <a:lnSpc>
                          <a:spcPts val="4180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78130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3" name="object 12"/>
          <p:cNvSpPr txBox="1"/>
          <p:nvPr/>
        </p:nvSpPr>
        <p:spPr>
          <a:xfrm>
            <a:off x="6526358" y="5879595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6" name="object 11"/>
          <p:cNvGraphicFramePr>
            <a:graphicFrameLocks noGrp="1"/>
          </p:cNvGraphicFramePr>
          <p:nvPr>
            <p:extLst/>
          </p:nvPr>
        </p:nvGraphicFramePr>
        <p:xfrm>
          <a:off x="5925460" y="3989387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2421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77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2447" y="3159251"/>
            <a:ext cx="652780" cy="652780"/>
            <a:chOff x="1298447" y="3159251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1304543" y="3165347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304543" y="3165347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85203" y="969264"/>
            <a:ext cx="652780" cy="650875"/>
            <a:chOff x="5061203" y="969263"/>
            <a:chExt cx="652780" cy="650875"/>
          </a:xfrm>
        </p:grpSpPr>
        <p:sp>
          <p:nvSpPr>
            <p:cNvPr id="7" name="object 7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320039" y="0"/>
                  </a:moveTo>
                  <a:lnTo>
                    <a:pt x="272739" y="3463"/>
                  </a:lnTo>
                  <a:lnTo>
                    <a:pt x="227596" y="13522"/>
                  </a:lnTo>
                  <a:lnTo>
                    <a:pt x="185105" y="29683"/>
                  </a:lnTo>
                  <a:lnTo>
                    <a:pt x="145761" y="51451"/>
                  </a:lnTo>
                  <a:lnTo>
                    <a:pt x="110057" y="78332"/>
                  </a:lnTo>
                  <a:lnTo>
                    <a:pt x="78490" y="109831"/>
                  </a:lnTo>
                  <a:lnTo>
                    <a:pt x="51552" y="145452"/>
                  </a:lnTo>
                  <a:lnTo>
                    <a:pt x="29740" y="184702"/>
                  </a:lnTo>
                  <a:lnTo>
                    <a:pt x="13547" y="227086"/>
                  </a:lnTo>
                  <a:lnTo>
                    <a:pt x="3469" y="272110"/>
                  </a:lnTo>
                  <a:lnTo>
                    <a:pt x="0" y="319277"/>
                  </a:lnTo>
                  <a:lnTo>
                    <a:pt x="3469" y="366445"/>
                  </a:lnTo>
                  <a:lnTo>
                    <a:pt x="13547" y="411469"/>
                  </a:lnTo>
                  <a:lnTo>
                    <a:pt x="29740" y="453853"/>
                  </a:lnTo>
                  <a:lnTo>
                    <a:pt x="51552" y="493103"/>
                  </a:lnTo>
                  <a:lnTo>
                    <a:pt x="78490" y="528724"/>
                  </a:lnTo>
                  <a:lnTo>
                    <a:pt x="110057" y="560223"/>
                  </a:lnTo>
                  <a:lnTo>
                    <a:pt x="145761" y="587104"/>
                  </a:lnTo>
                  <a:lnTo>
                    <a:pt x="185105" y="608872"/>
                  </a:lnTo>
                  <a:lnTo>
                    <a:pt x="227596" y="625033"/>
                  </a:lnTo>
                  <a:lnTo>
                    <a:pt x="272739" y="635092"/>
                  </a:lnTo>
                  <a:lnTo>
                    <a:pt x="320039" y="638555"/>
                  </a:lnTo>
                  <a:lnTo>
                    <a:pt x="367340" y="635092"/>
                  </a:lnTo>
                  <a:lnTo>
                    <a:pt x="412483" y="625033"/>
                  </a:lnTo>
                  <a:lnTo>
                    <a:pt x="454974" y="608872"/>
                  </a:lnTo>
                  <a:lnTo>
                    <a:pt x="494318" y="587104"/>
                  </a:lnTo>
                  <a:lnTo>
                    <a:pt x="530022" y="560223"/>
                  </a:lnTo>
                  <a:lnTo>
                    <a:pt x="561589" y="528724"/>
                  </a:lnTo>
                  <a:lnTo>
                    <a:pt x="588527" y="493103"/>
                  </a:lnTo>
                  <a:lnTo>
                    <a:pt x="610339" y="453853"/>
                  </a:lnTo>
                  <a:lnTo>
                    <a:pt x="626532" y="411469"/>
                  </a:lnTo>
                  <a:lnTo>
                    <a:pt x="636610" y="366445"/>
                  </a:lnTo>
                  <a:lnTo>
                    <a:pt x="640079" y="319277"/>
                  </a:lnTo>
                  <a:lnTo>
                    <a:pt x="636610" y="272110"/>
                  </a:lnTo>
                  <a:lnTo>
                    <a:pt x="626532" y="227086"/>
                  </a:lnTo>
                  <a:lnTo>
                    <a:pt x="610339" y="184702"/>
                  </a:lnTo>
                  <a:lnTo>
                    <a:pt x="588527" y="145452"/>
                  </a:lnTo>
                  <a:lnTo>
                    <a:pt x="561589" y="109831"/>
                  </a:lnTo>
                  <a:lnTo>
                    <a:pt x="530022" y="78332"/>
                  </a:lnTo>
                  <a:lnTo>
                    <a:pt x="494318" y="51451"/>
                  </a:lnTo>
                  <a:lnTo>
                    <a:pt x="454974" y="29683"/>
                  </a:lnTo>
                  <a:lnTo>
                    <a:pt x="412483" y="13522"/>
                  </a:lnTo>
                  <a:lnTo>
                    <a:pt x="367340" y="34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0" y="319277"/>
                  </a:moveTo>
                  <a:lnTo>
                    <a:pt x="3469" y="272110"/>
                  </a:lnTo>
                  <a:lnTo>
                    <a:pt x="13547" y="227086"/>
                  </a:lnTo>
                  <a:lnTo>
                    <a:pt x="29740" y="184702"/>
                  </a:lnTo>
                  <a:lnTo>
                    <a:pt x="51552" y="145452"/>
                  </a:lnTo>
                  <a:lnTo>
                    <a:pt x="78490" y="109831"/>
                  </a:lnTo>
                  <a:lnTo>
                    <a:pt x="110057" y="78332"/>
                  </a:lnTo>
                  <a:lnTo>
                    <a:pt x="145761" y="51451"/>
                  </a:lnTo>
                  <a:lnTo>
                    <a:pt x="185105" y="29683"/>
                  </a:lnTo>
                  <a:lnTo>
                    <a:pt x="227596" y="13522"/>
                  </a:lnTo>
                  <a:lnTo>
                    <a:pt x="272739" y="3463"/>
                  </a:lnTo>
                  <a:lnTo>
                    <a:pt x="320039" y="0"/>
                  </a:lnTo>
                  <a:lnTo>
                    <a:pt x="367340" y="3463"/>
                  </a:lnTo>
                  <a:lnTo>
                    <a:pt x="412483" y="13522"/>
                  </a:lnTo>
                  <a:lnTo>
                    <a:pt x="454974" y="29683"/>
                  </a:lnTo>
                  <a:lnTo>
                    <a:pt x="494318" y="51451"/>
                  </a:lnTo>
                  <a:lnTo>
                    <a:pt x="530022" y="78332"/>
                  </a:lnTo>
                  <a:lnTo>
                    <a:pt x="561589" y="109831"/>
                  </a:lnTo>
                  <a:lnTo>
                    <a:pt x="588527" y="145452"/>
                  </a:lnTo>
                  <a:lnTo>
                    <a:pt x="610339" y="184702"/>
                  </a:lnTo>
                  <a:lnTo>
                    <a:pt x="626532" y="227086"/>
                  </a:lnTo>
                  <a:lnTo>
                    <a:pt x="636610" y="272110"/>
                  </a:lnTo>
                  <a:lnTo>
                    <a:pt x="640079" y="319277"/>
                  </a:lnTo>
                  <a:lnTo>
                    <a:pt x="636610" y="366445"/>
                  </a:lnTo>
                  <a:lnTo>
                    <a:pt x="626532" y="411469"/>
                  </a:lnTo>
                  <a:lnTo>
                    <a:pt x="610339" y="453853"/>
                  </a:lnTo>
                  <a:lnTo>
                    <a:pt x="588527" y="493103"/>
                  </a:lnTo>
                  <a:lnTo>
                    <a:pt x="561589" y="528724"/>
                  </a:lnTo>
                  <a:lnTo>
                    <a:pt x="530022" y="560223"/>
                  </a:lnTo>
                  <a:lnTo>
                    <a:pt x="494318" y="587104"/>
                  </a:lnTo>
                  <a:lnTo>
                    <a:pt x="454974" y="608872"/>
                  </a:lnTo>
                  <a:lnTo>
                    <a:pt x="412483" y="625033"/>
                  </a:lnTo>
                  <a:lnTo>
                    <a:pt x="367340" y="635092"/>
                  </a:lnTo>
                  <a:lnTo>
                    <a:pt x="320039" y="638555"/>
                  </a:lnTo>
                  <a:lnTo>
                    <a:pt x="272739" y="635092"/>
                  </a:lnTo>
                  <a:lnTo>
                    <a:pt x="227596" y="625033"/>
                  </a:lnTo>
                  <a:lnTo>
                    <a:pt x="185105" y="608872"/>
                  </a:lnTo>
                  <a:lnTo>
                    <a:pt x="145761" y="587104"/>
                  </a:lnTo>
                  <a:lnTo>
                    <a:pt x="110057" y="560223"/>
                  </a:lnTo>
                  <a:lnTo>
                    <a:pt x="78490" y="528724"/>
                  </a:lnTo>
                  <a:lnTo>
                    <a:pt x="51552" y="493103"/>
                  </a:lnTo>
                  <a:lnTo>
                    <a:pt x="29740" y="453853"/>
                  </a:lnTo>
                  <a:lnTo>
                    <a:pt x="13547" y="411469"/>
                  </a:lnTo>
                  <a:lnTo>
                    <a:pt x="3469" y="366445"/>
                  </a:lnTo>
                  <a:lnTo>
                    <a:pt x="0" y="319277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 marL="195580">
                        <a:lnSpc>
                          <a:spcPts val="4180"/>
                        </a:lnSpc>
                      </a:pPr>
                      <a:r>
                        <a:rPr sz="36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78130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789801" y="976326"/>
            <a:ext cx="2472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71170" algn="l"/>
                <a:tab pos="1120775" algn="l"/>
                <a:tab pos="1591945" algn="l"/>
                <a:tab pos="2205355" algn="l"/>
              </a:tabLst>
            </a:pPr>
            <a:r>
              <a:rPr sz="3600" dirty="0">
                <a:solidFill>
                  <a:srgbClr val="FF0000"/>
                </a:solidFill>
              </a:rPr>
              <a:t>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2"/>
          <p:cNvSpPr txBox="1"/>
          <p:nvPr/>
        </p:nvSpPr>
        <p:spPr>
          <a:xfrm>
            <a:off x="6526358" y="5879595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6" name="object 11"/>
          <p:cNvGraphicFramePr>
            <a:graphicFrameLocks noGrp="1"/>
          </p:cNvGraphicFramePr>
          <p:nvPr>
            <p:extLst/>
          </p:nvPr>
        </p:nvGraphicFramePr>
        <p:xfrm>
          <a:off x="5925460" y="3989387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5722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78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65703" y="3717035"/>
            <a:ext cx="652780" cy="652780"/>
            <a:chOff x="1441703" y="3717035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1447799" y="3723131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447799" y="3723131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85203" y="969264"/>
            <a:ext cx="652780" cy="650875"/>
            <a:chOff x="5061203" y="969263"/>
            <a:chExt cx="652780" cy="650875"/>
          </a:xfrm>
        </p:grpSpPr>
        <p:sp>
          <p:nvSpPr>
            <p:cNvPr id="7" name="object 7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320039" y="0"/>
                  </a:moveTo>
                  <a:lnTo>
                    <a:pt x="272739" y="3463"/>
                  </a:lnTo>
                  <a:lnTo>
                    <a:pt x="227596" y="13522"/>
                  </a:lnTo>
                  <a:lnTo>
                    <a:pt x="185105" y="29683"/>
                  </a:lnTo>
                  <a:lnTo>
                    <a:pt x="145761" y="51451"/>
                  </a:lnTo>
                  <a:lnTo>
                    <a:pt x="110057" y="78332"/>
                  </a:lnTo>
                  <a:lnTo>
                    <a:pt x="78490" y="109831"/>
                  </a:lnTo>
                  <a:lnTo>
                    <a:pt x="51552" y="145452"/>
                  </a:lnTo>
                  <a:lnTo>
                    <a:pt x="29740" y="184702"/>
                  </a:lnTo>
                  <a:lnTo>
                    <a:pt x="13547" y="227086"/>
                  </a:lnTo>
                  <a:lnTo>
                    <a:pt x="3469" y="272110"/>
                  </a:lnTo>
                  <a:lnTo>
                    <a:pt x="0" y="319277"/>
                  </a:lnTo>
                  <a:lnTo>
                    <a:pt x="3469" y="366445"/>
                  </a:lnTo>
                  <a:lnTo>
                    <a:pt x="13547" y="411469"/>
                  </a:lnTo>
                  <a:lnTo>
                    <a:pt x="29740" y="453853"/>
                  </a:lnTo>
                  <a:lnTo>
                    <a:pt x="51552" y="493103"/>
                  </a:lnTo>
                  <a:lnTo>
                    <a:pt x="78490" y="528724"/>
                  </a:lnTo>
                  <a:lnTo>
                    <a:pt x="110057" y="560223"/>
                  </a:lnTo>
                  <a:lnTo>
                    <a:pt x="145761" y="587104"/>
                  </a:lnTo>
                  <a:lnTo>
                    <a:pt x="185105" y="608872"/>
                  </a:lnTo>
                  <a:lnTo>
                    <a:pt x="227596" y="625033"/>
                  </a:lnTo>
                  <a:lnTo>
                    <a:pt x="272739" y="635092"/>
                  </a:lnTo>
                  <a:lnTo>
                    <a:pt x="320039" y="638555"/>
                  </a:lnTo>
                  <a:lnTo>
                    <a:pt x="367340" y="635092"/>
                  </a:lnTo>
                  <a:lnTo>
                    <a:pt x="412483" y="625033"/>
                  </a:lnTo>
                  <a:lnTo>
                    <a:pt x="454974" y="608872"/>
                  </a:lnTo>
                  <a:lnTo>
                    <a:pt x="494318" y="587104"/>
                  </a:lnTo>
                  <a:lnTo>
                    <a:pt x="530022" y="560223"/>
                  </a:lnTo>
                  <a:lnTo>
                    <a:pt x="561589" y="528724"/>
                  </a:lnTo>
                  <a:lnTo>
                    <a:pt x="588527" y="493103"/>
                  </a:lnTo>
                  <a:lnTo>
                    <a:pt x="610339" y="453853"/>
                  </a:lnTo>
                  <a:lnTo>
                    <a:pt x="626532" y="411469"/>
                  </a:lnTo>
                  <a:lnTo>
                    <a:pt x="636610" y="366445"/>
                  </a:lnTo>
                  <a:lnTo>
                    <a:pt x="640079" y="319277"/>
                  </a:lnTo>
                  <a:lnTo>
                    <a:pt x="636610" y="272110"/>
                  </a:lnTo>
                  <a:lnTo>
                    <a:pt x="626532" y="227086"/>
                  </a:lnTo>
                  <a:lnTo>
                    <a:pt x="610339" y="184702"/>
                  </a:lnTo>
                  <a:lnTo>
                    <a:pt x="588527" y="145452"/>
                  </a:lnTo>
                  <a:lnTo>
                    <a:pt x="561589" y="109831"/>
                  </a:lnTo>
                  <a:lnTo>
                    <a:pt x="530022" y="78332"/>
                  </a:lnTo>
                  <a:lnTo>
                    <a:pt x="494318" y="51451"/>
                  </a:lnTo>
                  <a:lnTo>
                    <a:pt x="454974" y="29683"/>
                  </a:lnTo>
                  <a:lnTo>
                    <a:pt x="412483" y="13522"/>
                  </a:lnTo>
                  <a:lnTo>
                    <a:pt x="367340" y="34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0" y="319277"/>
                  </a:moveTo>
                  <a:lnTo>
                    <a:pt x="3469" y="272110"/>
                  </a:lnTo>
                  <a:lnTo>
                    <a:pt x="13547" y="227086"/>
                  </a:lnTo>
                  <a:lnTo>
                    <a:pt x="29740" y="184702"/>
                  </a:lnTo>
                  <a:lnTo>
                    <a:pt x="51552" y="145452"/>
                  </a:lnTo>
                  <a:lnTo>
                    <a:pt x="78490" y="109831"/>
                  </a:lnTo>
                  <a:lnTo>
                    <a:pt x="110057" y="78332"/>
                  </a:lnTo>
                  <a:lnTo>
                    <a:pt x="145761" y="51451"/>
                  </a:lnTo>
                  <a:lnTo>
                    <a:pt x="185105" y="29683"/>
                  </a:lnTo>
                  <a:lnTo>
                    <a:pt x="227596" y="13522"/>
                  </a:lnTo>
                  <a:lnTo>
                    <a:pt x="272739" y="3463"/>
                  </a:lnTo>
                  <a:lnTo>
                    <a:pt x="320039" y="0"/>
                  </a:lnTo>
                  <a:lnTo>
                    <a:pt x="367340" y="3463"/>
                  </a:lnTo>
                  <a:lnTo>
                    <a:pt x="412483" y="13522"/>
                  </a:lnTo>
                  <a:lnTo>
                    <a:pt x="454974" y="29683"/>
                  </a:lnTo>
                  <a:lnTo>
                    <a:pt x="494318" y="51451"/>
                  </a:lnTo>
                  <a:lnTo>
                    <a:pt x="530022" y="78332"/>
                  </a:lnTo>
                  <a:lnTo>
                    <a:pt x="561589" y="109831"/>
                  </a:lnTo>
                  <a:lnTo>
                    <a:pt x="588527" y="145452"/>
                  </a:lnTo>
                  <a:lnTo>
                    <a:pt x="610339" y="184702"/>
                  </a:lnTo>
                  <a:lnTo>
                    <a:pt x="626532" y="227086"/>
                  </a:lnTo>
                  <a:lnTo>
                    <a:pt x="636610" y="272110"/>
                  </a:lnTo>
                  <a:lnTo>
                    <a:pt x="640079" y="319277"/>
                  </a:lnTo>
                  <a:lnTo>
                    <a:pt x="636610" y="366445"/>
                  </a:lnTo>
                  <a:lnTo>
                    <a:pt x="626532" y="411469"/>
                  </a:lnTo>
                  <a:lnTo>
                    <a:pt x="610339" y="453853"/>
                  </a:lnTo>
                  <a:lnTo>
                    <a:pt x="588527" y="493103"/>
                  </a:lnTo>
                  <a:lnTo>
                    <a:pt x="561589" y="528724"/>
                  </a:lnTo>
                  <a:lnTo>
                    <a:pt x="530022" y="560223"/>
                  </a:lnTo>
                  <a:lnTo>
                    <a:pt x="494318" y="587104"/>
                  </a:lnTo>
                  <a:lnTo>
                    <a:pt x="454974" y="608872"/>
                  </a:lnTo>
                  <a:lnTo>
                    <a:pt x="412483" y="625033"/>
                  </a:lnTo>
                  <a:lnTo>
                    <a:pt x="367340" y="635092"/>
                  </a:lnTo>
                  <a:lnTo>
                    <a:pt x="320039" y="638555"/>
                  </a:lnTo>
                  <a:lnTo>
                    <a:pt x="272739" y="635092"/>
                  </a:lnTo>
                  <a:lnTo>
                    <a:pt x="227596" y="625033"/>
                  </a:lnTo>
                  <a:lnTo>
                    <a:pt x="185105" y="608872"/>
                  </a:lnTo>
                  <a:lnTo>
                    <a:pt x="145761" y="587104"/>
                  </a:lnTo>
                  <a:lnTo>
                    <a:pt x="110057" y="560223"/>
                  </a:lnTo>
                  <a:lnTo>
                    <a:pt x="78490" y="528724"/>
                  </a:lnTo>
                  <a:lnTo>
                    <a:pt x="51552" y="493103"/>
                  </a:lnTo>
                  <a:lnTo>
                    <a:pt x="29740" y="453853"/>
                  </a:lnTo>
                  <a:lnTo>
                    <a:pt x="13547" y="411469"/>
                  </a:lnTo>
                  <a:lnTo>
                    <a:pt x="3469" y="366445"/>
                  </a:lnTo>
                  <a:lnTo>
                    <a:pt x="0" y="319277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R="106045" algn="ctr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89801" y="976326"/>
            <a:ext cx="2472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71170" algn="l"/>
                <a:tab pos="1120775" algn="l"/>
                <a:tab pos="1591945" algn="l"/>
                <a:tab pos="2205355" algn="l"/>
              </a:tabLst>
            </a:pPr>
            <a:r>
              <a:rPr sz="3600" dirty="0">
                <a:solidFill>
                  <a:srgbClr val="FF0000"/>
                </a:solidFill>
              </a:rPr>
              <a:t>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2"/>
          <p:cNvSpPr txBox="1"/>
          <p:nvPr/>
        </p:nvSpPr>
        <p:spPr>
          <a:xfrm>
            <a:off x="6526358" y="5879595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6" name="object 11"/>
          <p:cNvGraphicFramePr>
            <a:graphicFrameLocks noGrp="1"/>
          </p:cNvGraphicFramePr>
          <p:nvPr>
            <p:extLst/>
          </p:nvPr>
        </p:nvGraphicFramePr>
        <p:xfrm>
          <a:off x="5925460" y="3989387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4790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79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85203" y="969264"/>
            <a:ext cx="652780" cy="650875"/>
            <a:chOff x="5061203" y="969263"/>
            <a:chExt cx="652780" cy="650875"/>
          </a:xfrm>
        </p:grpSpPr>
        <p:sp>
          <p:nvSpPr>
            <p:cNvPr id="4" name="object 4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320039" y="0"/>
                  </a:moveTo>
                  <a:lnTo>
                    <a:pt x="272739" y="3463"/>
                  </a:lnTo>
                  <a:lnTo>
                    <a:pt x="227596" y="13522"/>
                  </a:lnTo>
                  <a:lnTo>
                    <a:pt x="185105" y="29683"/>
                  </a:lnTo>
                  <a:lnTo>
                    <a:pt x="145761" y="51451"/>
                  </a:lnTo>
                  <a:lnTo>
                    <a:pt x="110057" y="78332"/>
                  </a:lnTo>
                  <a:lnTo>
                    <a:pt x="78490" y="109831"/>
                  </a:lnTo>
                  <a:lnTo>
                    <a:pt x="51552" y="145452"/>
                  </a:lnTo>
                  <a:lnTo>
                    <a:pt x="29740" y="184702"/>
                  </a:lnTo>
                  <a:lnTo>
                    <a:pt x="13547" y="227086"/>
                  </a:lnTo>
                  <a:lnTo>
                    <a:pt x="3469" y="272110"/>
                  </a:lnTo>
                  <a:lnTo>
                    <a:pt x="0" y="319277"/>
                  </a:lnTo>
                  <a:lnTo>
                    <a:pt x="3469" y="366445"/>
                  </a:lnTo>
                  <a:lnTo>
                    <a:pt x="13547" y="411469"/>
                  </a:lnTo>
                  <a:lnTo>
                    <a:pt x="29740" y="453853"/>
                  </a:lnTo>
                  <a:lnTo>
                    <a:pt x="51552" y="493103"/>
                  </a:lnTo>
                  <a:lnTo>
                    <a:pt x="78490" y="528724"/>
                  </a:lnTo>
                  <a:lnTo>
                    <a:pt x="110057" y="560223"/>
                  </a:lnTo>
                  <a:lnTo>
                    <a:pt x="145761" y="587104"/>
                  </a:lnTo>
                  <a:lnTo>
                    <a:pt x="185105" y="608872"/>
                  </a:lnTo>
                  <a:lnTo>
                    <a:pt x="227596" y="625033"/>
                  </a:lnTo>
                  <a:lnTo>
                    <a:pt x="272739" y="635092"/>
                  </a:lnTo>
                  <a:lnTo>
                    <a:pt x="320039" y="638555"/>
                  </a:lnTo>
                  <a:lnTo>
                    <a:pt x="367340" y="635092"/>
                  </a:lnTo>
                  <a:lnTo>
                    <a:pt x="412483" y="625033"/>
                  </a:lnTo>
                  <a:lnTo>
                    <a:pt x="454974" y="608872"/>
                  </a:lnTo>
                  <a:lnTo>
                    <a:pt x="494318" y="587104"/>
                  </a:lnTo>
                  <a:lnTo>
                    <a:pt x="530022" y="560223"/>
                  </a:lnTo>
                  <a:lnTo>
                    <a:pt x="561589" y="528724"/>
                  </a:lnTo>
                  <a:lnTo>
                    <a:pt x="588527" y="493103"/>
                  </a:lnTo>
                  <a:lnTo>
                    <a:pt x="610339" y="453853"/>
                  </a:lnTo>
                  <a:lnTo>
                    <a:pt x="626532" y="411469"/>
                  </a:lnTo>
                  <a:lnTo>
                    <a:pt x="636610" y="366445"/>
                  </a:lnTo>
                  <a:lnTo>
                    <a:pt x="640079" y="319277"/>
                  </a:lnTo>
                  <a:lnTo>
                    <a:pt x="636610" y="272110"/>
                  </a:lnTo>
                  <a:lnTo>
                    <a:pt x="626532" y="227086"/>
                  </a:lnTo>
                  <a:lnTo>
                    <a:pt x="610339" y="184702"/>
                  </a:lnTo>
                  <a:lnTo>
                    <a:pt x="588527" y="145452"/>
                  </a:lnTo>
                  <a:lnTo>
                    <a:pt x="561589" y="109831"/>
                  </a:lnTo>
                  <a:lnTo>
                    <a:pt x="530022" y="78332"/>
                  </a:lnTo>
                  <a:lnTo>
                    <a:pt x="494318" y="51451"/>
                  </a:lnTo>
                  <a:lnTo>
                    <a:pt x="454974" y="29683"/>
                  </a:lnTo>
                  <a:lnTo>
                    <a:pt x="412483" y="13522"/>
                  </a:lnTo>
                  <a:lnTo>
                    <a:pt x="367340" y="34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067299" y="975359"/>
              <a:ext cx="640080" cy="638810"/>
            </a:xfrm>
            <a:custGeom>
              <a:avLst/>
              <a:gdLst/>
              <a:ahLst/>
              <a:cxnLst/>
              <a:rect l="l" t="t" r="r" b="b"/>
              <a:pathLst>
                <a:path w="640079" h="638810">
                  <a:moveTo>
                    <a:pt x="0" y="319277"/>
                  </a:moveTo>
                  <a:lnTo>
                    <a:pt x="3469" y="272110"/>
                  </a:lnTo>
                  <a:lnTo>
                    <a:pt x="13547" y="227086"/>
                  </a:lnTo>
                  <a:lnTo>
                    <a:pt x="29740" y="184702"/>
                  </a:lnTo>
                  <a:lnTo>
                    <a:pt x="51552" y="145452"/>
                  </a:lnTo>
                  <a:lnTo>
                    <a:pt x="78490" y="109831"/>
                  </a:lnTo>
                  <a:lnTo>
                    <a:pt x="110057" y="78332"/>
                  </a:lnTo>
                  <a:lnTo>
                    <a:pt x="145761" y="51451"/>
                  </a:lnTo>
                  <a:lnTo>
                    <a:pt x="185105" y="29683"/>
                  </a:lnTo>
                  <a:lnTo>
                    <a:pt x="227596" y="13522"/>
                  </a:lnTo>
                  <a:lnTo>
                    <a:pt x="272739" y="3463"/>
                  </a:lnTo>
                  <a:lnTo>
                    <a:pt x="320039" y="0"/>
                  </a:lnTo>
                  <a:lnTo>
                    <a:pt x="367340" y="3463"/>
                  </a:lnTo>
                  <a:lnTo>
                    <a:pt x="412483" y="13522"/>
                  </a:lnTo>
                  <a:lnTo>
                    <a:pt x="454974" y="29683"/>
                  </a:lnTo>
                  <a:lnTo>
                    <a:pt x="494318" y="51451"/>
                  </a:lnTo>
                  <a:lnTo>
                    <a:pt x="530022" y="78332"/>
                  </a:lnTo>
                  <a:lnTo>
                    <a:pt x="561589" y="109831"/>
                  </a:lnTo>
                  <a:lnTo>
                    <a:pt x="588527" y="145452"/>
                  </a:lnTo>
                  <a:lnTo>
                    <a:pt x="610339" y="184702"/>
                  </a:lnTo>
                  <a:lnTo>
                    <a:pt x="626532" y="227086"/>
                  </a:lnTo>
                  <a:lnTo>
                    <a:pt x="636610" y="272110"/>
                  </a:lnTo>
                  <a:lnTo>
                    <a:pt x="640079" y="319277"/>
                  </a:lnTo>
                  <a:lnTo>
                    <a:pt x="636610" y="366445"/>
                  </a:lnTo>
                  <a:lnTo>
                    <a:pt x="626532" y="411469"/>
                  </a:lnTo>
                  <a:lnTo>
                    <a:pt x="610339" y="453853"/>
                  </a:lnTo>
                  <a:lnTo>
                    <a:pt x="588527" y="493103"/>
                  </a:lnTo>
                  <a:lnTo>
                    <a:pt x="561589" y="528724"/>
                  </a:lnTo>
                  <a:lnTo>
                    <a:pt x="530022" y="560223"/>
                  </a:lnTo>
                  <a:lnTo>
                    <a:pt x="494318" y="587104"/>
                  </a:lnTo>
                  <a:lnTo>
                    <a:pt x="454974" y="608872"/>
                  </a:lnTo>
                  <a:lnTo>
                    <a:pt x="412483" y="625033"/>
                  </a:lnTo>
                  <a:lnTo>
                    <a:pt x="367340" y="635092"/>
                  </a:lnTo>
                  <a:lnTo>
                    <a:pt x="320039" y="638555"/>
                  </a:lnTo>
                  <a:lnTo>
                    <a:pt x="272739" y="635092"/>
                  </a:lnTo>
                  <a:lnTo>
                    <a:pt x="227596" y="625033"/>
                  </a:lnTo>
                  <a:lnTo>
                    <a:pt x="185105" y="608872"/>
                  </a:lnTo>
                  <a:lnTo>
                    <a:pt x="145761" y="587104"/>
                  </a:lnTo>
                  <a:lnTo>
                    <a:pt x="110057" y="560223"/>
                  </a:lnTo>
                  <a:lnTo>
                    <a:pt x="78490" y="528724"/>
                  </a:lnTo>
                  <a:lnTo>
                    <a:pt x="51552" y="493103"/>
                  </a:lnTo>
                  <a:lnTo>
                    <a:pt x="29740" y="453853"/>
                  </a:lnTo>
                  <a:lnTo>
                    <a:pt x="13547" y="411469"/>
                  </a:lnTo>
                  <a:lnTo>
                    <a:pt x="3469" y="366445"/>
                  </a:lnTo>
                  <a:lnTo>
                    <a:pt x="0" y="319277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63418" y="4980890"/>
            <a:ext cx="109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prstClr val="black"/>
                </a:solidFill>
                <a:latin typeface="Arial"/>
                <a:cs typeface="Arial"/>
              </a:rPr>
              <a:t>stack</a:t>
            </a:r>
            <a:endParaRPr sz="36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1989" y="2630423"/>
            <a:ext cx="650875" cy="652780"/>
            <a:chOff x="1427988" y="2630423"/>
            <a:chExt cx="650875" cy="652780"/>
          </a:xfrm>
        </p:grpSpPr>
        <p:sp>
          <p:nvSpPr>
            <p:cNvPr id="11" name="object 11"/>
            <p:cNvSpPr/>
            <p:nvPr/>
          </p:nvSpPr>
          <p:spPr>
            <a:xfrm>
              <a:off x="1434084" y="2636519"/>
              <a:ext cx="638810" cy="640080"/>
            </a:xfrm>
            <a:custGeom>
              <a:avLst/>
              <a:gdLst/>
              <a:ahLst/>
              <a:cxnLst/>
              <a:rect l="l" t="t" r="r" b="b"/>
              <a:pathLst>
                <a:path w="638810" h="640079">
                  <a:moveTo>
                    <a:pt x="319278" y="0"/>
                  </a:moveTo>
                  <a:lnTo>
                    <a:pt x="272110" y="3469"/>
                  </a:lnTo>
                  <a:lnTo>
                    <a:pt x="227086" y="13547"/>
                  </a:lnTo>
                  <a:lnTo>
                    <a:pt x="184702" y="29740"/>
                  </a:lnTo>
                  <a:lnTo>
                    <a:pt x="145452" y="51552"/>
                  </a:lnTo>
                  <a:lnTo>
                    <a:pt x="109831" y="78490"/>
                  </a:lnTo>
                  <a:lnTo>
                    <a:pt x="78332" y="110057"/>
                  </a:lnTo>
                  <a:lnTo>
                    <a:pt x="51451" y="145761"/>
                  </a:lnTo>
                  <a:lnTo>
                    <a:pt x="29683" y="185105"/>
                  </a:lnTo>
                  <a:lnTo>
                    <a:pt x="13522" y="227596"/>
                  </a:lnTo>
                  <a:lnTo>
                    <a:pt x="3463" y="272739"/>
                  </a:lnTo>
                  <a:lnTo>
                    <a:pt x="0" y="320039"/>
                  </a:lnTo>
                  <a:lnTo>
                    <a:pt x="3463" y="367340"/>
                  </a:lnTo>
                  <a:lnTo>
                    <a:pt x="13522" y="412483"/>
                  </a:lnTo>
                  <a:lnTo>
                    <a:pt x="29683" y="454974"/>
                  </a:lnTo>
                  <a:lnTo>
                    <a:pt x="51451" y="494318"/>
                  </a:lnTo>
                  <a:lnTo>
                    <a:pt x="78332" y="530022"/>
                  </a:lnTo>
                  <a:lnTo>
                    <a:pt x="109831" y="561589"/>
                  </a:lnTo>
                  <a:lnTo>
                    <a:pt x="145452" y="588527"/>
                  </a:lnTo>
                  <a:lnTo>
                    <a:pt x="184702" y="610339"/>
                  </a:lnTo>
                  <a:lnTo>
                    <a:pt x="227086" y="626532"/>
                  </a:lnTo>
                  <a:lnTo>
                    <a:pt x="272110" y="636610"/>
                  </a:lnTo>
                  <a:lnTo>
                    <a:pt x="319278" y="640079"/>
                  </a:lnTo>
                  <a:lnTo>
                    <a:pt x="366445" y="636610"/>
                  </a:lnTo>
                  <a:lnTo>
                    <a:pt x="411469" y="626532"/>
                  </a:lnTo>
                  <a:lnTo>
                    <a:pt x="453853" y="610339"/>
                  </a:lnTo>
                  <a:lnTo>
                    <a:pt x="493103" y="588527"/>
                  </a:lnTo>
                  <a:lnTo>
                    <a:pt x="528724" y="561589"/>
                  </a:lnTo>
                  <a:lnTo>
                    <a:pt x="560223" y="530022"/>
                  </a:lnTo>
                  <a:lnTo>
                    <a:pt x="587104" y="494318"/>
                  </a:lnTo>
                  <a:lnTo>
                    <a:pt x="608872" y="454974"/>
                  </a:lnTo>
                  <a:lnTo>
                    <a:pt x="625033" y="412483"/>
                  </a:lnTo>
                  <a:lnTo>
                    <a:pt x="635092" y="367340"/>
                  </a:lnTo>
                  <a:lnTo>
                    <a:pt x="638555" y="320039"/>
                  </a:lnTo>
                  <a:lnTo>
                    <a:pt x="635092" y="272739"/>
                  </a:lnTo>
                  <a:lnTo>
                    <a:pt x="625033" y="227596"/>
                  </a:lnTo>
                  <a:lnTo>
                    <a:pt x="608872" y="185105"/>
                  </a:lnTo>
                  <a:lnTo>
                    <a:pt x="587104" y="145761"/>
                  </a:lnTo>
                  <a:lnTo>
                    <a:pt x="560223" y="110057"/>
                  </a:lnTo>
                  <a:lnTo>
                    <a:pt x="528724" y="78490"/>
                  </a:lnTo>
                  <a:lnTo>
                    <a:pt x="493103" y="51552"/>
                  </a:lnTo>
                  <a:lnTo>
                    <a:pt x="453853" y="29740"/>
                  </a:lnTo>
                  <a:lnTo>
                    <a:pt x="411469" y="13547"/>
                  </a:lnTo>
                  <a:lnTo>
                    <a:pt x="366445" y="3469"/>
                  </a:lnTo>
                  <a:lnTo>
                    <a:pt x="319278" y="0"/>
                  </a:lnTo>
                  <a:close/>
                </a:path>
              </a:pathLst>
            </a:custGeom>
            <a:solidFill>
              <a:srgbClr val="176123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434084" y="2636519"/>
              <a:ext cx="638810" cy="640080"/>
            </a:xfrm>
            <a:custGeom>
              <a:avLst/>
              <a:gdLst/>
              <a:ahLst/>
              <a:cxnLst/>
              <a:rect l="l" t="t" r="r" b="b"/>
              <a:pathLst>
                <a:path w="638810" h="640079">
                  <a:moveTo>
                    <a:pt x="0" y="320039"/>
                  </a:moveTo>
                  <a:lnTo>
                    <a:pt x="3463" y="272739"/>
                  </a:lnTo>
                  <a:lnTo>
                    <a:pt x="13522" y="227596"/>
                  </a:lnTo>
                  <a:lnTo>
                    <a:pt x="29683" y="185105"/>
                  </a:lnTo>
                  <a:lnTo>
                    <a:pt x="51451" y="145761"/>
                  </a:lnTo>
                  <a:lnTo>
                    <a:pt x="78332" y="110057"/>
                  </a:lnTo>
                  <a:lnTo>
                    <a:pt x="109831" y="78490"/>
                  </a:lnTo>
                  <a:lnTo>
                    <a:pt x="145452" y="51552"/>
                  </a:lnTo>
                  <a:lnTo>
                    <a:pt x="184702" y="29740"/>
                  </a:lnTo>
                  <a:lnTo>
                    <a:pt x="227086" y="13547"/>
                  </a:lnTo>
                  <a:lnTo>
                    <a:pt x="272110" y="3469"/>
                  </a:lnTo>
                  <a:lnTo>
                    <a:pt x="319278" y="0"/>
                  </a:lnTo>
                  <a:lnTo>
                    <a:pt x="366445" y="3469"/>
                  </a:lnTo>
                  <a:lnTo>
                    <a:pt x="411469" y="13547"/>
                  </a:lnTo>
                  <a:lnTo>
                    <a:pt x="453853" y="29740"/>
                  </a:lnTo>
                  <a:lnTo>
                    <a:pt x="493103" y="51552"/>
                  </a:lnTo>
                  <a:lnTo>
                    <a:pt x="528724" y="78490"/>
                  </a:lnTo>
                  <a:lnTo>
                    <a:pt x="560223" y="110057"/>
                  </a:lnTo>
                  <a:lnTo>
                    <a:pt x="587104" y="145761"/>
                  </a:lnTo>
                  <a:lnTo>
                    <a:pt x="608872" y="185105"/>
                  </a:lnTo>
                  <a:lnTo>
                    <a:pt x="625033" y="227596"/>
                  </a:lnTo>
                  <a:lnTo>
                    <a:pt x="635092" y="272739"/>
                  </a:lnTo>
                  <a:lnTo>
                    <a:pt x="638555" y="320039"/>
                  </a:lnTo>
                  <a:lnTo>
                    <a:pt x="635092" y="367340"/>
                  </a:lnTo>
                  <a:lnTo>
                    <a:pt x="625033" y="412483"/>
                  </a:lnTo>
                  <a:lnTo>
                    <a:pt x="608872" y="454974"/>
                  </a:lnTo>
                  <a:lnTo>
                    <a:pt x="587104" y="494318"/>
                  </a:lnTo>
                  <a:lnTo>
                    <a:pt x="560223" y="530022"/>
                  </a:lnTo>
                  <a:lnTo>
                    <a:pt x="528724" y="561589"/>
                  </a:lnTo>
                  <a:lnTo>
                    <a:pt x="493103" y="588527"/>
                  </a:lnTo>
                  <a:lnTo>
                    <a:pt x="453853" y="610339"/>
                  </a:lnTo>
                  <a:lnTo>
                    <a:pt x="411469" y="626532"/>
                  </a:lnTo>
                  <a:lnTo>
                    <a:pt x="366445" y="636610"/>
                  </a:lnTo>
                  <a:lnTo>
                    <a:pt x="319278" y="640079"/>
                  </a:lnTo>
                  <a:lnTo>
                    <a:pt x="272110" y="636610"/>
                  </a:lnTo>
                  <a:lnTo>
                    <a:pt x="227086" y="626532"/>
                  </a:lnTo>
                  <a:lnTo>
                    <a:pt x="184702" y="610339"/>
                  </a:lnTo>
                  <a:lnTo>
                    <a:pt x="145452" y="588527"/>
                  </a:lnTo>
                  <a:lnTo>
                    <a:pt x="109831" y="561589"/>
                  </a:lnTo>
                  <a:lnTo>
                    <a:pt x="78332" y="530022"/>
                  </a:lnTo>
                  <a:lnTo>
                    <a:pt x="51451" y="494318"/>
                  </a:lnTo>
                  <a:lnTo>
                    <a:pt x="29683" y="454974"/>
                  </a:lnTo>
                  <a:lnTo>
                    <a:pt x="13522" y="412483"/>
                  </a:lnTo>
                  <a:lnTo>
                    <a:pt x="3463" y="367340"/>
                  </a:lnTo>
                  <a:lnTo>
                    <a:pt x="0" y="320039"/>
                  </a:lnTo>
                  <a:close/>
                </a:path>
              </a:pathLst>
            </a:custGeom>
            <a:ln w="1219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89801" y="976326"/>
            <a:ext cx="2472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71170" algn="l"/>
                <a:tab pos="1120775" algn="l"/>
                <a:tab pos="1591945" algn="l"/>
                <a:tab pos="2205355" algn="l"/>
              </a:tabLst>
            </a:pPr>
            <a:r>
              <a:rPr sz="3600" dirty="0">
                <a:solidFill>
                  <a:srgbClr val="FF0000"/>
                </a:solidFill>
              </a:rPr>
              <a:t>+	id	</a:t>
            </a:r>
            <a:r>
              <a:rPr sz="3600" dirty="0">
                <a:solidFill>
                  <a:srgbClr val="FF0000"/>
                </a:solidFill>
                <a:latin typeface="Symbol"/>
                <a:cs typeface="Symbol"/>
              </a:rPr>
              <a:t>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FF0000"/>
                </a:solidFill>
              </a:rPr>
              <a:t>id	</a:t>
            </a:r>
            <a:r>
              <a:rPr sz="3600" spc="-5" dirty="0">
                <a:solidFill>
                  <a:srgbClr val="FF0000"/>
                </a:solidFill>
              </a:rPr>
              <a:t>$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/>
          </p:nvPr>
        </p:nvGraphicFramePr>
        <p:xfrm>
          <a:off x="2718817" y="1241297"/>
          <a:ext cx="1062355" cy="3634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7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308">
                <a:tc>
                  <a:txBody>
                    <a:bodyPr/>
                    <a:lstStyle/>
                    <a:p>
                      <a:pPr marL="52705" algn="ctr">
                        <a:lnSpc>
                          <a:spcPts val="3995"/>
                        </a:lnSpc>
                      </a:pPr>
                      <a:r>
                        <a:rPr sz="3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3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831">
                <a:tc>
                  <a:txBody>
                    <a:bodyPr/>
                    <a:lstStyle/>
                    <a:p>
                      <a:pPr marL="318770">
                        <a:lnSpc>
                          <a:spcPts val="4255"/>
                        </a:lnSpc>
                        <a:spcBef>
                          <a:spcPts val="60"/>
                        </a:spcBef>
                      </a:pPr>
                      <a:r>
                        <a:rPr sz="3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306070">
                        <a:lnSpc>
                          <a:spcPts val="4065"/>
                        </a:lnSpc>
                      </a:pPr>
                      <a:r>
                        <a:rPr sz="3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3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47625" algn="ctr">
                        <a:lnSpc>
                          <a:spcPts val="3885"/>
                        </a:lnSpc>
                      </a:pPr>
                      <a:r>
                        <a:rPr sz="3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6" name="object 12"/>
          <p:cNvSpPr txBox="1"/>
          <p:nvPr/>
        </p:nvSpPr>
        <p:spPr>
          <a:xfrm>
            <a:off x="6526358" y="5889427"/>
            <a:ext cx="4307811" cy="46423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7530" marR="325755" indent="-228600">
              <a:spcBef>
                <a:spcPts val="260"/>
              </a:spcBef>
            </a:pPr>
            <a:r>
              <a:rPr sz="2800" spc="-5" dirty="0">
                <a:latin typeface="Arial"/>
                <a:cs typeface="Arial"/>
              </a:rPr>
              <a:t>Parsing  </a:t>
            </a:r>
            <a:r>
              <a:rPr sz="2800" spc="-85" dirty="0"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17" name="object 11"/>
          <p:cNvGraphicFramePr>
            <a:graphicFrameLocks noGrp="1"/>
          </p:cNvGraphicFramePr>
          <p:nvPr>
            <p:extLst/>
          </p:nvPr>
        </p:nvGraphicFramePr>
        <p:xfrm>
          <a:off x="5925460" y="3999219"/>
          <a:ext cx="5214488" cy="1773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410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1" y="62890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80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/>
          </p:nvPr>
        </p:nvGraphicFramePr>
        <p:xfrm>
          <a:off x="332454" y="0"/>
          <a:ext cx="5371339" cy="5888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665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753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7179">
                <a:tc>
                  <a:txBody>
                    <a:bodyPr/>
                    <a:lstStyle/>
                    <a:p>
                      <a:pPr marL="5492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20" dirty="0"/>
                        <a:t>MATCHED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30" dirty="0"/>
                        <a:t>STACK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dirty="0"/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10" dirty="0"/>
                        <a:t>ACTION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73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4130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dirty="0"/>
                        <a:t>E$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id+id </a:t>
                      </a:r>
                      <a:r>
                        <a:rPr sz="1800" dirty="0"/>
                        <a:t>*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01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9019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TE’$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id+id *</a:t>
                      </a:r>
                      <a:r>
                        <a:rPr sz="1800" spc="-15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E-&gt;TE’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01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9584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FT’E’$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id+id *</a:t>
                      </a:r>
                      <a:r>
                        <a:rPr sz="1800" spc="-15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10" dirty="0"/>
                        <a:t>T-&gt;FT’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31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</a:t>
                      </a:r>
                      <a:r>
                        <a:rPr sz="1800" spc="-35" dirty="0"/>
                        <a:t> </a:t>
                      </a:r>
                      <a:r>
                        <a:rPr sz="1800" spc="-5" dirty="0"/>
                        <a:t>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id+id *</a:t>
                      </a:r>
                      <a:r>
                        <a:rPr sz="1800" spc="-15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F-&gt;id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7307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10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022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+id * 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Match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10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933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+id * 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T’-&gt;Є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7307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10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9584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+TE’$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+id *</a:t>
                      </a:r>
                      <a:r>
                        <a:rPr sz="1800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E’-&gt;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+TE’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2677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id+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9019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TE’$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id *</a:t>
                      </a:r>
                      <a:r>
                        <a:rPr sz="1800" spc="-20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/>
                        <a:t>Match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+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22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id+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9584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FT’E’$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/>
                        <a:t>id *</a:t>
                      </a:r>
                      <a:r>
                        <a:rPr sz="1800" spc="-20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20" dirty="0"/>
                        <a:t>T-&gt;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FT’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9730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386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 *</a:t>
                      </a:r>
                      <a:r>
                        <a:rPr sz="1800" spc="-20" dirty="0"/>
                        <a:t> </a:t>
                      </a: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F-&gt;</a:t>
                      </a:r>
                      <a:r>
                        <a:rPr sz="1800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02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* 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Match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9730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31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/>
                        <a:t>*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FT’E’$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* 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/>
                        <a:t>T’-&gt;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*FT’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*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640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FT’E’$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949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Match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*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9725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*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386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949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F-&gt;</a:t>
                      </a:r>
                      <a:r>
                        <a:rPr sz="1800" dirty="0"/>
                        <a:t> </a:t>
                      </a:r>
                      <a:r>
                        <a:rPr sz="1800" spc="-10" dirty="0"/>
                        <a:t>id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9723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 *</a:t>
                      </a:r>
                      <a:r>
                        <a:rPr sz="1800" spc="-15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02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T’E’$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5781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/>
                        <a:t>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Match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97243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id+id </a:t>
                      </a:r>
                      <a:r>
                        <a:rPr sz="1800" dirty="0"/>
                        <a:t>*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933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/>
                        <a:t>E’$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5717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/>
                        <a:t>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" dirty="0"/>
                        <a:t>T’-&gt;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Є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97243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5" dirty="0"/>
                        <a:t>id+id *</a:t>
                      </a:r>
                      <a:r>
                        <a:rPr sz="1800" spc="-15" dirty="0"/>
                        <a:t> </a:t>
                      </a:r>
                      <a:r>
                        <a:rPr sz="1800" spc="-5" dirty="0"/>
                        <a:t>id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7335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/>
                        <a:t>$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7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5781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/>
                        <a:t>$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5" dirty="0"/>
                        <a:t>E’-&gt;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Є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  <p:graphicFrame>
        <p:nvGraphicFramePr>
          <p:cNvPr id="4" name="object 11"/>
          <p:cNvGraphicFramePr>
            <a:graphicFrameLocks noGrp="1"/>
          </p:cNvGraphicFramePr>
          <p:nvPr>
            <p:extLst/>
          </p:nvPr>
        </p:nvGraphicFramePr>
        <p:xfrm>
          <a:off x="6338414" y="2851355"/>
          <a:ext cx="5214488" cy="181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90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5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0"/>
                        </a:lnSpc>
                      </a:pP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</a:t>
                      </a: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TE'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84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6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301">
                <a:tc>
                  <a:txBody>
                    <a:bodyPr/>
                    <a:lstStyle/>
                    <a:p>
                      <a:pPr marL="91440">
                        <a:lnSpc>
                          <a:spcPts val="2465"/>
                        </a:lnSpc>
                      </a:pPr>
                      <a:r>
                        <a:rPr sz="1600" b="1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0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600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*</a:t>
                      </a: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FT'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i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T'</a:t>
                      </a:r>
                      <a:r>
                        <a:rPr sz="1600" i="1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i="1" spc="-25" dirty="0">
                          <a:solidFill>
                            <a:srgbClr val="FF00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1600">
                        <a:solidFill>
                          <a:srgbClr val="FF0000"/>
                        </a:solidFill>
                        <a:latin typeface="Symbol"/>
                        <a:cs typeface="Symbol"/>
                      </a:endParaRPr>
                    </a:p>
                  </a:txBody>
                  <a:tcPr marL="0" marR="0" marT="26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2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6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u="heavy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600" i="1" spc="-1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0491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634" y="292778"/>
            <a:ext cx="913193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80" dirty="0" smtClean="0">
                <a:solidFill>
                  <a:srgbClr val="FF0000"/>
                </a:solidFill>
                <a:latin typeface="Bell MT" panose="02020503060305020303" pitchFamily="18" charset="0"/>
              </a:rPr>
              <a:t>Non-recursive Predictive</a:t>
            </a:r>
            <a:r>
              <a:rPr lang="en-US" spc="540" dirty="0" smtClean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en-US" spc="175" dirty="0" smtClean="0">
                <a:solidFill>
                  <a:srgbClr val="FF0000"/>
                </a:solidFill>
                <a:latin typeface="Bell MT" panose="02020503060305020303" pitchFamily="18" charset="0"/>
              </a:rPr>
              <a:t>Parsing</a:t>
            </a:r>
            <a:endParaRPr lang="en-US" spc="175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303" y="1369593"/>
            <a:ext cx="969899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0A082D"/>
              </a:buClr>
              <a:buSzTx/>
              <a:buFont typeface="Arial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non-recursive </a:t>
            </a:r>
            <a:r>
              <a:rPr kumimoji="0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predictive </a:t>
            </a: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parser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an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efficient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way of implementing by handling  the stack of activation records</a:t>
            </a:r>
            <a:r>
              <a:rPr kumimoji="0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explicitly.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24114" y="2394744"/>
            <a:ext cx="4989830" cy="3794760"/>
            <a:chOff x="3144011" y="2974848"/>
            <a:chExt cx="4989830" cy="3794760"/>
          </a:xfrm>
        </p:grpSpPr>
        <p:sp>
          <p:nvSpPr>
            <p:cNvPr id="5" name="object 5"/>
            <p:cNvSpPr/>
            <p:nvPr/>
          </p:nvSpPr>
          <p:spPr>
            <a:xfrm>
              <a:off x="3144011" y="2974848"/>
              <a:ext cx="4989576" cy="37947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336035" y="3166872"/>
              <a:ext cx="4605527" cy="34107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043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5434</Words>
  <Application>Microsoft Office PowerPoint</Application>
  <PresentationFormat>Custom</PresentationFormat>
  <Paragraphs>1557</Paragraphs>
  <Slides>84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Office Theme</vt:lpstr>
      <vt:lpstr>1_Office Theme</vt:lpstr>
      <vt:lpstr>2_Office Theme</vt:lpstr>
      <vt:lpstr>Slide 1</vt:lpstr>
      <vt:lpstr>Parsing</vt:lpstr>
      <vt:lpstr>Parsing Techniques</vt:lpstr>
      <vt:lpstr>Slide 4</vt:lpstr>
      <vt:lpstr>Slide 5</vt:lpstr>
      <vt:lpstr>Top Down Parsing</vt:lpstr>
      <vt:lpstr>Top Down Parsing</vt:lpstr>
      <vt:lpstr>Example for Top Down Parsing</vt:lpstr>
      <vt:lpstr>Slide 9</vt:lpstr>
      <vt:lpstr>Slide 10</vt:lpstr>
      <vt:lpstr>Slide 11</vt:lpstr>
      <vt:lpstr>Problems with Top-down  Parsing</vt:lpstr>
      <vt:lpstr>Example of Backtracking</vt:lpstr>
      <vt:lpstr>Slide 14</vt:lpstr>
      <vt:lpstr>Slide 15</vt:lpstr>
      <vt:lpstr>Recursive Descent Parsing</vt:lpstr>
      <vt:lpstr>Recursive Descent Parsing - Example</vt:lpstr>
      <vt:lpstr>Recursive Descent Parsing - Example</vt:lpstr>
      <vt:lpstr>Predictive Parsing</vt:lpstr>
      <vt:lpstr>Predictive LL(1) Parsing</vt:lpstr>
      <vt:lpstr>Non-Recursive Predictive Parsing</vt:lpstr>
      <vt:lpstr>Constructing Predictive Parser</vt:lpstr>
      <vt:lpstr>Slide 23</vt:lpstr>
      <vt:lpstr>Removing Unreachable Productions</vt:lpstr>
      <vt:lpstr>Algorithm to remove unreachable production</vt:lpstr>
      <vt:lpstr>Slide 26</vt:lpstr>
      <vt:lpstr>Eliminating Ambiguity</vt:lpstr>
      <vt:lpstr>Example:</vt:lpstr>
      <vt:lpstr>Unambiguous Grammar:</vt:lpstr>
      <vt:lpstr>FIRST and  FOLLOW</vt:lpstr>
      <vt:lpstr>FIRST</vt:lpstr>
      <vt:lpstr>FIRST</vt:lpstr>
      <vt:lpstr>Slide 33</vt:lpstr>
      <vt:lpstr>Slide 34</vt:lpstr>
      <vt:lpstr>FOLLOW</vt:lpstr>
      <vt:lpstr>FOLLOW</vt:lpstr>
      <vt:lpstr>EXAMPLE OF FIRST AND FOLLOW</vt:lpstr>
      <vt:lpstr>EXAMPLE OF FIRST AND FOLLOW</vt:lpstr>
      <vt:lpstr>Slide 39</vt:lpstr>
      <vt:lpstr>Slide 40</vt:lpstr>
      <vt:lpstr>Slide 41</vt:lpstr>
      <vt:lpstr>Slide 42</vt:lpstr>
      <vt:lpstr>Start with an empty parsing table; the rows are  non-terminals and the columns are terminals.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Current production:</vt:lpstr>
      <vt:lpstr>Slide 59</vt:lpstr>
      <vt:lpstr>Slide 60</vt:lpstr>
      <vt:lpstr>TABLE:  FIRST &amp; FOLLOW</vt:lpstr>
      <vt:lpstr>TABLE:  FIRST &amp; FOLLOW</vt:lpstr>
      <vt:lpstr>TABLE:  FIRST &amp; FOLLOW</vt:lpstr>
      <vt:lpstr>TABLE:  FIRST &amp; FOLLOW</vt:lpstr>
      <vt:lpstr>Slide 65</vt:lpstr>
      <vt:lpstr>TABLE:  FIRST &amp; FOLLOW</vt:lpstr>
      <vt:lpstr>TABLE:  FIRST &amp; FOLLOW</vt:lpstr>
      <vt:lpstr>A Grammar which is not LL(1)</vt:lpstr>
      <vt:lpstr>Properties of LL(1) Grammars </vt:lpstr>
      <vt:lpstr>Example of Predictive Parsing  LL(1) Table</vt:lpstr>
      <vt:lpstr>LL(1) Parser – Parser Actions</vt:lpstr>
      <vt:lpstr>STACK Implementation</vt:lpstr>
      <vt:lpstr>LL(1) Stack</vt:lpstr>
      <vt:lpstr>Slide 74</vt:lpstr>
      <vt:lpstr>id + id  id $</vt:lpstr>
      <vt:lpstr>id + id  id $</vt:lpstr>
      <vt:lpstr>id + id  id $</vt:lpstr>
      <vt:lpstr>id + id  id $</vt:lpstr>
      <vt:lpstr>id + id  id $</vt:lpstr>
      <vt:lpstr>+ id  id $</vt:lpstr>
      <vt:lpstr>+ id  id $</vt:lpstr>
      <vt:lpstr>+ id  id $</vt:lpstr>
      <vt:lpstr>Slide 83</vt:lpstr>
      <vt:lpstr>Non-recursive Predictive Parsing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Barathy</dc:creator>
  <cp:lastModifiedBy>Staff</cp:lastModifiedBy>
  <cp:revision>17</cp:revision>
  <dcterms:created xsi:type="dcterms:W3CDTF">2020-11-05T08:14:34Z</dcterms:created>
  <dcterms:modified xsi:type="dcterms:W3CDTF">2021-08-18T09:49:28Z</dcterms:modified>
</cp:coreProperties>
</file>