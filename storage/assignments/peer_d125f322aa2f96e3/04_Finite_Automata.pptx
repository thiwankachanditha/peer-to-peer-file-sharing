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41955-D43E-4254-B26A-A57B2BDFDAD0}" type="datetimeFigureOut">
              <a:rPr lang="en-US" smtClean="0"/>
              <a:t>7/2/2021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343D0-81B1-45C4-AFDC-4BD49E3C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98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6BB4C4-DEC3-4255-9E57-B6DC0B6F208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9611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344E02-09B6-4B13-B1CE-A32A672798E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0017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740BF1-4D6B-4617-8CB9-DE9209C44C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52334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D2608C-CB0C-4B3C-9573-085346BD13D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78452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2FA94F-E18B-44A3-84C4-BD7667327EF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59014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2D4D96-DE9E-442E-ABE4-BE487D2234C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66060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31C386-F567-4DDF-BFD5-19FC6259C2F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09882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1519F1-8BA4-4226-9593-64A04EB3592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9780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9008DC-02DC-41AE-9AAB-6B0ED5C1D9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1011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B4E819-40C1-4FF6-91CC-3C0B2738A32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997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8267FB-F74F-4F2D-BC21-84C094D0854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19379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FE1A66-8600-483C-8BB4-CA28B19480C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56745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418611-0732-4909-828D-AFF82AC89E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04972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DBF5F9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DBF5F9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8A245B-9F27-4771-8D2D-F41E77E5DB3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D1EAEE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D1EAEE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859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E0D5FE-AA31-4BA4-9F1E-F2EEFA9FED4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45C75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45C75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48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DBF5F9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DBF5F9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7E2A73-4E28-47BB-B327-A6D44344940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D1EAEE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D1EAEE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921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0341E9-79D2-4270-942A-4F321DCB147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45C75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45C75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86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DED91C-0241-4856-BC6C-3091759F4ED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45C75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45C75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684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9B04DF-105B-4597-9C21-59DEF3CB315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45C75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45C75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1257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19A662-6E35-40A2-A2A9-2CEC245FFF8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45C75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45C75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94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5DA00F-7D61-45B6-B64F-43511B0EAF6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45C75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45C75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9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838F9C-443A-480D-91EB-A13E0011DCD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45C75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45C75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72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F2D4D1-9C8A-40CB-8B15-B98BC44FB7A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45C75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45C75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4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CF0818-D621-4CD8-ADBE-A556C1FB5F0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45C75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45C75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47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Constantia"/>
              <a:ea typeface="+mn-ea"/>
              <a:cs typeface="Arial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9A5E51-6066-4FFF-96F1-F930D06B9EF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45C75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45C75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25399" y="203200"/>
            <a:ext cx="12240684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Arial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0823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7271" y="2395837"/>
            <a:ext cx="78860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An Introduction to Finite Automata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41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-366069"/>
            <a:ext cx="10972800" cy="1143000"/>
          </a:xfrm>
        </p:spPr>
        <p:txBody>
          <a:bodyPr/>
          <a:lstStyle/>
          <a:p>
            <a:r>
              <a:rPr lang="en-US" altLang="en-US" sz="4000" b="1" dirty="0" smtClean="0">
                <a:solidFill>
                  <a:srgbClr val="FF0000"/>
                </a:solidFill>
              </a:rPr>
              <a:t>Finite Automata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70191"/>
            <a:ext cx="10972800" cy="5099950"/>
          </a:xfrm>
        </p:spPr>
        <p:txBody>
          <a:bodyPr/>
          <a:lstStyle/>
          <a:p>
            <a:r>
              <a:rPr lang="en-US" dirty="0"/>
              <a:t>A finite automaton is, </a:t>
            </a:r>
            <a:r>
              <a:rPr lang="en-US" dirty="0" smtClean="0"/>
              <a:t>a </a:t>
            </a:r>
            <a:r>
              <a:rPr lang="en-US" dirty="0"/>
              <a:t>machine that has a finite </a:t>
            </a:r>
            <a:r>
              <a:rPr lang="en-US" dirty="0" smtClean="0"/>
              <a:t>number of </a:t>
            </a:r>
            <a:r>
              <a:rPr lang="en-US" dirty="0"/>
              <a:t>states and a finite number of transitions between these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 transition </a:t>
            </a:r>
            <a:r>
              <a:rPr lang="en-US" dirty="0" smtClean="0"/>
              <a:t>between states </a:t>
            </a:r>
            <a:r>
              <a:rPr lang="en-US" dirty="0"/>
              <a:t>is usually labelled by a character from the input alphabet, but we will </a:t>
            </a:r>
            <a:r>
              <a:rPr lang="en-US" dirty="0" smtClean="0"/>
              <a:t>also use </a:t>
            </a:r>
            <a:r>
              <a:rPr lang="en-US" dirty="0"/>
              <a:t>transitions marked with </a:t>
            </a:r>
            <a:r>
              <a:rPr lang="en-US" altLang="en-US" sz="2400" dirty="0" smtClean="0">
                <a:solidFill>
                  <a:prstClr val="blac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</a:t>
            </a:r>
            <a:r>
              <a:rPr lang="en-US" dirty="0" smtClean="0"/>
              <a:t>, </a:t>
            </a:r>
            <a:r>
              <a:rPr lang="en-US" dirty="0"/>
              <a:t>the so-called </a:t>
            </a:r>
            <a:r>
              <a:rPr lang="en-US" b="1" dirty="0"/>
              <a:t>epsilon transitions</a:t>
            </a:r>
            <a:r>
              <a:rPr lang="en-US" dirty="0" smtClean="0"/>
              <a:t>.</a:t>
            </a:r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597020" y="3345025"/>
            <a:ext cx="830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epsilon transitions </a:t>
            </a:r>
            <a:r>
              <a:rPr kumimoji="0" 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 or </a:t>
            </a:r>
            <a:r>
              <a:rPr kumimoji="0" lang="en-US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  <a:sym typeface="Symbol" panose="05050102010706020507" pitchFamily="18" charset="2"/>
              </a:rPr>
              <a:t>-moves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4654420" y="3833975"/>
            <a:ext cx="2819400" cy="958850"/>
            <a:chOff x="2688" y="2948"/>
            <a:chExt cx="1776" cy="604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2688" y="3168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4080" y="3168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072" y="3218"/>
              <a:ext cx="1024" cy="94"/>
            </a:xfrm>
            <a:custGeom>
              <a:avLst/>
              <a:gdLst>
                <a:gd name="T0" fmla="*/ 0 w 1024"/>
                <a:gd name="T1" fmla="*/ 94 h 94"/>
                <a:gd name="T2" fmla="*/ 512 w 1024"/>
                <a:gd name="T3" fmla="*/ 1 h 94"/>
                <a:gd name="T4" fmla="*/ 1024 w 1024"/>
                <a:gd name="T5" fmla="*/ 91 h 94"/>
                <a:gd name="T6" fmla="*/ 0 60000 65536"/>
                <a:gd name="T7" fmla="*/ 0 60000 65536"/>
                <a:gd name="T8" fmla="*/ 0 60000 65536"/>
                <a:gd name="T9" fmla="*/ 0 w 1024"/>
                <a:gd name="T10" fmla="*/ 0 h 94"/>
                <a:gd name="T11" fmla="*/ 1024 w 1024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4" h="94">
                  <a:moveTo>
                    <a:pt x="0" y="94"/>
                  </a:moveTo>
                  <a:cubicBezTo>
                    <a:pt x="85" y="78"/>
                    <a:pt x="341" y="2"/>
                    <a:pt x="512" y="1"/>
                  </a:cubicBezTo>
                  <a:cubicBezTo>
                    <a:pt x="683" y="0"/>
                    <a:pt x="917" y="72"/>
                    <a:pt x="1024" y="9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552" y="2948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2597020" y="5097625"/>
            <a:ext cx="8305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Machine can move from state A to state B without reading input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65545" y="4335625"/>
            <a:ext cx="28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6836" y="4359309"/>
            <a:ext cx="28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3575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67273" y="1282873"/>
            <a:ext cx="751425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A finite automaton consists of</a:t>
            </a:r>
          </a:p>
          <a:p>
            <a:pPr marL="730250" marR="0" lvl="2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An input alphabet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  <a:sym typeface="Symbol" panose="05050102010706020507" pitchFamily="18" charset="2"/>
              </a:rPr>
              <a:t></a:t>
            </a:r>
          </a:p>
          <a:p>
            <a:pPr marL="730250" marR="0" lvl="2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  <a:sym typeface="Symbol" panose="05050102010706020507" pitchFamily="18" charset="2"/>
              </a:rPr>
              <a:t>A set of states S</a:t>
            </a:r>
          </a:p>
          <a:p>
            <a:pPr marL="730250" marR="0" lvl="2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  <a:sym typeface="Symbol" panose="05050102010706020507" pitchFamily="18" charset="2"/>
              </a:rPr>
              <a:t>A start state n</a:t>
            </a:r>
            <a:endParaRPr kumimoji="0" lang="en-US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730250" marR="0" lvl="2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  <a:sym typeface="Symbol" panose="05050102010706020507" pitchFamily="18" charset="2"/>
              </a:rPr>
              <a:t>A set of accepting states F  S</a:t>
            </a:r>
          </a:p>
          <a:p>
            <a:pPr marL="730250" marR="0" lvl="2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  <a:sym typeface="Symbol" panose="05050102010706020507" pitchFamily="18" charset="2"/>
              </a:rPr>
              <a:t>A set of transitions  state input state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157585" y="-449457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Finite</a:t>
            </a:r>
            <a:r>
              <a:rPr kumimoji="0" lang="en-US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</a:t>
            </a:r>
            <a:r>
              <a:rPr kumimoji="0" lang="en-US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Automata</a:t>
            </a:r>
          </a:p>
        </p:txBody>
      </p:sp>
    </p:spTree>
    <p:extLst>
      <p:ext uri="{BB962C8B-B14F-4D97-AF65-F5344CB8AC3E}">
        <p14:creationId xmlns:p14="http://schemas.microsoft.com/office/powerpoint/2010/main" val="394972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01386" y="-492125"/>
            <a:ext cx="10515600" cy="1325563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A Finite Automaton…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Has some number of states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Has a start state and at least one end state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Accepts input that advances it through its states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Can be Deterministic (DFA) or Non-Deterministic (NFA)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endParaRPr kumimoji="0" lang="en-US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/>
              <a:defRPr/>
            </a:pPr>
            <a:endParaRPr kumimoji="0" lang="en-US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90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273698" y="-246872"/>
            <a:ext cx="10972800" cy="11430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Finite Automata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35368"/>
            <a:ext cx="10972800" cy="4389437"/>
          </a:xfrm>
        </p:spPr>
        <p:txBody>
          <a:bodyPr/>
          <a:lstStyle/>
          <a:p>
            <a:r>
              <a:rPr lang="en-US" altLang="en-US" sz="3200" dirty="0" smtClean="0"/>
              <a:t>Transition</a:t>
            </a:r>
          </a:p>
          <a:p>
            <a:pPr algn="ctr">
              <a:buFontTx/>
              <a:buNone/>
            </a:pPr>
            <a:r>
              <a:rPr lang="en-US" altLang="en-US" sz="3200" dirty="0" smtClean="0">
                <a:solidFill>
                  <a:schemeClr val="accent2"/>
                </a:solidFill>
              </a:rPr>
              <a:t>s</a:t>
            </a:r>
            <a:r>
              <a:rPr lang="en-US" altLang="en-US" sz="3200" baseline="-25000" dirty="0" smtClean="0">
                <a:solidFill>
                  <a:schemeClr val="accent2"/>
                </a:solidFill>
              </a:rPr>
              <a:t>1</a:t>
            </a:r>
            <a:r>
              <a:rPr lang="en-US" altLang="en-US" sz="3200" dirty="0" smtClean="0">
                <a:solidFill>
                  <a:schemeClr val="accent2"/>
                </a:solidFill>
              </a:rPr>
              <a:t> </a:t>
            </a:r>
            <a:r>
              <a:rPr lang="en-US" altLang="en-US" sz="3200" dirty="0" smtClean="0">
                <a:solidFill>
                  <a:schemeClr val="accent2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3200" baseline="30000" dirty="0" smtClean="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en-US" sz="3200" dirty="0" smtClean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en-US" sz="3200" dirty="0" smtClean="0">
                <a:solidFill>
                  <a:schemeClr val="accent2"/>
                </a:solidFill>
              </a:rPr>
              <a:t>s</a:t>
            </a:r>
            <a:r>
              <a:rPr lang="en-US" altLang="en-US" sz="3200" baseline="-25000" dirty="0" smtClean="0">
                <a:solidFill>
                  <a:schemeClr val="accent2"/>
                </a:solidFill>
              </a:rPr>
              <a:t>2</a:t>
            </a:r>
          </a:p>
          <a:p>
            <a:r>
              <a:rPr lang="en-US" altLang="en-US" sz="3200" dirty="0" smtClean="0"/>
              <a:t>Is read</a:t>
            </a:r>
          </a:p>
          <a:p>
            <a:pPr lvl="1" algn="ctr">
              <a:buFontTx/>
              <a:buNone/>
            </a:pPr>
            <a:r>
              <a:rPr lang="en-US" altLang="en-US" sz="3200" dirty="0"/>
              <a:t>In state </a:t>
            </a:r>
            <a:r>
              <a:rPr lang="en-US" altLang="en-US" sz="3200" dirty="0">
                <a:solidFill>
                  <a:schemeClr val="accent2"/>
                </a:solidFill>
              </a:rPr>
              <a:t>s</a:t>
            </a:r>
            <a:r>
              <a:rPr lang="en-US" altLang="en-US" sz="3200" baseline="-25000" dirty="0">
                <a:solidFill>
                  <a:schemeClr val="accent2"/>
                </a:solidFill>
              </a:rPr>
              <a:t>1</a:t>
            </a:r>
            <a:r>
              <a:rPr lang="en-US" altLang="en-US" sz="3200" dirty="0"/>
              <a:t> on input “</a:t>
            </a:r>
            <a:r>
              <a:rPr lang="en-US" altLang="en-US" sz="3200" dirty="0">
                <a:solidFill>
                  <a:schemeClr val="accent2"/>
                </a:solidFill>
              </a:rPr>
              <a:t>a”</a:t>
            </a:r>
            <a:r>
              <a:rPr lang="en-US" altLang="en-US" sz="3200" dirty="0"/>
              <a:t> go to state  </a:t>
            </a:r>
            <a:r>
              <a:rPr lang="en-US" altLang="en-US" sz="3200" dirty="0">
                <a:solidFill>
                  <a:schemeClr val="accent2"/>
                </a:solidFill>
              </a:rPr>
              <a:t>s</a:t>
            </a:r>
            <a:r>
              <a:rPr lang="en-US" altLang="en-US" sz="3200" baseline="-25000" dirty="0">
                <a:solidFill>
                  <a:schemeClr val="accent2"/>
                </a:solidFill>
              </a:rPr>
              <a:t>2</a:t>
            </a:r>
          </a:p>
          <a:p>
            <a:pPr lvl="1" algn="ctr">
              <a:buFontTx/>
              <a:buNone/>
            </a:pPr>
            <a:endParaRPr lang="en-US" altLang="en-US" sz="3200" baseline="-25000" dirty="0"/>
          </a:p>
          <a:p>
            <a:r>
              <a:rPr lang="en-US" altLang="en-US" sz="3200" dirty="0" smtClean="0"/>
              <a:t>If end of input</a:t>
            </a:r>
          </a:p>
          <a:p>
            <a:pPr lvl="1"/>
            <a:r>
              <a:rPr lang="en-US" altLang="en-US" sz="3200" dirty="0" smtClean="0"/>
              <a:t>If in accepting state =&gt; accept,           </a:t>
            </a:r>
            <a:r>
              <a:rPr lang="en-US" altLang="en-US" sz="3200" dirty="0" err="1" smtClean="0"/>
              <a:t>othewise</a:t>
            </a:r>
            <a:r>
              <a:rPr lang="en-US" altLang="en-US" sz="3200" dirty="0" smtClean="0"/>
              <a:t> =&gt; reject</a:t>
            </a:r>
          </a:p>
          <a:p>
            <a:r>
              <a:rPr lang="en-US" altLang="en-US" sz="3200" dirty="0" smtClean="0"/>
              <a:t>If no transition possible =&gt; reject</a:t>
            </a:r>
          </a:p>
        </p:txBody>
      </p:sp>
    </p:spTree>
    <p:extLst>
      <p:ext uri="{BB962C8B-B14F-4D97-AF65-F5344CB8AC3E}">
        <p14:creationId xmlns:p14="http://schemas.microsoft.com/office/powerpoint/2010/main" val="240979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-153987"/>
            <a:ext cx="10972800" cy="11430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Finite Automata State Graphs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05800" cy="533400"/>
          </a:xfrm>
        </p:spPr>
        <p:txBody>
          <a:bodyPr/>
          <a:lstStyle/>
          <a:p>
            <a:r>
              <a:rPr lang="en-US" altLang="en-US" smtClean="0"/>
              <a:t>A state</a:t>
            </a:r>
          </a:p>
        </p:txBody>
      </p:sp>
      <p:sp>
        <p:nvSpPr>
          <p:cNvPr id="32773" name="Oval 4"/>
          <p:cNvSpPr>
            <a:spLocks noChangeArrowheads="1"/>
          </p:cNvSpPr>
          <p:nvPr/>
        </p:nvSpPr>
        <p:spPr bwMode="auto">
          <a:xfrm>
            <a:off x="69342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auto">
          <a:xfrm>
            <a:off x="1981200" y="2667000"/>
            <a:ext cx="8305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The start state</a:t>
            </a:r>
          </a:p>
        </p:txBody>
      </p:sp>
      <p:grpSp>
        <p:nvGrpSpPr>
          <p:cNvPr id="32775" name="Group 6"/>
          <p:cNvGrpSpPr>
            <a:grpSpLocks/>
          </p:cNvGrpSpPr>
          <p:nvPr/>
        </p:nvGrpSpPr>
        <p:grpSpPr bwMode="auto">
          <a:xfrm>
            <a:off x="6553200" y="2667000"/>
            <a:ext cx="990600" cy="685800"/>
            <a:chOff x="3264" y="1488"/>
            <a:chExt cx="624" cy="432"/>
          </a:xfrm>
        </p:grpSpPr>
        <p:sp>
          <p:nvSpPr>
            <p:cNvPr id="32786" name="Oval 7"/>
            <p:cNvSpPr>
              <a:spLocks noChangeArrowheads="1"/>
            </p:cNvSpPr>
            <p:nvPr/>
          </p:nvSpPr>
          <p:spPr bwMode="auto">
            <a:xfrm>
              <a:off x="3504" y="1488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2787" name="Line 8"/>
            <p:cNvSpPr>
              <a:spLocks noChangeShapeType="1"/>
            </p:cNvSpPr>
            <p:nvPr/>
          </p:nvSpPr>
          <p:spPr bwMode="auto">
            <a:xfrm flipV="1">
              <a:off x="3264" y="1776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2776" name="Rectangle 9"/>
          <p:cNvSpPr>
            <a:spLocks noChangeArrowheads="1"/>
          </p:cNvSpPr>
          <p:nvPr/>
        </p:nvSpPr>
        <p:spPr bwMode="auto">
          <a:xfrm>
            <a:off x="1905000" y="3733800"/>
            <a:ext cx="8305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An accepting state</a:t>
            </a:r>
          </a:p>
        </p:txBody>
      </p:sp>
      <p:grpSp>
        <p:nvGrpSpPr>
          <p:cNvPr id="32777" name="Group 10"/>
          <p:cNvGrpSpPr>
            <a:grpSpLocks/>
          </p:cNvGrpSpPr>
          <p:nvPr/>
        </p:nvGrpSpPr>
        <p:grpSpPr bwMode="auto">
          <a:xfrm>
            <a:off x="6858000" y="3657600"/>
            <a:ext cx="762000" cy="762000"/>
            <a:chOff x="3264" y="2112"/>
            <a:chExt cx="480" cy="480"/>
          </a:xfrm>
        </p:grpSpPr>
        <p:sp>
          <p:nvSpPr>
            <p:cNvPr id="32784" name="Oval 11"/>
            <p:cNvSpPr>
              <a:spLocks noChangeArrowheads="1"/>
            </p:cNvSpPr>
            <p:nvPr/>
          </p:nvSpPr>
          <p:spPr bwMode="auto">
            <a:xfrm>
              <a:off x="3312" y="2160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2785" name="Oval 12"/>
            <p:cNvSpPr>
              <a:spLocks noChangeArrowheads="1"/>
            </p:cNvSpPr>
            <p:nvPr/>
          </p:nvSpPr>
          <p:spPr bwMode="auto">
            <a:xfrm>
              <a:off x="3264" y="2112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2778" name="Rectangle 13"/>
          <p:cNvSpPr>
            <a:spLocks noChangeArrowheads="1"/>
          </p:cNvSpPr>
          <p:nvPr/>
        </p:nvSpPr>
        <p:spPr bwMode="auto">
          <a:xfrm>
            <a:off x="1905000" y="5029200"/>
            <a:ext cx="8305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A transition</a:t>
            </a:r>
          </a:p>
        </p:txBody>
      </p:sp>
      <p:grpSp>
        <p:nvGrpSpPr>
          <p:cNvPr id="32779" name="Group 14"/>
          <p:cNvGrpSpPr>
            <a:grpSpLocks/>
          </p:cNvGrpSpPr>
          <p:nvPr/>
        </p:nvGrpSpPr>
        <p:grpSpPr bwMode="auto">
          <a:xfrm>
            <a:off x="5791200" y="4724400"/>
            <a:ext cx="2819400" cy="914400"/>
            <a:chOff x="2688" y="2976"/>
            <a:chExt cx="1776" cy="576"/>
          </a:xfrm>
        </p:grpSpPr>
        <p:sp>
          <p:nvSpPr>
            <p:cNvPr id="32780" name="Oval 15"/>
            <p:cNvSpPr>
              <a:spLocks noChangeArrowheads="1"/>
            </p:cNvSpPr>
            <p:nvPr/>
          </p:nvSpPr>
          <p:spPr bwMode="auto">
            <a:xfrm>
              <a:off x="2688" y="3168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2781" name="Oval 16"/>
            <p:cNvSpPr>
              <a:spLocks noChangeArrowheads="1"/>
            </p:cNvSpPr>
            <p:nvPr/>
          </p:nvSpPr>
          <p:spPr bwMode="auto">
            <a:xfrm>
              <a:off x="4080" y="3168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2782" name="Freeform 17"/>
            <p:cNvSpPr>
              <a:spLocks/>
            </p:cNvSpPr>
            <p:nvPr/>
          </p:nvSpPr>
          <p:spPr bwMode="auto">
            <a:xfrm>
              <a:off x="3072" y="3218"/>
              <a:ext cx="1024" cy="94"/>
            </a:xfrm>
            <a:custGeom>
              <a:avLst/>
              <a:gdLst>
                <a:gd name="T0" fmla="*/ 0 w 1024"/>
                <a:gd name="T1" fmla="*/ 94 h 94"/>
                <a:gd name="T2" fmla="*/ 512 w 1024"/>
                <a:gd name="T3" fmla="*/ 1 h 94"/>
                <a:gd name="T4" fmla="*/ 1024 w 1024"/>
                <a:gd name="T5" fmla="*/ 91 h 94"/>
                <a:gd name="T6" fmla="*/ 0 60000 65536"/>
                <a:gd name="T7" fmla="*/ 0 60000 65536"/>
                <a:gd name="T8" fmla="*/ 0 60000 65536"/>
                <a:gd name="T9" fmla="*/ 0 w 1024"/>
                <a:gd name="T10" fmla="*/ 0 h 94"/>
                <a:gd name="T11" fmla="*/ 1024 w 1024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4" h="94">
                  <a:moveTo>
                    <a:pt x="0" y="94"/>
                  </a:moveTo>
                  <a:cubicBezTo>
                    <a:pt x="85" y="78"/>
                    <a:pt x="341" y="2"/>
                    <a:pt x="512" y="1"/>
                  </a:cubicBezTo>
                  <a:cubicBezTo>
                    <a:pt x="683" y="0"/>
                    <a:pt x="917" y="72"/>
                    <a:pt x="1024" y="9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2783" name="Text Box 18"/>
            <p:cNvSpPr txBox="1">
              <a:spLocks noChangeArrowheads="1"/>
            </p:cNvSpPr>
            <p:nvPr/>
          </p:nvSpPr>
          <p:spPr bwMode="auto">
            <a:xfrm>
              <a:off x="3552" y="2976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979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228600"/>
            <a:ext cx="10972800" cy="11430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A Simple Example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05800" cy="609600"/>
          </a:xfrm>
        </p:spPr>
        <p:txBody>
          <a:bodyPr/>
          <a:lstStyle/>
          <a:p>
            <a:r>
              <a:rPr lang="en-US" altLang="en-US" dirty="0" smtClean="0"/>
              <a:t>A finite automaton that accepts only “1”</a:t>
            </a:r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  <a:p>
            <a:r>
              <a:rPr lang="en-US" altLang="en-US" dirty="0" smtClean="0"/>
              <a:t>A finite automaton accepts a string if we can follow transitions labeled with the characters in the string from the start to some accepting state</a:t>
            </a:r>
          </a:p>
        </p:txBody>
      </p:sp>
      <p:grpSp>
        <p:nvGrpSpPr>
          <p:cNvPr id="33797" name="Group 4"/>
          <p:cNvGrpSpPr>
            <a:grpSpLocks/>
          </p:cNvGrpSpPr>
          <p:nvPr/>
        </p:nvGrpSpPr>
        <p:grpSpPr bwMode="auto">
          <a:xfrm>
            <a:off x="4953000" y="2438400"/>
            <a:ext cx="1625600" cy="533400"/>
            <a:chOff x="3072" y="2976"/>
            <a:chExt cx="1024" cy="336"/>
          </a:xfrm>
        </p:grpSpPr>
        <p:sp>
          <p:nvSpPr>
            <p:cNvPr id="33804" name="Freeform 5"/>
            <p:cNvSpPr>
              <a:spLocks/>
            </p:cNvSpPr>
            <p:nvPr/>
          </p:nvSpPr>
          <p:spPr bwMode="auto">
            <a:xfrm>
              <a:off x="3072" y="3218"/>
              <a:ext cx="1024" cy="94"/>
            </a:xfrm>
            <a:custGeom>
              <a:avLst/>
              <a:gdLst>
                <a:gd name="T0" fmla="*/ 0 w 1024"/>
                <a:gd name="T1" fmla="*/ 94 h 94"/>
                <a:gd name="T2" fmla="*/ 512 w 1024"/>
                <a:gd name="T3" fmla="*/ 1 h 94"/>
                <a:gd name="T4" fmla="*/ 1024 w 1024"/>
                <a:gd name="T5" fmla="*/ 91 h 94"/>
                <a:gd name="T6" fmla="*/ 0 60000 65536"/>
                <a:gd name="T7" fmla="*/ 0 60000 65536"/>
                <a:gd name="T8" fmla="*/ 0 60000 65536"/>
                <a:gd name="T9" fmla="*/ 0 w 1024"/>
                <a:gd name="T10" fmla="*/ 0 h 94"/>
                <a:gd name="T11" fmla="*/ 1024 w 1024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4" h="94">
                  <a:moveTo>
                    <a:pt x="0" y="94"/>
                  </a:moveTo>
                  <a:cubicBezTo>
                    <a:pt x="85" y="78"/>
                    <a:pt x="341" y="2"/>
                    <a:pt x="512" y="1"/>
                  </a:cubicBezTo>
                  <a:cubicBezTo>
                    <a:pt x="683" y="0"/>
                    <a:pt x="917" y="72"/>
                    <a:pt x="1024" y="9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3805" name="Text Box 6"/>
            <p:cNvSpPr txBox="1">
              <a:spLocks noChangeArrowheads="1"/>
            </p:cNvSpPr>
            <p:nvPr/>
          </p:nvSpPr>
          <p:spPr bwMode="auto">
            <a:xfrm>
              <a:off x="3552" y="297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33798" name="Group 7"/>
          <p:cNvGrpSpPr>
            <a:grpSpLocks/>
          </p:cNvGrpSpPr>
          <p:nvPr/>
        </p:nvGrpSpPr>
        <p:grpSpPr bwMode="auto">
          <a:xfrm>
            <a:off x="6553200" y="2667000"/>
            <a:ext cx="762000" cy="762000"/>
            <a:chOff x="3264" y="2112"/>
            <a:chExt cx="480" cy="480"/>
          </a:xfrm>
        </p:grpSpPr>
        <p:sp>
          <p:nvSpPr>
            <p:cNvPr id="33802" name="Oval 8"/>
            <p:cNvSpPr>
              <a:spLocks noChangeArrowheads="1"/>
            </p:cNvSpPr>
            <p:nvPr/>
          </p:nvSpPr>
          <p:spPr bwMode="auto">
            <a:xfrm>
              <a:off x="3312" y="2160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3803" name="Oval 9"/>
            <p:cNvSpPr>
              <a:spLocks noChangeArrowheads="1"/>
            </p:cNvSpPr>
            <p:nvPr/>
          </p:nvSpPr>
          <p:spPr bwMode="auto">
            <a:xfrm>
              <a:off x="3264" y="2112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3799" name="Group 10"/>
          <p:cNvGrpSpPr>
            <a:grpSpLocks/>
          </p:cNvGrpSpPr>
          <p:nvPr/>
        </p:nvGrpSpPr>
        <p:grpSpPr bwMode="auto">
          <a:xfrm>
            <a:off x="3962400" y="2743200"/>
            <a:ext cx="990600" cy="685800"/>
            <a:chOff x="3264" y="1488"/>
            <a:chExt cx="624" cy="432"/>
          </a:xfrm>
        </p:grpSpPr>
        <p:sp>
          <p:nvSpPr>
            <p:cNvPr id="33800" name="Oval 11"/>
            <p:cNvSpPr>
              <a:spLocks noChangeArrowheads="1"/>
            </p:cNvSpPr>
            <p:nvPr/>
          </p:nvSpPr>
          <p:spPr bwMode="auto">
            <a:xfrm>
              <a:off x="3504" y="1488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3801" name="Line 12"/>
            <p:cNvSpPr>
              <a:spLocks noChangeShapeType="1"/>
            </p:cNvSpPr>
            <p:nvPr/>
          </p:nvSpPr>
          <p:spPr bwMode="auto">
            <a:xfrm flipV="1">
              <a:off x="3264" y="1776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962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67004" y="-342900"/>
            <a:ext cx="10972800" cy="11430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Representing Finite Automata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2803" y="1295400"/>
            <a:ext cx="6952861" cy="4525963"/>
          </a:xfrm>
        </p:spPr>
        <p:txBody>
          <a:bodyPr/>
          <a:lstStyle/>
          <a:p>
            <a:r>
              <a:rPr lang="en-US" altLang="en-US" dirty="0"/>
              <a:t>Finite Automata can be represented visually by </a:t>
            </a:r>
            <a:r>
              <a:rPr lang="en-US" altLang="en-US" b="1" dirty="0"/>
              <a:t>state diagrams</a:t>
            </a:r>
          </a:p>
          <a:p>
            <a:r>
              <a:rPr lang="en-US" altLang="en-US" dirty="0"/>
              <a:t>M:</a:t>
            </a:r>
          </a:p>
          <a:p>
            <a:pPr lvl="1"/>
            <a:r>
              <a:rPr lang="en-US" altLang="en-US" dirty="0"/>
              <a:t>Q = q</a:t>
            </a:r>
            <a:r>
              <a:rPr lang="en-US" altLang="en-US" baseline="-25000" dirty="0"/>
              <a:t>0</a:t>
            </a:r>
            <a:r>
              <a:rPr lang="en-US" altLang="en-US" dirty="0"/>
              <a:t>, q</a:t>
            </a:r>
            <a:r>
              <a:rPr lang="en-US" altLang="en-US" baseline="-25000" dirty="0"/>
              <a:t>1</a:t>
            </a:r>
            <a:endParaRPr lang="en-US" altLang="en-US" dirty="0"/>
          </a:p>
          <a:p>
            <a:pPr lvl="1"/>
            <a:r>
              <a:rPr lang="en-US" altLang="en-US" dirty="0"/>
              <a:t>E = {0, 1}</a:t>
            </a:r>
          </a:p>
          <a:p>
            <a:pPr lvl="1"/>
            <a:r>
              <a:rPr lang="en-US" altLang="en-US" dirty="0"/>
              <a:t>F = </a:t>
            </a:r>
            <a:r>
              <a:rPr lang="en-US" altLang="en-US" dirty="0" smtClean="0"/>
              <a:t>q</a:t>
            </a:r>
            <a:r>
              <a:rPr lang="en-US" altLang="en-US" baseline="-25000" dirty="0"/>
              <a:t>1</a:t>
            </a:r>
            <a:endParaRPr lang="en-US" altLang="en-US" dirty="0"/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082143" y="2586135"/>
            <a:ext cx="22098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d(q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0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, 0) = q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d(q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0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, 1) = q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0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d(q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1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, 0) = q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0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d(q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1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, 1) = q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1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7902" y="1108787"/>
            <a:ext cx="294005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770066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98462"/>
            <a:ext cx="10972800" cy="11430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Simple Example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739" y="896939"/>
            <a:ext cx="11148526" cy="1524000"/>
          </a:xfrm>
        </p:spPr>
        <p:txBody>
          <a:bodyPr/>
          <a:lstStyle/>
          <a:p>
            <a:r>
              <a:rPr lang="en-US" altLang="en-US" dirty="0" smtClean="0"/>
              <a:t>A finite automaton accepting any number of 1’s followed by a single 0</a:t>
            </a:r>
          </a:p>
          <a:p>
            <a:r>
              <a:rPr lang="en-US" altLang="en-US" dirty="0" smtClean="0"/>
              <a:t>Alphabet: {0,1}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 smtClean="0"/>
          </a:p>
          <a:p>
            <a:pPr marL="0" indent="0">
              <a:buNone/>
            </a:pPr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  <a:p>
            <a:r>
              <a:rPr lang="en-US" altLang="en-US" dirty="0" smtClean="0"/>
              <a:t>Check that “1110” is accepted but “110…” is not </a:t>
            </a:r>
          </a:p>
        </p:txBody>
      </p:sp>
      <p:grpSp>
        <p:nvGrpSpPr>
          <p:cNvPr id="34821" name="Group 4"/>
          <p:cNvGrpSpPr>
            <a:grpSpLocks/>
          </p:cNvGrpSpPr>
          <p:nvPr/>
        </p:nvGrpSpPr>
        <p:grpSpPr bwMode="auto">
          <a:xfrm>
            <a:off x="5029200" y="3844925"/>
            <a:ext cx="1625600" cy="533400"/>
            <a:chOff x="3072" y="2976"/>
            <a:chExt cx="1024" cy="336"/>
          </a:xfrm>
        </p:grpSpPr>
        <p:sp>
          <p:nvSpPr>
            <p:cNvPr id="34831" name="Freeform 5"/>
            <p:cNvSpPr>
              <a:spLocks/>
            </p:cNvSpPr>
            <p:nvPr/>
          </p:nvSpPr>
          <p:spPr bwMode="auto">
            <a:xfrm>
              <a:off x="3072" y="3218"/>
              <a:ext cx="1024" cy="94"/>
            </a:xfrm>
            <a:custGeom>
              <a:avLst/>
              <a:gdLst>
                <a:gd name="T0" fmla="*/ 0 w 1024"/>
                <a:gd name="T1" fmla="*/ 94 h 94"/>
                <a:gd name="T2" fmla="*/ 512 w 1024"/>
                <a:gd name="T3" fmla="*/ 1 h 94"/>
                <a:gd name="T4" fmla="*/ 1024 w 1024"/>
                <a:gd name="T5" fmla="*/ 91 h 94"/>
                <a:gd name="T6" fmla="*/ 0 60000 65536"/>
                <a:gd name="T7" fmla="*/ 0 60000 65536"/>
                <a:gd name="T8" fmla="*/ 0 60000 65536"/>
                <a:gd name="T9" fmla="*/ 0 w 1024"/>
                <a:gd name="T10" fmla="*/ 0 h 94"/>
                <a:gd name="T11" fmla="*/ 1024 w 1024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4" h="94">
                  <a:moveTo>
                    <a:pt x="0" y="94"/>
                  </a:moveTo>
                  <a:cubicBezTo>
                    <a:pt x="85" y="78"/>
                    <a:pt x="341" y="2"/>
                    <a:pt x="512" y="1"/>
                  </a:cubicBezTo>
                  <a:cubicBezTo>
                    <a:pt x="683" y="0"/>
                    <a:pt x="917" y="72"/>
                    <a:pt x="1024" y="9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832" name="Text Box 6"/>
            <p:cNvSpPr txBox="1">
              <a:spLocks noChangeArrowheads="1"/>
            </p:cNvSpPr>
            <p:nvPr/>
          </p:nvSpPr>
          <p:spPr bwMode="auto">
            <a:xfrm>
              <a:off x="3552" y="297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0</a:t>
              </a:r>
            </a:p>
          </p:txBody>
        </p:sp>
      </p:grpSp>
      <p:grpSp>
        <p:nvGrpSpPr>
          <p:cNvPr id="34822" name="Group 7"/>
          <p:cNvGrpSpPr>
            <a:grpSpLocks/>
          </p:cNvGrpSpPr>
          <p:nvPr/>
        </p:nvGrpSpPr>
        <p:grpSpPr bwMode="auto">
          <a:xfrm>
            <a:off x="6629400" y="4073525"/>
            <a:ext cx="762000" cy="762000"/>
            <a:chOff x="3264" y="2112"/>
            <a:chExt cx="480" cy="480"/>
          </a:xfrm>
        </p:grpSpPr>
        <p:sp>
          <p:nvSpPr>
            <p:cNvPr id="34829" name="Oval 8"/>
            <p:cNvSpPr>
              <a:spLocks noChangeArrowheads="1"/>
            </p:cNvSpPr>
            <p:nvPr/>
          </p:nvSpPr>
          <p:spPr bwMode="auto">
            <a:xfrm>
              <a:off x="3312" y="2160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830" name="Oval 9"/>
            <p:cNvSpPr>
              <a:spLocks noChangeArrowheads="1"/>
            </p:cNvSpPr>
            <p:nvPr/>
          </p:nvSpPr>
          <p:spPr bwMode="auto">
            <a:xfrm>
              <a:off x="3264" y="2112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4823" name="Group 10"/>
          <p:cNvGrpSpPr>
            <a:grpSpLocks/>
          </p:cNvGrpSpPr>
          <p:nvPr/>
        </p:nvGrpSpPr>
        <p:grpSpPr bwMode="auto">
          <a:xfrm>
            <a:off x="4038600" y="4149725"/>
            <a:ext cx="990600" cy="685800"/>
            <a:chOff x="3264" y="1488"/>
            <a:chExt cx="624" cy="432"/>
          </a:xfrm>
        </p:grpSpPr>
        <p:sp>
          <p:nvSpPr>
            <p:cNvPr id="34827" name="Oval 11"/>
            <p:cNvSpPr>
              <a:spLocks noChangeArrowheads="1"/>
            </p:cNvSpPr>
            <p:nvPr/>
          </p:nvSpPr>
          <p:spPr bwMode="auto">
            <a:xfrm>
              <a:off x="3504" y="1488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828" name="Line 12"/>
            <p:cNvSpPr>
              <a:spLocks noChangeShapeType="1"/>
            </p:cNvSpPr>
            <p:nvPr/>
          </p:nvSpPr>
          <p:spPr bwMode="auto">
            <a:xfrm flipV="1">
              <a:off x="3264" y="1776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4824" name="Group 13"/>
          <p:cNvGrpSpPr>
            <a:grpSpLocks/>
          </p:cNvGrpSpPr>
          <p:nvPr/>
        </p:nvGrpSpPr>
        <p:grpSpPr bwMode="auto">
          <a:xfrm>
            <a:off x="4318001" y="3124201"/>
            <a:ext cx="1031875" cy="1101725"/>
            <a:chOff x="1712" y="2042"/>
            <a:chExt cx="650" cy="694"/>
          </a:xfrm>
        </p:grpSpPr>
        <p:sp>
          <p:nvSpPr>
            <p:cNvPr id="34825" name="Freeform 14"/>
            <p:cNvSpPr>
              <a:spLocks/>
            </p:cNvSpPr>
            <p:nvPr/>
          </p:nvSpPr>
          <p:spPr bwMode="auto">
            <a:xfrm>
              <a:off x="1712" y="2200"/>
              <a:ext cx="568" cy="536"/>
            </a:xfrm>
            <a:custGeom>
              <a:avLst/>
              <a:gdLst>
                <a:gd name="T0" fmla="*/ 400 w 568"/>
                <a:gd name="T1" fmla="*/ 536 h 536"/>
                <a:gd name="T2" fmla="*/ 544 w 568"/>
                <a:gd name="T3" fmla="*/ 200 h 536"/>
                <a:gd name="T4" fmla="*/ 256 w 568"/>
                <a:gd name="T5" fmla="*/ 8 h 536"/>
                <a:gd name="T6" fmla="*/ 16 w 568"/>
                <a:gd name="T7" fmla="*/ 248 h 536"/>
                <a:gd name="T8" fmla="*/ 160 w 568"/>
                <a:gd name="T9" fmla="*/ 536 h 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8"/>
                <a:gd name="T16" fmla="*/ 0 h 536"/>
                <a:gd name="T17" fmla="*/ 568 w 568"/>
                <a:gd name="T18" fmla="*/ 536 h 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8" h="536">
                  <a:moveTo>
                    <a:pt x="400" y="536"/>
                  </a:moveTo>
                  <a:cubicBezTo>
                    <a:pt x="424" y="480"/>
                    <a:pt x="568" y="288"/>
                    <a:pt x="544" y="200"/>
                  </a:cubicBezTo>
                  <a:cubicBezTo>
                    <a:pt x="520" y="112"/>
                    <a:pt x="344" y="0"/>
                    <a:pt x="256" y="8"/>
                  </a:cubicBezTo>
                  <a:cubicBezTo>
                    <a:pt x="168" y="16"/>
                    <a:pt x="32" y="160"/>
                    <a:pt x="16" y="248"/>
                  </a:cubicBezTo>
                  <a:cubicBezTo>
                    <a:pt x="0" y="336"/>
                    <a:pt x="80" y="436"/>
                    <a:pt x="160" y="5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826" name="Text Box 15"/>
            <p:cNvSpPr txBox="1">
              <a:spLocks noChangeArrowheads="1"/>
            </p:cNvSpPr>
            <p:nvPr/>
          </p:nvSpPr>
          <p:spPr bwMode="auto">
            <a:xfrm>
              <a:off x="2150" y="204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970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9800" y="304800"/>
            <a:ext cx="8356600" cy="6248400"/>
          </a:xfrm>
        </p:spPr>
        <p:txBody>
          <a:bodyPr/>
          <a:lstStyle/>
          <a:p>
            <a:pPr eaLnBrk="1" hangingPunct="1"/>
            <a:endParaRPr lang="en-US" altLang="en-US" sz="200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000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		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buFontTx/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	        a	       c	      c	       c	       b	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	</a:t>
            </a:r>
            <a:r>
              <a:rPr lang="en-US" altLang="en-US" sz="2000" u="sng" dirty="0">
                <a:solidFill>
                  <a:srgbClr val="FF0000"/>
                </a:solidFill>
                <a:cs typeface="Times New Roman" panose="02020603050405020304" pitchFamily="18" charset="0"/>
              </a:rPr>
              <a:t>accepted</a:t>
            </a:r>
            <a:endParaRPr lang="en-US" altLang="en-US" sz="20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	 q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0	</a:t>
            </a:r>
            <a:r>
              <a:rPr lang="en-US" altLang="en-US" sz="2000" dirty="0">
                <a:cs typeface="Times New Roman" panose="02020603050405020304" pitchFamily="18" charset="0"/>
              </a:rPr>
              <a:t>q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0	</a:t>
            </a:r>
            <a:r>
              <a:rPr lang="en-US" altLang="en-US" sz="2000" dirty="0">
                <a:cs typeface="Times New Roman" panose="02020603050405020304" pitchFamily="18" charset="0"/>
              </a:rPr>
              <a:t>q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1	</a:t>
            </a:r>
            <a:r>
              <a:rPr lang="en-US" altLang="en-US" sz="2000" dirty="0">
                <a:cs typeface="Times New Roman" panose="02020603050405020304" pitchFamily="18" charset="0"/>
              </a:rPr>
              <a:t>q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2	</a:t>
            </a:r>
            <a:r>
              <a:rPr lang="en-US" altLang="en-US" sz="2000" dirty="0">
                <a:cs typeface="Times New Roman" panose="02020603050405020304" pitchFamily="18" charset="0"/>
              </a:rPr>
              <a:t>q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2	</a:t>
            </a:r>
            <a:r>
              <a:rPr lang="en-US" altLang="en-US" sz="2000" dirty="0">
                <a:cs typeface="Times New Roman" panose="02020603050405020304" pitchFamily="18" charset="0"/>
              </a:rPr>
              <a:t>q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2</a:t>
            </a:r>
          </a:p>
          <a:p>
            <a:pPr eaLnBrk="1" hangingPunct="1">
              <a:buFontTx/>
              <a:buNone/>
            </a:pPr>
            <a:endParaRPr lang="en-US" altLang="en-US" sz="2000" baseline="-25000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000" baseline="-25000" dirty="0">
                <a:cs typeface="Times New Roman" panose="02020603050405020304" pitchFamily="18" charset="0"/>
              </a:rPr>
              <a:t>		</a:t>
            </a:r>
            <a:r>
              <a:rPr lang="en-US" altLang="en-US" sz="2000" dirty="0">
                <a:cs typeface="Times New Roman" panose="02020603050405020304" pitchFamily="18" charset="0"/>
              </a:rPr>
              <a:t>        a	       a	      c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				</a:t>
            </a:r>
            <a:r>
              <a:rPr lang="en-US" altLang="en-US" sz="2000" u="sng" dirty="0">
                <a:cs typeface="Times New Roman" panose="02020603050405020304" pitchFamily="18" charset="0"/>
              </a:rPr>
              <a:t>rejected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	 q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0	</a:t>
            </a:r>
            <a:r>
              <a:rPr lang="en-US" altLang="en-US" sz="2000" dirty="0">
                <a:cs typeface="Times New Roman" panose="02020603050405020304" pitchFamily="18" charset="0"/>
              </a:rPr>
              <a:t>q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0	</a:t>
            </a:r>
            <a:r>
              <a:rPr lang="en-US" altLang="en-US" sz="2000" dirty="0">
                <a:cs typeface="Times New Roman" panose="02020603050405020304" pitchFamily="18" charset="0"/>
              </a:rPr>
              <a:t>q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0	</a:t>
            </a:r>
            <a:r>
              <a:rPr lang="en-US" altLang="en-US" sz="2000" dirty="0">
                <a:cs typeface="Times New Roman" panose="02020603050405020304" pitchFamily="18" charset="0"/>
              </a:rPr>
              <a:t>q</a:t>
            </a:r>
            <a:r>
              <a:rPr lang="en-US" altLang="en-US" sz="2000" baseline="-25000" dirty="0">
                <a:cs typeface="Times New Roman" panose="02020603050405020304" pitchFamily="18" charset="0"/>
              </a:rPr>
              <a:t>1             	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0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>
                <a:cs typeface="Times New Roman" panose="02020603050405020304" pitchFamily="18" charset="0"/>
              </a:rPr>
              <a:t>Accepts those strings that </a:t>
            </a:r>
            <a:r>
              <a:rPr lang="en-US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contain </a:t>
            </a:r>
            <a:r>
              <a:rPr lang="en-US" altLang="en-US" sz="20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at least</a:t>
            </a:r>
            <a:r>
              <a:rPr lang="en-US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two </a:t>
            </a:r>
            <a:r>
              <a:rPr lang="en-US" altLang="en-US" sz="20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’s</a:t>
            </a:r>
          </a:p>
        </p:txBody>
      </p:sp>
      <p:grpSp>
        <p:nvGrpSpPr>
          <p:cNvPr id="10244" name="Group 39"/>
          <p:cNvGrpSpPr>
            <a:grpSpLocks/>
          </p:cNvGrpSpPr>
          <p:nvPr/>
        </p:nvGrpSpPr>
        <p:grpSpPr bwMode="auto">
          <a:xfrm>
            <a:off x="2819400" y="990600"/>
            <a:ext cx="5765800" cy="1955800"/>
            <a:chOff x="384" y="1065"/>
            <a:chExt cx="3632" cy="1232"/>
          </a:xfrm>
        </p:grpSpPr>
        <p:sp>
          <p:nvSpPr>
            <p:cNvPr id="10245" name="Oval 6"/>
            <p:cNvSpPr>
              <a:spLocks noChangeArrowheads="1"/>
            </p:cNvSpPr>
            <p:nvPr/>
          </p:nvSpPr>
          <p:spPr bwMode="auto">
            <a:xfrm>
              <a:off x="2064" y="1488"/>
              <a:ext cx="409" cy="39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q</a:t>
              </a:r>
              <a:r>
                <a:rPr kumimoji="0" lang="en-US" altLang="en-US" sz="20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246" name="Line 9"/>
            <p:cNvSpPr>
              <a:spLocks noChangeShapeType="1"/>
            </p:cNvSpPr>
            <p:nvPr/>
          </p:nvSpPr>
          <p:spPr bwMode="auto">
            <a:xfrm>
              <a:off x="384" y="1658"/>
              <a:ext cx="3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endParaRPr>
            </a:p>
          </p:txBody>
        </p:sp>
        <p:sp>
          <p:nvSpPr>
            <p:cNvPr id="10247" name="Oval 5"/>
            <p:cNvSpPr>
              <a:spLocks noChangeArrowheads="1"/>
            </p:cNvSpPr>
            <p:nvPr/>
          </p:nvSpPr>
          <p:spPr bwMode="auto">
            <a:xfrm>
              <a:off x="755" y="1461"/>
              <a:ext cx="446" cy="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q</a:t>
              </a:r>
              <a:r>
                <a:rPr kumimoji="0" lang="en-US" altLang="en-US" sz="20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10248" name="AutoShape 12"/>
            <p:cNvCxnSpPr>
              <a:cxnSpLocks noChangeShapeType="1"/>
              <a:stCxn id="10247" idx="1"/>
              <a:endCxn id="10247" idx="7"/>
            </p:cNvCxnSpPr>
            <p:nvPr/>
          </p:nvCxnSpPr>
          <p:spPr bwMode="auto">
            <a:xfrm rot="5400000" flipV="1">
              <a:off x="977" y="1368"/>
              <a:ext cx="1" cy="316"/>
            </a:xfrm>
            <a:prstGeom prst="curvedConnector3">
              <a:avLst>
                <a:gd name="adj1" fmla="val -20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0249" name="Group 18"/>
            <p:cNvGrpSpPr>
              <a:grpSpLocks/>
            </p:cNvGrpSpPr>
            <p:nvPr/>
          </p:nvGrpSpPr>
          <p:grpSpPr bwMode="auto">
            <a:xfrm>
              <a:off x="3456" y="1440"/>
              <a:ext cx="446" cy="434"/>
              <a:chOff x="755" y="1461"/>
              <a:chExt cx="446" cy="434"/>
            </a:xfrm>
          </p:grpSpPr>
          <p:grpSp>
            <p:nvGrpSpPr>
              <p:cNvPr id="10262" name="Group 19"/>
              <p:cNvGrpSpPr>
                <a:grpSpLocks/>
              </p:cNvGrpSpPr>
              <p:nvPr/>
            </p:nvGrpSpPr>
            <p:grpSpPr bwMode="auto">
              <a:xfrm>
                <a:off x="755" y="1461"/>
                <a:ext cx="446" cy="434"/>
                <a:chOff x="755" y="1461"/>
                <a:chExt cx="446" cy="434"/>
              </a:xfrm>
            </p:grpSpPr>
            <p:sp>
              <p:nvSpPr>
                <p:cNvPr id="10264" name="Oval 20"/>
                <p:cNvSpPr>
                  <a:spLocks noChangeArrowheads="1"/>
                </p:cNvSpPr>
                <p:nvPr/>
              </p:nvSpPr>
              <p:spPr bwMode="auto">
                <a:xfrm>
                  <a:off x="793" y="1500"/>
                  <a:ext cx="371" cy="35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q</a:t>
                  </a:r>
                  <a:r>
                    <a:rPr kumimoji="0" lang="en-US" altLang="en-US" sz="20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0265" name="Oval 21"/>
                <p:cNvSpPr>
                  <a:spLocks noChangeArrowheads="1"/>
                </p:cNvSpPr>
                <p:nvPr/>
              </p:nvSpPr>
              <p:spPr bwMode="auto">
                <a:xfrm>
                  <a:off x="755" y="1461"/>
                  <a:ext cx="446" cy="43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263" name="AutoShape 22"/>
              <p:cNvCxnSpPr>
                <a:cxnSpLocks noChangeShapeType="1"/>
                <a:stCxn id="10265" idx="1"/>
                <a:endCxn id="10265" idx="7"/>
              </p:cNvCxnSpPr>
              <p:nvPr/>
            </p:nvCxnSpPr>
            <p:spPr bwMode="auto">
              <a:xfrm rot="5400000" flipV="1">
                <a:off x="977" y="1368"/>
                <a:ext cx="1" cy="316"/>
              </a:xfrm>
              <a:prstGeom prst="curvedConnector3">
                <a:avLst>
                  <a:gd name="adj1" fmla="val -2080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0250" name="Line 23"/>
            <p:cNvSpPr>
              <a:spLocks noChangeShapeType="1"/>
            </p:cNvSpPr>
            <p:nvPr/>
          </p:nvSpPr>
          <p:spPr bwMode="auto">
            <a:xfrm>
              <a:off x="1200" y="1680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endParaRPr>
            </a:p>
          </p:txBody>
        </p:sp>
        <p:sp>
          <p:nvSpPr>
            <p:cNvPr id="10251" name="Line 25"/>
            <p:cNvSpPr>
              <a:spLocks noChangeShapeType="1"/>
            </p:cNvSpPr>
            <p:nvPr/>
          </p:nvSpPr>
          <p:spPr bwMode="auto">
            <a:xfrm>
              <a:off x="2448" y="168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endParaRPr>
            </a:p>
          </p:txBody>
        </p:sp>
        <p:cxnSp>
          <p:nvCxnSpPr>
            <p:cNvPr id="10252" name="AutoShape 26"/>
            <p:cNvCxnSpPr>
              <a:cxnSpLocks noChangeShapeType="1"/>
              <a:stCxn id="10247" idx="3"/>
              <a:endCxn id="10247" idx="5"/>
            </p:cNvCxnSpPr>
            <p:nvPr/>
          </p:nvCxnSpPr>
          <p:spPr bwMode="auto">
            <a:xfrm rot="16200000" flipH="1">
              <a:off x="977" y="1674"/>
              <a:ext cx="1" cy="316"/>
            </a:xfrm>
            <a:prstGeom prst="curvedConnector3">
              <a:avLst>
                <a:gd name="adj1" fmla="val 20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53" name="AutoShape 28"/>
            <p:cNvCxnSpPr>
              <a:cxnSpLocks noChangeShapeType="1"/>
            </p:cNvCxnSpPr>
            <p:nvPr/>
          </p:nvCxnSpPr>
          <p:spPr bwMode="auto">
            <a:xfrm rot="16200000" flipH="1">
              <a:off x="2269" y="1667"/>
              <a:ext cx="1" cy="316"/>
            </a:xfrm>
            <a:prstGeom prst="curvedConnector3">
              <a:avLst>
                <a:gd name="adj1" fmla="val 20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54" name="AutoShape 29"/>
            <p:cNvCxnSpPr>
              <a:cxnSpLocks noChangeShapeType="1"/>
            </p:cNvCxnSpPr>
            <p:nvPr/>
          </p:nvCxnSpPr>
          <p:spPr bwMode="auto">
            <a:xfrm rot="5400000" flipV="1">
              <a:off x="2269" y="1379"/>
              <a:ext cx="1" cy="316"/>
            </a:xfrm>
            <a:prstGeom prst="curvedConnector3">
              <a:avLst>
                <a:gd name="adj1" fmla="val -20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255" name="Text Box 30"/>
            <p:cNvSpPr txBox="1">
              <a:spLocks noChangeArrowheads="1"/>
            </p:cNvSpPr>
            <p:nvPr/>
          </p:nvSpPr>
          <p:spPr bwMode="auto">
            <a:xfrm>
              <a:off x="902" y="106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256" name="Text Box 31"/>
            <p:cNvSpPr txBox="1">
              <a:spLocks noChangeArrowheads="1"/>
            </p:cNvSpPr>
            <p:nvPr/>
          </p:nvSpPr>
          <p:spPr bwMode="auto">
            <a:xfrm>
              <a:off x="864" y="204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257" name="Text Box 32"/>
            <p:cNvSpPr txBox="1">
              <a:spLocks noChangeArrowheads="1"/>
            </p:cNvSpPr>
            <p:nvPr/>
          </p:nvSpPr>
          <p:spPr bwMode="auto">
            <a:xfrm>
              <a:off x="2198" y="1113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258" name="Text Box 33"/>
            <p:cNvSpPr txBox="1">
              <a:spLocks noChangeArrowheads="1"/>
            </p:cNvSpPr>
            <p:nvPr/>
          </p:nvSpPr>
          <p:spPr bwMode="auto">
            <a:xfrm>
              <a:off x="2246" y="202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259" name="Text Box 34"/>
            <p:cNvSpPr txBox="1">
              <a:spLocks noChangeArrowheads="1"/>
            </p:cNvSpPr>
            <p:nvPr/>
          </p:nvSpPr>
          <p:spPr bwMode="auto">
            <a:xfrm>
              <a:off x="1526" y="1401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260" name="Text Box 35"/>
            <p:cNvSpPr txBox="1">
              <a:spLocks noChangeArrowheads="1"/>
            </p:cNvSpPr>
            <p:nvPr/>
          </p:nvSpPr>
          <p:spPr bwMode="auto">
            <a:xfrm>
              <a:off x="2870" y="1449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261" name="Text Box 36"/>
            <p:cNvSpPr txBox="1">
              <a:spLocks noChangeArrowheads="1"/>
            </p:cNvSpPr>
            <p:nvPr/>
          </p:nvSpPr>
          <p:spPr bwMode="auto">
            <a:xfrm>
              <a:off x="3590" y="1065"/>
              <a:ext cx="4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a/b/c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36814" y="0"/>
            <a:ext cx="2702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</a:t>
            </a:r>
          </a:p>
        </p:txBody>
      </p:sp>
    </p:spTree>
    <p:extLst>
      <p:ext uri="{BB962C8B-B14F-4D97-AF65-F5344CB8AC3E}">
        <p14:creationId xmlns:p14="http://schemas.microsoft.com/office/powerpoint/2010/main" val="127577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9763" y="-153987"/>
            <a:ext cx="10972800" cy="11430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Another Example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1241" y="1239838"/>
            <a:ext cx="8305800" cy="914400"/>
          </a:xfrm>
        </p:spPr>
        <p:txBody>
          <a:bodyPr/>
          <a:lstStyle/>
          <a:p>
            <a:r>
              <a:rPr lang="en-US" altLang="en-US" dirty="0" smtClean="0"/>
              <a:t>Alphabet {0,1}</a:t>
            </a:r>
          </a:p>
          <a:p>
            <a:r>
              <a:rPr lang="en-US" altLang="en-US" dirty="0" smtClean="0"/>
              <a:t>What language does this recognize?</a:t>
            </a:r>
          </a:p>
        </p:txBody>
      </p:sp>
      <p:grpSp>
        <p:nvGrpSpPr>
          <p:cNvPr id="35845" name="Group 4"/>
          <p:cNvGrpSpPr>
            <a:grpSpLocks/>
          </p:cNvGrpSpPr>
          <p:nvPr/>
        </p:nvGrpSpPr>
        <p:grpSpPr bwMode="auto">
          <a:xfrm>
            <a:off x="2590800" y="2935289"/>
            <a:ext cx="5562600" cy="2281237"/>
            <a:chOff x="672" y="1849"/>
            <a:chExt cx="3504" cy="1437"/>
          </a:xfrm>
        </p:grpSpPr>
        <p:grpSp>
          <p:nvGrpSpPr>
            <p:cNvPr id="35852" name="Group 5"/>
            <p:cNvGrpSpPr>
              <a:grpSpLocks/>
            </p:cNvGrpSpPr>
            <p:nvPr/>
          </p:nvGrpSpPr>
          <p:grpSpPr bwMode="auto">
            <a:xfrm>
              <a:off x="1296" y="2303"/>
              <a:ext cx="1024" cy="336"/>
              <a:chOff x="3072" y="2976"/>
              <a:chExt cx="1024" cy="336"/>
            </a:xfrm>
          </p:grpSpPr>
          <p:sp>
            <p:nvSpPr>
              <p:cNvPr id="35868" name="Freeform 6"/>
              <p:cNvSpPr>
                <a:spLocks/>
              </p:cNvSpPr>
              <p:nvPr/>
            </p:nvSpPr>
            <p:spPr bwMode="auto">
              <a:xfrm>
                <a:off x="3072" y="3218"/>
                <a:ext cx="1024" cy="94"/>
              </a:xfrm>
              <a:custGeom>
                <a:avLst/>
                <a:gdLst>
                  <a:gd name="T0" fmla="*/ 0 w 1024"/>
                  <a:gd name="T1" fmla="*/ 94 h 94"/>
                  <a:gd name="T2" fmla="*/ 512 w 1024"/>
                  <a:gd name="T3" fmla="*/ 1 h 94"/>
                  <a:gd name="T4" fmla="*/ 1024 w 1024"/>
                  <a:gd name="T5" fmla="*/ 91 h 94"/>
                  <a:gd name="T6" fmla="*/ 0 60000 65536"/>
                  <a:gd name="T7" fmla="*/ 0 60000 65536"/>
                  <a:gd name="T8" fmla="*/ 0 60000 65536"/>
                  <a:gd name="T9" fmla="*/ 0 w 1024"/>
                  <a:gd name="T10" fmla="*/ 0 h 94"/>
                  <a:gd name="T11" fmla="*/ 1024 w 1024"/>
                  <a:gd name="T12" fmla="*/ 94 h 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4" h="94">
                    <a:moveTo>
                      <a:pt x="0" y="94"/>
                    </a:moveTo>
                    <a:cubicBezTo>
                      <a:pt x="85" y="78"/>
                      <a:pt x="341" y="2"/>
                      <a:pt x="512" y="1"/>
                    </a:cubicBezTo>
                    <a:cubicBezTo>
                      <a:pt x="683" y="0"/>
                      <a:pt x="917" y="72"/>
                      <a:pt x="1024" y="91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869" name="Text Box 7"/>
              <p:cNvSpPr txBox="1">
                <a:spLocks noChangeArrowheads="1"/>
              </p:cNvSpPr>
              <p:nvPr/>
            </p:nvSpPr>
            <p:spPr bwMode="auto">
              <a:xfrm>
                <a:off x="3552" y="297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rPr>
                  <a:t>0</a:t>
                </a:r>
              </a:p>
            </p:txBody>
          </p:sp>
        </p:grpSp>
        <p:grpSp>
          <p:nvGrpSpPr>
            <p:cNvPr id="35853" name="Group 8"/>
            <p:cNvGrpSpPr>
              <a:grpSpLocks/>
            </p:cNvGrpSpPr>
            <p:nvPr/>
          </p:nvGrpSpPr>
          <p:grpSpPr bwMode="auto">
            <a:xfrm>
              <a:off x="3696" y="2447"/>
              <a:ext cx="480" cy="480"/>
              <a:chOff x="3264" y="2112"/>
              <a:chExt cx="480" cy="480"/>
            </a:xfrm>
          </p:grpSpPr>
          <p:sp>
            <p:nvSpPr>
              <p:cNvPr id="35866" name="Oval 9"/>
              <p:cNvSpPr>
                <a:spLocks noChangeArrowheads="1"/>
              </p:cNvSpPr>
              <p:nvPr/>
            </p:nvSpPr>
            <p:spPr bwMode="auto">
              <a:xfrm>
                <a:off x="3312" y="2160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867" name="Oval 10"/>
              <p:cNvSpPr>
                <a:spLocks noChangeArrowheads="1"/>
              </p:cNvSpPr>
              <p:nvPr/>
            </p:nvSpPr>
            <p:spPr bwMode="auto">
              <a:xfrm>
                <a:off x="3264" y="2112"/>
                <a:ext cx="480" cy="48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854" name="Group 11"/>
            <p:cNvGrpSpPr>
              <a:grpSpLocks/>
            </p:cNvGrpSpPr>
            <p:nvPr/>
          </p:nvGrpSpPr>
          <p:grpSpPr bwMode="auto">
            <a:xfrm>
              <a:off x="672" y="2495"/>
              <a:ext cx="624" cy="432"/>
              <a:chOff x="3264" y="1488"/>
              <a:chExt cx="624" cy="432"/>
            </a:xfrm>
          </p:grpSpPr>
          <p:sp>
            <p:nvSpPr>
              <p:cNvPr id="35864" name="Oval 12"/>
              <p:cNvSpPr>
                <a:spLocks noChangeArrowheads="1"/>
              </p:cNvSpPr>
              <p:nvPr/>
            </p:nvSpPr>
            <p:spPr bwMode="auto">
              <a:xfrm>
                <a:off x="3504" y="1488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865" name="Line 13"/>
              <p:cNvSpPr>
                <a:spLocks noChangeShapeType="1"/>
              </p:cNvSpPr>
              <p:nvPr/>
            </p:nvSpPr>
            <p:spPr bwMode="auto">
              <a:xfrm flipV="1">
                <a:off x="3264" y="1776"/>
                <a:ext cx="28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855" name="Group 14"/>
            <p:cNvGrpSpPr>
              <a:grpSpLocks/>
            </p:cNvGrpSpPr>
            <p:nvPr/>
          </p:nvGrpSpPr>
          <p:grpSpPr bwMode="auto">
            <a:xfrm>
              <a:off x="848" y="1849"/>
              <a:ext cx="650" cy="694"/>
              <a:chOff x="1712" y="2042"/>
              <a:chExt cx="650" cy="694"/>
            </a:xfrm>
          </p:grpSpPr>
          <p:sp>
            <p:nvSpPr>
              <p:cNvPr id="35862" name="Freeform 15"/>
              <p:cNvSpPr>
                <a:spLocks/>
              </p:cNvSpPr>
              <p:nvPr/>
            </p:nvSpPr>
            <p:spPr bwMode="auto">
              <a:xfrm>
                <a:off x="1712" y="2200"/>
                <a:ext cx="568" cy="536"/>
              </a:xfrm>
              <a:custGeom>
                <a:avLst/>
                <a:gdLst>
                  <a:gd name="T0" fmla="*/ 400 w 568"/>
                  <a:gd name="T1" fmla="*/ 536 h 536"/>
                  <a:gd name="T2" fmla="*/ 544 w 568"/>
                  <a:gd name="T3" fmla="*/ 200 h 536"/>
                  <a:gd name="T4" fmla="*/ 256 w 568"/>
                  <a:gd name="T5" fmla="*/ 8 h 536"/>
                  <a:gd name="T6" fmla="*/ 16 w 568"/>
                  <a:gd name="T7" fmla="*/ 248 h 536"/>
                  <a:gd name="T8" fmla="*/ 160 w 568"/>
                  <a:gd name="T9" fmla="*/ 536 h 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8"/>
                  <a:gd name="T16" fmla="*/ 0 h 536"/>
                  <a:gd name="T17" fmla="*/ 568 w 568"/>
                  <a:gd name="T18" fmla="*/ 536 h 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8" h="536">
                    <a:moveTo>
                      <a:pt x="400" y="536"/>
                    </a:moveTo>
                    <a:cubicBezTo>
                      <a:pt x="424" y="480"/>
                      <a:pt x="568" y="288"/>
                      <a:pt x="544" y="200"/>
                    </a:cubicBezTo>
                    <a:cubicBezTo>
                      <a:pt x="520" y="112"/>
                      <a:pt x="344" y="0"/>
                      <a:pt x="256" y="8"/>
                    </a:cubicBezTo>
                    <a:cubicBezTo>
                      <a:pt x="168" y="16"/>
                      <a:pt x="32" y="160"/>
                      <a:pt x="16" y="248"/>
                    </a:cubicBezTo>
                    <a:cubicBezTo>
                      <a:pt x="0" y="336"/>
                      <a:pt x="80" y="436"/>
                      <a:pt x="160" y="53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863" name="Text Box 16"/>
              <p:cNvSpPr txBox="1">
                <a:spLocks noChangeArrowheads="1"/>
              </p:cNvSpPr>
              <p:nvPr/>
            </p:nvSpPr>
            <p:spPr bwMode="auto">
              <a:xfrm>
                <a:off x="2150" y="204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5856" name="Oval 17"/>
            <p:cNvSpPr>
              <a:spLocks noChangeArrowheads="1"/>
            </p:cNvSpPr>
            <p:nvPr/>
          </p:nvSpPr>
          <p:spPr bwMode="auto">
            <a:xfrm>
              <a:off x="2304" y="2495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35857" name="Group 18"/>
            <p:cNvGrpSpPr>
              <a:grpSpLocks/>
            </p:cNvGrpSpPr>
            <p:nvPr/>
          </p:nvGrpSpPr>
          <p:grpSpPr bwMode="auto">
            <a:xfrm>
              <a:off x="2688" y="2303"/>
              <a:ext cx="1024" cy="336"/>
              <a:chOff x="3072" y="2976"/>
              <a:chExt cx="1024" cy="336"/>
            </a:xfrm>
          </p:grpSpPr>
          <p:sp>
            <p:nvSpPr>
              <p:cNvPr id="35860" name="Freeform 19"/>
              <p:cNvSpPr>
                <a:spLocks/>
              </p:cNvSpPr>
              <p:nvPr/>
            </p:nvSpPr>
            <p:spPr bwMode="auto">
              <a:xfrm>
                <a:off x="3072" y="3218"/>
                <a:ext cx="1024" cy="94"/>
              </a:xfrm>
              <a:custGeom>
                <a:avLst/>
                <a:gdLst>
                  <a:gd name="T0" fmla="*/ 0 w 1024"/>
                  <a:gd name="T1" fmla="*/ 94 h 94"/>
                  <a:gd name="T2" fmla="*/ 512 w 1024"/>
                  <a:gd name="T3" fmla="*/ 1 h 94"/>
                  <a:gd name="T4" fmla="*/ 1024 w 1024"/>
                  <a:gd name="T5" fmla="*/ 91 h 94"/>
                  <a:gd name="T6" fmla="*/ 0 60000 65536"/>
                  <a:gd name="T7" fmla="*/ 0 60000 65536"/>
                  <a:gd name="T8" fmla="*/ 0 60000 65536"/>
                  <a:gd name="T9" fmla="*/ 0 w 1024"/>
                  <a:gd name="T10" fmla="*/ 0 h 94"/>
                  <a:gd name="T11" fmla="*/ 1024 w 1024"/>
                  <a:gd name="T12" fmla="*/ 94 h 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4" h="94">
                    <a:moveTo>
                      <a:pt x="0" y="94"/>
                    </a:moveTo>
                    <a:cubicBezTo>
                      <a:pt x="85" y="78"/>
                      <a:pt x="341" y="2"/>
                      <a:pt x="512" y="1"/>
                    </a:cubicBezTo>
                    <a:cubicBezTo>
                      <a:pt x="683" y="0"/>
                      <a:pt x="917" y="72"/>
                      <a:pt x="1024" y="91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861" name="Text Box 20"/>
              <p:cNvSpPr txBox="1">
                <a:spLocks noChangeArrowheads="1"/>
              </p:cNvSpPr>
              <p:nvPr/>
            </p:nvSpPr>
            <p:spPr bwMode="auto">
              <a:xfrm>
                <a:off x="3552" y="297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rPr>
                  <a:t>0</a:t>
                </a:r>
              </a:p>
            </p:txBody>
          </p:sp>
        </p:grpSp>
        <p:sp>
          <p:nvSpPr>
            <p:cNvPr id="35858" name="Freeform 21"/>
            <p:cNvSpPr>
              <a:spLocks/>
            </p:cNvSpPr>
            <p:nvPr/>
          </p:nvSpPr>
          <p:spPr bwMode="auto">
            <a:xfrm>
              <a:off x="1181" y="2815"/>
              <a:ext cx="1734" cy="471"/>
            </a:xfrm>
            <a:custGeom>
              <a:avLst/>
              <a:gdLst>
                <a:gd name="T0" fmla="*/ 1472 w 1734"/>
                <a:gd name="T1" fmla="*/ 0 h 471"/>
                <a:gd name="T2" fmla="*/ 1408 w 1734"/>
                <a:gd name="T3" fmla="*/ 397 h 471"/>
                <a:gd name="T4" fmla="*/ 691 w 1734"/>
                <a:gd name="T5" fmla="*/ 442 h 471"/>
                <a:gd name="T6" fmla="*/ 269 w 1734"/>
                <a:gd name="T7" fmla="*/ 378 h 471"/>
                <a:gd name="T8" fmla="*/ 0 w 1734"/>
                <a:gd name="T9" fmla="*/ 51 h 4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4"/>
                <a:gd name="T16" fmla="*/ 0 h 471"/>
                <a:gd name="T17" fmla="*/ 1734 w 1734"/>
                <a:gd name="T18" fmla="*/ 471 h 4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4" h="471">
                  <a:moveTo>
                    <a:pt x="1472" y="0"/>
                  </a:moveTo>
                  <a:cubicBezTo>
                    <a:pt x="1734" y="173"/>
                    <a:pt x="1538" y="329"/>
                    <a:pt x="1408" y="397"/>
                  </a:cubicBezTo>
                  <a:cubicBezTo>
                    <a:pt x="1278" y="471"/>
                    <a:pt x="881" y="445"/>
                    <a:pt x="691" y="442"/>
                  </a:cubicBezTo>
                  <a:cubicBezTo>
                    <a:pt x="501" y="439"/>
                    <a:pt x="384" y="443"/>
                    <a:pt x="269" y="378"/>
                  </a:cubicBezTo>
                  <a:cubicBezTo>
                    <a:pt x="154" y="313"/>
                    <a:pt x="56" y="119"/>
                    <a:pt x="0" y="5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859" name="Text Box 22"/>
            <p:cNvSpPr txBox="1">
              <a:spLocks noChangeArrowheads="1"/>
            </p:cNvSpPr>
            <p:nvPr/>
          </p:nvSpPr>
          <p:spPr bwMode="auto">
            <a:xfrm>
              <a:off x="1814" y="297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35846" name="Group 23"/>
          <p:cNvGrpSpPr>
            <a:grpSpLocks/>
          </p:cNvGrpSpPr>
          <p:nvPr/>
        </p:nvGrpSpPr>
        <p:grpSpPr bwMode="auto">
          <a:xfrm>
            <a:off x="7315201" y="2819401"/>
            <a:ext cx="1031875" cy="1101725"/>
            <a:chOff x="1712" y="2042"/>
            <a:chExt cx="650" cy="694"/>
          </a:xfrm>
        </p:grpSpPr>
        <p:sp>
          <p:nvSpPr>
            <p:cNvPr id="35850" name="Freeform 24"/>
            <p:cNvSpPr>
              <a:spLocks/>
            </p:cNvSpPr>
            <p:nvPr/>
          </p:nvSpPr>
          <p:spPr bwMode="auto">
            <a:xfrm>
              <a:off x="1712" y="2200"/>
              <a:ext cx="568" cy="536"/>
            </a:xfrm>
            <a:custGeom>
              <a:avLst/>
              <a:gdLst>
                <a:gd name="T0" fmla="*/ 400 w 568"/>
                <a:gd name="T1" fmla="*/ 536 h 536"/>
                <a:gd name="T2" fmla="*/ 544 w 568"/>
                <a:gd name="T3" fmla="*/ 200 h 536"/>
                <a:gd name="T4" fmla="*/ 256 w 568"/>
                <a:gd name="T5" fmla="*/ 8 h 536"/>
                <a:gd name="T6" fmla="*/ 16 w 568"/>
                <a:gd name="T7" fmla="*/ 248 h 536"/>
                <a:gd name="T8" fmla="*/ 160 w 568"/>
                <a:gd name="T9" fmla="*/ 536 h 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8"/>
                <a:gd name="T16" fmla="*/ 0 h 536"/>
                <a:gd name="T17" fmla="*/ 568 w 568"/>
                <a:gd name="T18" fmla="*/ 536 h 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8" h="536">
                  <a:moveTo>
                    <a:pt x="400" y="536"/>
                  </a:moveTo>
                  <a:cubicBezTo>
                    <a:pt x="424" y="480"/>
                    <a:pt x="568" y="288"/>
                    <a:pt x="544" y="200"/>
                  </a:cubicBezTo>
                  <a:cubicBezTo>
                    <a:pt x="520" y="112"/>
                    <a:pt x="344" y="0"/>
                    <a:pt x="256" y="8"/>
                  </a:cubicBezTo>
                  <a:cubicBezTo>
                    <a:pt x="168" y="16"/>
                    <a:pt x="32" y="160"/>
                    <a:pt x="16" y="248"/>
                  </a:cubicBezTo>
                  <a:cubicBezTo>
                    <a:pt x="0" y="336"/>
                    <a:pt x="80" y="436"/>
                    <a:pt x="160" y="5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851" name="Text Box 25"/>
            <p:cNvSpPr txBox="1">
              <a:spLocks noChangeArrowheads="1"/>
            </p:cNvSpPr>
            <p:nvPr/>
          </p:nvSpPr>
          <p:spPr bwMode="auto">
            <a:xfrm>
              <a:off x="2150" y="204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0</a:t>
              </a:r>
            </a:p>
          </p:txBody>
        </p:sp>
      </p:grpSp>
      <p:grpSp>
        <p:nvGrpSpPr>
          <p:cNvPr id="35847" name="Group 26"/>
          <p:cNvGrpSpPr>
            <a:grpSpLocks/>
          </p:cNvGrpSpPr>
          <p:nvPr/>
        </p:nvGrpSpPr>
        <p:grpSpPr bwMode="auto">
          <a:xfrm>
            <a:off x="3216276" y="4530726"/>
            <a:ext cx="5241925" cy="1039813"/>
            <a:chOff x="1066" y="2854"/>
            <a:chExt cx="3302" cy="655"/>
          </a:xfrm>
        </p:grpSpPr>
        <p:sp>
          <p:nvSpPr>
            <p:cNvPr id="35848" name="Freeform 27"/>
            <p:cNvSpPr>
              <a:spLocks/>
            </p:cNvSpPr>
            <p:nvPr/>
          </p:nvSpPr>
          <p:spPr bwMode="auto">
            <a:xfrm>
              <a:off x="1066" y="2854"/>
              <a:ext cx="3302" cy="655"/>
            </a:xfrm>
            <a:custGeom>
              <a:avLst/>
              <a:gdLst>
                <a:gd name="T0" fmla="*/ 3040 w 3302"/>
                <a:gd name="T1" fmla="*/ 0 h 655"/>
                <a:gd name="T2" fmla="*/ 2988 w 3302"/>
                <a:gd name="T3" fmla="*/ 534 h 655"/>
                <a:gd name="T4" fmla="*/ 2240 w 3302"/>
                <a:gd name="T5" fmla="*/ 611 h 655"/>
                <a:gd name="T6" fmla="*/ 499 w 3302"/>
                <a:gd name="T7" fmla="*/ 560 h 655"/>
                <a:gd name="T8" fmla="*/ 0 w 3302"/>
                <a:gd name="T9" fmla="*/ 42 h 6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02"/>
                <a:gd name="T16" fmla="*/ 0 h 655"/>
                <a:gd name="T17" fmla="*/ 3302 w 3302"/>
                <a:gd name="T18" fmla="*/ 655 h 6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02" h="655">
                  <a:moveTo>
                    <a:pt x="3040" y="0"/>
                  </a:moveTo>
                  <a:cubicBezTo>
                    <a:pt x="3302" y="173"/>
                    <a:pt x="3118" y="460"/>
                    <a:pt x="2988" y="534"/>
                  </a:cubicBezTo>
                  <a:cubicBezTo>
                    <a:pt x="2855" y="636"/>
                    <a:pt x="2655" y="607"/>
                    <a:pt x="2240" y="611"/>
                  </a:cubicBezTo>
                  <a:cubicBezTo>
                    <a:pt x="1825" y="615"/>
                    <a:pt x="872" y="655"/>
                    <a:pt x="499" y="560"/>
                  </a:cubicBezTo>
                  <a:cubicBezTo>
                    <a:pt x="126" y="465"/>
                    <a:pt x="104" y="150"/>
                    <a:pt x="0" y="4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849" name="Text Box 28"/>
            <p:cNvSpPr txBox="1">
              <a:spLocks noChangeArrowheads="1"/>
            </p:cNvSpPr>
            <p:nvPr/>
          </p:nvSpPr>
          <p:spPr bwMode="auto">
            <a:xfrm>
              <a:off x="2928" y="319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250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159398" y="-393830"/>
            <a:ext cx="10972800" cy="11430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Deterministic and Nondeterministic Automata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Deterministic Finite Automata (DFA)</a:t>
            </a: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One transition per input per state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No </a:t>
            </a:r>
            <a:r>
              <a:rPr lang="en-US" altLang="en-US" dirty="0" smtClean="0">
                <a:sym typeface="Symbol" panose="05050102010706020507" pitchFamily="18" charset="2"/>
              </a:rPr>
              <a:t>-moves</a:t>
            </a:r>
          </a:p>
          <a:p>
            <a:pPr>
              <a:lnSpc>
                <a:spcPct val="110000"/>
              </a:lnSpc>
            </a:pPr>
            <a:r>
              <a:rPr lang="en-US" altLang="en-US" dirty="0" smtClean="0">
                <a:sym typeface="Symbol" panose="05050102010706020507" pitchFamily="18" charset="2"/>
              </a:rPr>
              <a:t>Nondeterministic Finite Automata (NFA)</a:t>
            </a: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Can have multiple transitions for one input in a given state</a:t>
            </a: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Can have -moves</a:t>
            </a:r>
          </a:p>
          <a:p>
            <a:pPr>
              <a:lnSpc>
                <a:spcPct val="110000"/>
              </a:lnSpc>
            </a:pPr>
            <a:r>
              <a:rPr lang="en-US" altLang="en-US" i="1" dirty="0" smtClean="0">
                <a:sym typeface="Symbol" panose="05050102010706020507" pitchFamily="18" charset="2"/>
              </a:rPr>
              <a:t>Finite</a:t>
            </a:r>
            <a:r>
              <a:rPr lang="en-US" altLang="en-US" dirty="0" smtClean="0">
                <a:sym typeface="Symbol" panose="05050102010706020507" pitchFamily="18" charset="2"/>
              </a:rPr>
              <a:t> automata have </a:t>
            </a:r>
            <a:r>
              <a:rPr lang="en-US" altLang="en-US" i="1" dirty="0" smtClean="0">
                <a:sym typeface="Symbol" panose="05050102010706020507" pitchFamily="18" charset="2"/>
              </a:rPr>
              <a:t>finite</a:t>
            </a:r>
            <a:r>
              <a:rPr lang="en-US" altLang="en-US" dirty="0" smtClean="0">
                <a:sym typeface="Symbol" panose="05050102010706020507" pitchFamily="18" charset="2"/>
              </a:rPr>
              <a:t> memory</a:t>
            </a: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Need only to encode the current state</a:t>
            </a:r>
          </a:p>
        </p:txBody>
      </p:sp>
    </p:spTree>
    <p:extLst>
      <p:ext uri="{BB962C8B-B14F-4D97-AF65-F5344CB8AC3E}">
        <p14:creationId xmlns:p14="http://schemas.microsoft.com/office/powerpoint/2010/main" val="88616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82421" y="-391886"/>
            <a:ext cx="10972800" cy="11430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Execution of Finite Automata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286" y="1192214"/>
            <a:ext cx="10972800" cy="4389437"/>
          </a:xfrm>
        </p:spPr>
        <p:txBody>
          <a:bodyPr/>
          <a:lstStyle/>
          <a:p>
            <a:r>
              <a:rPr lang="en-US" altLang="en-US" dirty="0" smtClean="0"/>
              <a:t>A DFA can take only one path through the state graph</a:t>
            </a:r>
          </a:p>
          <a:p>
            <a:pPr lvl="1"/>
            <a:r>
              <a:rPr lang="en-US" altLang="en-US" dirty="0" smtClean="0"/>
              <a:t>Completely determined by input</a:t>
            </a:r>
          </a:p>
          <a:p>
            <a:pPr lvl="1"/>
            <a:endParaRPr lang="en-US" altLang="en-US" dirty="0" smtClean="0"/>
          </a:p>
          <a:p>
            <a:r>
              <a:rPr lang="en-US" altLang="en-US" dirty="0" smtClean="0"/>
              <a:t>NFAs can choose</a:t>
            </a:r>
          </a:p>
          <a:p>
            <a:pPr lvl="1"/>
            <a:r>
              <a:rPr lang="en-US" altLang="en-US" dirty="0" smtClean="0"/>
              <a:t>Whether to make </a:t>
            </a:r>
            <a:r>
              <a:rPr lang="en-US" altLang="en-US" dirty="0" smtClean="0">
                <a:sym typeface="Symbol" panose="05050102010706020507" pitchFamily="18" charset="2"/>
              </a:rPr>
              <a:t>-moves</a:t>
            </a: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Which of multiple transitions for a single input to take</a:t>
            </a:r>
          </a:p>
        </p:txBody>
      </p:sp>
    </p:spTree>
    <p:extLst>
      <p:ext uri="{BB962C8B-B14F-4D97-AF65-F5344CB8AC3E}">
        <p14:creationId xmlns:p14="http://schemas.microsoft.com/office/powerpoint/2010/main" val="425229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881313" y="1703388"/>
            <a:ext cx="3668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is the set of states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881313" y="2344738"/>
            <a:ext cx="2989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Σ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is the alphabet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2881314" y="2986088"/>
            <a:ext cx="707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: Q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l-G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Σ</a:t>
            </a:r>
            <a:r>
              <a:rPr kumimoji="0" lang="el-GR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ε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2</a:t>
            </a:r>
            <a:r>
              <a:rPr kumimoji="0" lang="en-US" altLang="en-US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is the transition function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2881313" y="3627438"/>
            <a:ext cx="540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 Q is the set of start states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2881314" y="4268788"/>
            <a:ext cx="5565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 Q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is the set of accept states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260328" y="173815"/>
            <a:ext cx="947927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non-deterministic finite automaton (NFA) is a 5-tuple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 = (Q, </a:t>
            </a:r>
            <a:r>
              <a:rPr kumimoji="0" lang="el-G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, Q</a:t>
            </a:r>
            <a:r>
              <a:rPr kumimoji="0" lang="en-US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 F) 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2146594" y="5203048"/>
            <a:ext cx="7593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</a:t>
            </a:r>
            <a:r>
              <a:rPr kumimoji="0" lang="en-US" altLang="en-US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is the set of subsets of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and </a:t>
            </a:r>
            <a:r>
              <a:rPr kumimoji="0" lang="el-G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Σ</a:t>
            </a:r>
            <a:r>
              <a:rPr kumimoji="0" lang="el-GR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ε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</a:t>
            </a:r>
            <a:r>
              <a:rPr kumimoji="0" lang="el-G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l-G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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{</a:t>
            </a:r>
            <a:r>
              <a:rPr kumimoji="0" lang="el-G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  <a:endParaRPr kumimoji="0" lang="el-GR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6082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-417511"/>
            <a:ext cx="8229600" cy="11430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</a:rPr>
              <a:t>Acceptance of NFAs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05800" cy="838200"/>
          </a:xfrm>
        </p:spPr>
        <p:txBody>
          <a:bodyPr/>
          <a:lstStyle/>
          <a:p>
            <a:r>
              <a:rPr lang="en-US" altLang="en-US" smtClean="0"/>
              <a:t>An NFA can get into multiple states</a:t>
            </a:r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1981200" y="4724400"/>
            <a:ext cx="1676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Input:</a:t>
            </a:r>
          </a:p>
        </p:txBody>
      </p:sp>
      <p:grpSp>
        <p:nvGrpSpPr>
          <p:cNvPr id="40966" name="Group 5"/>
          <p:cNvGrpSpPr>
            <a:grpSpLocks/>
          </p:cNvGrpSpPr>
          <p:nvPr/>
        </p:nvGrpSpPr>
        <p:grpSpPr bwMode="auto">
          <a:xfrm>
            <a:off x="3124200" y="2062164"/>
            <a:ext cx="5562600" cy="2738437"/>
            <a:chOff x="672" y="1321"/>
            <a:chExt cx="3504" cy="1725"/>
          </a:xfrm>
        </p:grpSpPr>
        <p:grpSp>
          <p:nvGrpSpPr>
            <p:cNvPr id="40980" name="Group 6"/>
            <p:cNvGrpSpPr>
              <a:grpSpLocks/>
            </p:cNvGrpSpPr>
            <p:nvPr/>
          </p:nvGrpSpPr>
          <p:grpSpPr bwMode="auto">
            <a:xfrm>
              <a:off x="1296" y="1775"/>
              <a:ext cx="1024" cy="336"/>
              <a:chOff x="3072" y="2976"/>
              <a:chExt cx="1024" cy="336"/>
            </a:xfrm>
          </p:grpSpPr>
          <p:sp>
            <p:nvSpPr>
              <p:cNvPr id="40997" name="Freeform 7"/>
              <p:cNvSpPr>
                <a:spLocks/>
              </p:cNvSpPr>
              <p:nvPr/>
            </p:nvSpPr>
            <p:spPr bwMode="auto">
              <a:xfrm>
                <a:off x="3072" y="3218"/>
                <a:ext cx="1024" cy="94"/>
              </a:xfrm>
              <a:custGeom>
                <a:avLst/>
                <a:gdLst>
                  <a:gd name="T0" fmla="*/ 0 w 1024"/>
                  <a:gd name="T1" fmla="*/ 94 h 94"/>
                  <a:gd name="T2" fmla="*/ 512 w 1024"/>
                  <a:gd name="T3" fmla="*/ 1 h 94"/>
                  <a:gd name="T4" fmla="*/ 1024 w 1024"/>
                  <a:gd name="T5" fmla="*/ 91 h 94"/>
                  <a:gd name="T6" fmla="*/ 0 60000 65536"/>
                  <a:gd name="T7" fmla="*/ 0 60000 65536"/>
                  <a:gd name="T8" fmla="*/ 0 60000 65536"/>
                  <a:gd name="T9" fmla="*/ 0 w 1024"/>
                  <a:gd name="T10" fmla="*/ 0 h 94"/>
                  <a:gd name="T11" fmla="*/ 1024 w 1024"/>
                  <a:gd name="T12" fmla="*/ 94 h 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4" h="94">
                    <a:moveTo>
                      <a:pt x="0" y="94"/>
                    </a:moveTo>
                    <a:cubicBezTo>
                      <a:pt x="85" y="78"/>
                      <a:pt x="341" y="2"/>
                      <a:pt x="512" y="1"/>
                    </a:cubicBezTo>
                    <a:cubicBezTo>
                      <a:pt x="683" y="0"/>
                      <a:pt x="917" y="72"/>
                      <a:pt x="1024" y="91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998" name="Text Box 8"/>
              <p:cNvSpPr txBox="1">
                <a:spLocks noChangeArrowheads="1"/>
              </p:cNvSpPr>
              <p:nvPr/>
            </p:nvSpPr>
            <p:spPr bwMode="auto">
              <a:xfrm>
                <a:off x="3552" y="297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rPr>
                  <a:t>0</a:t>
                </a:r>
              </a:p>
            </p:txBody>
          </p:sp>
        </p:grpSp>
        <p:grpSp>
          <p:nvGrpSpPr>
            <p:cNvPr id="40981" name="Group 9"/>
            <p:cNvGrpSpPr>
              <a:grpSpLocks/>
            </p:cNvGrpSpPr>
            <p:nvPr/>
          </p:nvGrpSpPr>
          <p:grpSpPr bwMode="auto">
            <a:xfrm>
              <a:off x="3696" y="1919"/>
              <a:ext cx="480" cy="480"/>
              <a:chOff x="3264" y="2112"/>
              <a:chExt cx="480" cy="480"/>
            </a:xfrm>
          </p:grpSpPr>
          <p:sp>
            <p:nvSpPr>
              <p:cNvPr id="40995" name="Oval 10"/>
              <p:cNvSpPr>
                <a:spLocks noChangeArrowheads="1"/>
              </p:cNvSpPr>
              <p:nvPr/>
            </p:nvSpPr>
            <p:spPr bwMode="auto">
              <a:xfrm>
                <a:off x="3312" y="2160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996" name="Oval 11"/>
              <p:cNvSpPr>
                <a:spLocks noChangeArrowheads="1"/>
              </p:cNvSpPr>
              <p:nvPr/>
            </p:nvSpPr>
            <p:spPr bwMode="auto">
              <a:xfrm>
                <a:off x="3264" y="2112"/>
                <a:ext cx="480" cy="48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982" name="Group 12"/>
            <p:cNvGrpSpPr>
              <a:grpSpLocks/>
            </p:cNvGrpSpPr>
            <p:nvPr/>
          </p:nvGrpSpPr>
          <p:grpSpPr bwMode="auto">
            <a:xfrm>
              <a:off x="672" y="1967"/>
              <a:ext cx="624" cy="432"/>
              <a:chOff x="3264" y="1488"/>
              <a:chExt cx="624" cy="432"/>
            </a:xfrm>
          </p:grpSpPr>
          <p:sp>
            <p:nvSpPr>
              <p:cNvPr id="40993" name="Oval 13"/>
              <p:cNvSpPr>
                <a:spLocks noChangeArrowheads="1"/>
              </p:cNvSpPr>
              <p:nvPr/>
            </p:nvSpPr>
            <p:spPr bwMode="auto">
              <a:xfrm>
                <a:off x="3504" y="1488"/>
                <a:ext cx="38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994" name="Line 14"/>
              <p:cNvSpPr>
                <a:spLocks noChangeShapeType="1"/>
              </p:cNvSpPr>
              <p:nvPr/>
            </p:nvSpPr>
            <p:spPr bwMode="auto">
              <a:xfrm flipV="1">
                <a:off x="3264" y="1776"/>
                <a:ext cx="28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983" name="Group 15"/>
            <p:cNvGrpSpPr>
              <a:grpSpLocks/>
            </p:cNvGrpSpPr>
            <p:nvPr/>
          </p:nvGrpSpPr>
          <p:grpSpPr bwMode="auto">
            <a:xfrm>
              <a:off x="848" y="1321"/>
              <a:ext cx="650" cy="694"/>
              <a:chOff x="1712" y="2042"/>
              <a:chExt cx="650" cy="694"/>
            </a:xfrm>
          </p:grpSpPr>
          <p:sp>
            <p:nvSpPr>
              <p:cNvPr id="40991" name="Freeform 16"/>
              <p:cNvSpPr>
                <a:spLocks/>
              </p:cNvSpPr>
              <p:nvPr/>
            </p:nvSpPr>
            <p:spPr bwMode="auto">
              <a:xfrm>
                <a:off x="1712" y="2200"/>
                <a:ext cx="568" cy="536"/>
              </a:xfrm>
              <a:custGeom>
                <a:avLst/>
                <a:gdLst>
                  <a:gd name="T0" fmla="*/ 400 w 568"/>
                  <a:gd name="T1" fmla="*/ 536 h 536"/>
                  <a:gd name="T2" fmla="*/ 544 w 568"/>
                  <a:gd name="T3" fmla="*/ 200 h 536"/>
                  <a:gd name="T4" fmla="*/ 256 w 568"/>
                  <a:gd name="T5" fmla="*/ 8 h 536"/>
                  <a:gd name="T6" fmla="*/ 16 w 568"/>
                  <a:gd name="T7" fmla="*/ 248 h 536"/>
                  <a:gd name="T8" fmla="*/ 160 w 568"/>
                  <a:gd name="T9" fmla="*/ 536 h 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8"/>
                  <a:gd name="T16" fmla="*/ 0 h 536"/>
                  <a:gd name="T17" fmla="*/ 568 w 568"/>
                  <a:gd name="T18" fmla="*/ 536 h 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8" h="536">
                    <a:moveTo>
                      <a:pt x="400" y="536"/>
                    </a:moveTo>
                    <a:cubicBezTo>
                      <a:pt x="424" y="480"/>
                      <a:pt x="568" y="288"/>
                      <a:pt x="544" y="200"/>
                    </a:cubicBezTo>
                    <a:cubicBezTo>
                      <a:pt x="520" y="112"/>
                      <a:pt x="344" y="0"/>
                      <a:pt x="256" y="8"/>
                    </a:cubicBezTo>
                    <a:cubicBezTo>
                      <a:pt x="168" y="16"/>
                      <a:pt x="32" y="160"/>
                      <a:pt x="16" y="248"/>
                    </a:cubicBezTo>
                    <a:cubicBezTo>
                      <a:pt x="0" y="336"/>
                      <a:pt x="80" y="436"/>
                      <a:pt x="160" y="53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992" name="Text Box 17"/>
              <p:cNvSpPr txBox="1">
                <a:spLocks noChangeArrowheads="1"/>
              </p:cNvSpPr>
              <p:nvPr/>
            </p:nvSpPr>
            <p:spPr bwMode="auto">
              <a:xfrm>
                <a:off x="2150" y="204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40984" name="Oval 18"/>
            <p:cNvSpPr>
              <a:spLocks noChangeArrowheads="1"/>
            </p:cNvSpPr>
            <p:nvPr/>
          </p:nvSpPr>
          <p:spPr bwMode="auto">
            <a:xfrm>
              <a:off x="2304" y="1967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40985" name="Group 19"/>
            <p:cNvGrpSpPr>
              <a:grpSpLocks/>
            </p:cNvGrpSpPr>
            <p:nvPr/>
          </p:nvGrpSpPr>
          <p:grpSpPr bwMode="auto">
            <a:xfrm>
              <a:off x="2688" y="1775"/>
              <a:ext cx="1024" cy="336"/>
              <a:chOff x="3072" y="2976"/>
              <a:chExt cx="1024" cy="336"/>
            </a:xfrm>
          </p:grpSpPr>
          <p:sp>
            <p:nvSpPr>
              <p:cNvPr id="40989" name="Freeform 20"/>
              <p:cNvSpPr>
                <a:spLocks/>
              </p:cNvSpPr>
              <p:nvPr/>
            </p:nvSpPr>
            <p:spPr bwMode="auto">
              <a:xfrm>
                <a:off x="3072" y="3218"/>
                <a:ext cx="1024" cy="94"/>
              </a:xfrm>
              <a:custGeom>
                <a:avLst/>
                <a:gdLst>
                  <a:gd name="T0" fmla="*/ 0 w 1024"/>
                  <a:gd name="T1" fmla="*/ 94 h 94"/>
                  <a:gd name="T2" fmla="*/ 512 w 1024"/>
                  <a:gd name="T3" fmla="*/ 1 h 94"/>
                  <a:gd name="T4" fmla="*/ 1024 w 1024"/>
                  <a:gd name="T5" fmla="*/ 91 h 94"/>
                  <a:gd name="T6" fmla="*/ 0 60000 65536"/>
                  <a:gd name="T7" fmla="*/ 0 60000 65536"/>
                  <a:gd name="T8" fmla="*/ 0 60000 65536"/>
                  <a:gd name="T9" fmla="*/ 0 w 1024"/>
                  <a:gd name="T10" fmla="*/ 0 h 94"/>
                  <a:gd name="T11" fmla="*/ 1024 w 1024"/>
                  <a:gd name="T12" fmla="*/ 94 h 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4" h="94">
                    <a:moveTo>
                      <a:pt x="0" y="94"/>
                    </a:moveTo>
                    <a:cubicBezTo>
                      <a:pt x="85" y="78"/>
                      <a:pt x="341" y="2"/>
                      <a:pt x="512" y="1"/>
                    </a:cubicBezTo>
                    <a:cubicBezTo>
                      <a:pt x="683" y="0"/>
                      <a:pt x="917" y="72"/>
                      <a:pt x="1024" y="91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990" name="Text Box 21"/>
              <p:cNvSpPr txBox="1">
                <a:spLocks noChangeArrowheads="1"/>
              </p:cNvSpPr>
              <p:nvPr/>
            </p:nvSpPr>
            <p:spPr bwMode="auto">
              <a:xfrm>
                <a:off x="3552" y="297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40986" name="Group 22"/>
            <p:cNvGrpSpPr>
              <a:grpSpLocks/>
            </p:cNvGrpSpPr>
            <p:nvPr/>
          </p:nvGrpSpPr>
          <p:grpSpPr bwMode="auto">
            <a:xfrm flipV="1">
              <a:off x="816" y="2352"/>
              <a:ext cx="650" cy="694"/>
              <a:chOff x="1712" y="2042"/>
              <a:chExt cx="650" cy="694"/>
            </a:xfrm>
          </p:grpSpPr>
          <p:sp>
            <p:nvSpPr>
              <p:cNvPr id="40987" name="Freeform 23"/>
              <p:cNvSpPr>
                <a:spLocks/>
              </p:cNvSpPr>
              <p:nvPr/>
            </p:nvSpPr>
            <p:spPr bwMode="auto">
              <a:xfrm>
                <a:off x="1712" y="2200"/>
                <a:ext cx="568" cy="536"/>
              </a:xfrm>
              <a:custGeom>
                <a:avLst/>
                <a:gdLst>
                  <a:gd name="T0" fmla="*/ 400 w 568"/>
                  <a:gd name="T1" fmla="*/ 536 h 536"/>
                  <a:gd name="T2" fmla="*/ 544 w 568"/>
                  <a:gd name="T3" fmla="*/ 200 h 536"/>
                  <a:gd name="T4" fmla="*/ 256 w 568"/>
                  <a:gd name="T5" fmla="*/ 8 h 536"/>
                  <a:gd name="T6" fmla="*/ 16 w 568"/>
                  <a:gd name="T7" fmla="*/ 248 h 536"/>
                  <a:gd name="T8" fmla="*/ 160 w 568"/>
                  <a:gd name="T9" fmla="*/ 536 h 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8"/>
                  <a:gd name="T16" fmla="*/ 0 h 536"/>
                  <a:gd name="T17" fmla="*/ 568 w 568"/>
                  <a:gd name="T18" fmla="*/ 536 h 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8" h="536">
                    <a:moveTo>
                      <a:pt x="400" y="536"/>
                    </a:moveTo>
                    <a:cubicBezTo>
                      <a:pt x="424" y="480"/>
                      <a:pt x="568" y="288"/>
                      <a:pt x="544" y="200"/>
                    </a:cubicBezTo>
                    <a:cubicBezTo>
                      <a:pt x="520" y="112"/>
                      <a:pt x="344" y="0"/>
                      <a:pt x="256" y="8"/>
                    </a:cubicBezTo>
                    <a:cubicBezTo>
                      <a:pt x="168" y="16"/>
                      <a:pt x="32" y="160"/>
                      <a:pt x="16" y="248"/>
                    </a:cubicBezTo>
                    <a:cubicBezTo>
                      <a:pt x="0" y="336"/>
                      <a:pt x="80" y="436"/>
                      <a:pt x="160" y="53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988" name="Text Box 24"/>
              <p:cNvSpPr txBox="1">
                <a:spLocks noChangeArrowheads="1"/>
              </p:cNvSpPr>
              <p:nvPr/>
            </p:nvSpPr>
            <p:spPr bwMode="auto">
              <a:xfrm>
                <a:off x="2150" y="204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rPr>
                  <a:t>0</a:t>
                </a:r>
              </a:p>
            </p:txBody>
          </p:sp>
        </p:grpSp>
      </p:grpSp>
      <p:sp>
        <p:nvSpPr>
          <p:cNvPr id="168985" name="Text Box 25"/>
          <p:cNvSpPr txBox="1">
            <a:spLocks noChangeArrowheads="1"/>
          </p:cNvSpPr>
          <p:nvPr/>
        </p:nvSpPr>
        <p:spPr bwMode="auto">
          <a:xfrm>
            <a:off x="4419600" y="4724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8986" name="Text Box 26"/>
          <p:cNvSpPr txBox="1">
            <a:spLocks noChangeArrowheads="1"/>
          </p:cNvSpPr>
          <p:nvPr/>
        </p:nvSpPr>
        <p:spPr bwMode="auto">
          <a:xfrm>
            <a:off x="4876800" y="4724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68987" name="Text Box 27"/>
          <p:cNvSpPr txBox="1">
            <a:spLocks noChangeArrowheads="1"/>
          </p:cNvSpPr>
          <p:nvPr/>
        </p:nvSpPr>
        <p:spPr bwMode="auto">
          <a:xfrm>
            <a:off x="5334000" y="4724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8988" name="Rectangle 28"/>
          <p:cNvSpPr>
            <a:spLocks noChangeArrowheads="1"/>
          </p:cNvSpPr>
          <p:nvPr/>
        </p:nvSpPr>
        <p:spPr bwMode="auto">
          <a:xfrm>
            <a:off x="1981200" y="53340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Rule: NFA accepts if it </a:t>
            </a:r>
            <a:r>
              <a:rPr kumimoji="0" lang="en-US" altLang="en-US" sz="28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can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 get in a final state</a:t>
            </a:r>
          </a:p>
        </p:txBody>
      </p:sp>
      <p:sp>
        <p:nvSpPr>
          <p:cNvPr id="40971" name="Line 29"/>
          <p:cNvSpPr>
            <a:spLocks noChangeShapeType="1"/>
          </p:cNvSpPr>
          <p:nvPr/>
        </p:nvSpPr>
        <p:spPr bwMode="auto">
          <a:xfrm flipV="1">
            <a:off x="3133725" y="3543300"/>
            <a:ext cx="4572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8990" name="Freeform 30"/>
          <p:cNvSpPr>
            <a:spLocks/>
          </p:cNvSpPr>
          <p:nvPr/>
        </p:nvSpPr>
        <p:spPr bwMode="auto">
          <a:xfrm>
            <a:off x="3400425" y="2305050"/>
            <a:ext cx="901700" cy="850900"/>
          </a:xfrm>
          <a:custGeom>
            <a:avLst/>
            <a:gdLst>
              <a:gd name="T0" fmla="*/ 400 w 568"/>
              <a:gd name="T1" fmla="*/ 536 h 536"/>
              <a:gd name="T2" fmla="*/ 544 w 568"/>
              <a:gd name="T3" fmla="*/ 200 h 536"/>
              <a:gd name="T4" fmla="*/ 256 w 568"/>
              <a:gd name="T5" fmla="*/ 8 h 536"/>
              <a:gd name="T6" fmla="*/ 16 w 568"/>
              <a:gd name="T7" fmla="*/ 248 h 536"/>
              <a:gd name="T8" fmla="*/ 160 w 568"/>
              <a:gd name="T9" fmla="*/ 53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8"/>
              <a:gd name="T16" fmla="*/ 0 h 536"/>
              <a:gd name="T17" fmla="*/ 568 w 568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8" h="536">
                <a:moveTo>
                  <a:pt x="400" y="536"/>
                </a:moveTo>
                <a:cubicBezTo>
                  <a:pt x="424" y="480"/>
                  <a:pt x="568" y="288"/>
                  <a:pt x="544" y="200"/>
                </a:cubicBezTo>
                <a:cubicBezTo>
                  <a:pt x="520" y="112"/>
                  <a:pt x="344" y="0"/>
                  <a:pt x="256" y="8"/>
                </a:cubicBezTo>
                <a:cubicBezTo>
                  <a:pt x="168" y="16"/>
                  <a:pt x="32" y="160"/>
                  <a:pt x="16" y="248"/>
                </a:cubicBezTo>
                <a:cubicBezTo>
                  <a:pt x="0" y="336"/>
                  <a:pt x="80" y="436"/>
                  <a:pt x="160" y="536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8991" name="Freeform 31"/>
          <p:cNvSpPr>
            <a:spLocks/>
          </p:cNvSpPr>
          <p:nvPr/>
        </p:nvSpPr>
        <p:spPr bwMode="auto">
          <a:xfrm flipV="1">
            <a:off x="3362325" y="3686175"/>
            <a:ext cx="901700" cy="850900"/>
          </a:xfrm>
          <a:custGeom>
            <a:avLst/>
            <a:gdLst>
              <a:gd name="T0" fmla="*/ 400 w 568"/>
              <a:gd name="T1" fmla="*/ 536 h 536"/>
              <a:gd name="T2" fmla="*/ 544 w 568"/>
              <a:gd name="T3" fmla="*/ 200 h 536"/>
              <a:gd name="T4" fmla="*/ 256 w 568"/>
              <a:gd name="T5" fmla="*/ 8 h 536"/>
              <a:gd name="T6" fmla="*/ 16 w 568"/>
              <a:gd name="T7" fmla="*/ 248 h 536"/>
              <a:gd name="T8" fmla="*/ 160 w 568"/>
              <a:gd name="T9" fmla="*/ 53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8"/>
              <a:gd name="T16" fmla="*/ 0 h 536"/>
              <a:gd name="T17" fmla="*/ 568 w 568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8" h="536">
                <a:moveTo>
                  <a:pt x="400" y="536"/>
                </a:moveTo>
                <a:cubicBezTo>
                  <a:pt x="424" y="480"/>
                  <a:pt x="568" y="288"/>
                  <a:pt x="544" y="200"/>
                </a:cubicBezTo>
                <a:cubicBezTo>
                  <a:pt x="520" y="112"/>
                  <a:pt x="344" y="0"/>
                  <a:pt x="256" y="8"/>
                </a:cubicBezTo>
                <a:cubicBezTo>
                  <a:pt x="168" y="16"/>
                  <a:pt x="32" y="160"/>
                  <a:pt x="16" y="248"/>
                </a:cubicBezTo>
                <a:cubicBezTo>
                  <a:pt x="0" y="336"/>
                  <a:pt x="80" y="436"/>
                  <a:pt x="160" y="536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8992" name="Freeform 32"/>
          <p:cNvSpPr>
            <a:spLocks/>
          </p:cNvSpPr>
          <p:nvPr/>
        </p:nvSpPr>
        <p:spPr bwMode="auto">
          <a:xfrm>
            <a:off x="4114800" y="3162301"/>
            <a:ext cx="1625600" cy="149225"/>
          </a:xfrm>
          <a:custGeom>
            <a:avLst/>
            <a:gdLst>
              <a:gd name="T0" fmla="*/ 0 w 1024"/>
              <a:gd name="T1" fmla="*/ 94 h 94"/>
              <a:gd name="T2" fmla="*/ 512 w 1024"/>
              <a:gd name="T3" fmla="*/ 1 h 94"/>
              <a:gd name="T4" fmla="*/ 1024 w 1024"/>
              <a:gd name="T5" fmla="*/ 91 h 94"/>
              <a:gd name="T6" fmla="*/ 0 60000 65536"/>
              <a:gd name="T7" fmla="*/ 0 60000 65536"/>
              <a:gd name="T8" fmla="*/ 0 60000 65536"/>
              <a:gd name="T9" fmla="*/ 0 w 1024"/>
              <a:gd name="T10" fmla="*/ 0 h 94"/>
              <a:gd name="T11" fmla="*/ 1024 w 1024"/>
              <a:gd name="T12" fmla="*/ 94 h 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24" h="94">
                <a:moveTo>
                  <a:pt x="0" y="94"/>
                </a:moveTo>
                <a:cubicBezTo>
                  <a:pt x="85" y="78"/>
                  <a:pt x="341" y="2"/>
                  <a:pt x="512" y="1"/>
                </a:cubicBezTo>
                <a:cubicBezTo>
                  <a:pt x="683" y="0"/>
                  <a:pt x="917" y="72"/>
                  <a:pt x="1024" y="91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8993" name="Freeform 33"/>
          <p:cNvSpPr>
            <a:spLocks/>
          </p:cNvSpPr>
          <p:nvPr/>
        </p:nvSpPr>
        <p:spPr bwMode="auto">
          <a:xfrm>
            <a:off x="6334125" y="3171826"/>
            <a:ext cx="1625600" cy="149225"/>
          </a:xfrm>
          <a:custGeom>
            <a:avLst/>
            <a:gdLst>
              <a:gd name="T0" fmla="*/ 0 w 1024"/>
              <a:gd name="T1" fmla="*/ 94 h 94"/>
              <a:gd name="T2" fmla="*/ 512 w 1024"/>
              <a:gd name="T3" fmla="*/ 1 h 94"/>
              <a:gd name="T4" fmla="*/ 1024 w 1024"/>
              <a:gd name="T5" fmla="*/ 91 h 94"/>
              <a:gd name="T6" fmla="*/ 0 60000 65536"/>
              <a:gd name="T7" fmla="*/ 0 60000 65536"/>
              <a:gd name="T8" fmla="*/ 0 60000 65536"/>
              <a:gd name="T9" fmla="*/ 0 w 1024"/>
              <a:gd name="T10" fmla="*/ 0 h 94"/>
              <a:gd name="T11" fmla="*/ 1024 w 1024"/>
              <a:gd name="T12" fmla="*/ 94 h 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24" h="94">
                <a:moveTo>
                  <a:pt x="0" y="94"/>
                </a:moveTo>
                <a:cubicBezTo>
                  <a:pt x="85" y="78"/>
                  <a:pt x="341" y="2"/>
                  <a:pt x="512" y="1"/>
                </a:cubicBezTo>
                <a:cubicBezTo>
                  <a:pt x="683" y="0"/>
                  <a:pt x="917" y="72"/>
                  <a:pt x="1024" y="91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8994" name="Oval 34"/>
          <p:cNvSpPr>
            <a:spLocks noChangeArrowheads="1"/>
          </p:cNvSpPr>
          <p:nvPr/>
        </p:nvSpPr>
        <p:spPr bwMode="auto">
          <a:xfrm>
            <a:off x="8001000" y="3086100"/>
            <a:ext cx="609600" cy="609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8995" name="Oval 35"/>
          <p:cNvSpPr>
            <a:spLocks noChangeArrowheads="1"/>
          </p:cNvSpPr>
          <p:nvPr/>
        </p:nvSpPr>
        <p:spPr bwMode="auto">
          <a:xfrm>
            <a:off x="3505200" y="3095625"/>
            <a:ext cx="609600" cy="609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8996" name="Oval 36"/>
          <p:cNvSpPr>
            <a:spLocks noChangeArrowheads="1"/>
          </p:cNvSpPr>
          <p:nvPr/>
        </p:nvSpPr>
        <p:spPr bwMode="auto">
          <a:xfrm>
            <a:off x="5715000" y="3086100"/>
            <a:ext cx="609600" cy="609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8997" name="Oval 37"/>
          <p:cNvSpPr>
            <a:spLocks noChangeArrowheads="1"/>
          </p:cNvSpPr>
          <p:nvPr/>
        </p:nvSpPr>
        <p:spPr bwMode="auto">
          <a:xfrm>
            <a:off x="5715000" y="3086100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59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85" grpId="0" autoUpdateAnimBg="0"/>
      <p:bldP spid="168986" grpId="0" autoUpdateAnimBg="0"/>
      <p:bldP spid="168987" grpId="0" autoUpdateAnimBg="0"/>
      <p:bldP spid="168988" grpId="0" autoUpdateAnimBg="0"/>
      <p:bldP spid="168990" grpId="0" animBg="1"/>
      <p:bldP spid="168991" grpId="0" animBg="1"/>
      <p:bldP spid="168992" grpId="0" animBg="1"/>
      <p:bldP spid="168993" grpId="0" animBg="1"/>
      <p:bldP spid="168994" grpId="0" animBg="1"/>
      <p:bldP spid="168995" grpId="0" animBg="1"/>
      <p:bldP spid="168996" grpId="0" animBg="1"/>
      <p:bldP spid="16899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Algorithm: The McNaughton-Yamada-Thompson algorithm to </a:t>
            </a:r>
            <a:br>
              <a:rPr lang="en-US" alt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convert a  regular expression to a NFA.</a:t>
            </a:r>
            <a:endParaRPr lang="en-US" alt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2464" y="1390865"/>
            <a:ext cx="11219936" cy="5181385"/>
          </a:xfrm>
        </p:spPr>
        <p:txBody>
          <a:bodyPr/>
          <a:lstStyle/>
          <a:p>
            <a:r>
              <a:rPr lang="en-US" altLang="en-US" dirty="0"/>
              <a:t>INPUT: A regular expression r over alphabet </a:t>
            </a:r>
            <a:r>
              <a:rPr lang="en-US" altLang="en-US" dirty="0">
                <a:sym typeface="Symbol" panose="05050102010706020507" pitchFamily="18" charset="2"/>
              </a:rPr>
              <a:t>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OUTPUT: An NFA N accepting L(r).</a:t>
            </a:r>
          </a:p>
          <a:p>
            <a:pPr algn="justLow"/>
            <a:r>
              <a:rPr lang="en-US" altLang="en-US" dirty="0"/>
              <a:t>Method: Begin by parsing r into its constituent sub-expressions. The rules for constructing an NFA consist of basis rules for handling sub-expressions with no operators, and inductive rules for constructing larger NFA's from the NFA's for the immediate sub-expressions of a given expression.</a:t>
            </a:r>
          </a:p>
          <a:p>
            <a:pPr lvl="1"/>
            <a:r>
              <a:rPr lang="en-US" altLang="en-US" sz="2600" dirty="0"/>
              <a:t>For expression </a:t>
            </a:r>
            <a:r>
              <a:rPr lang="en-US" altLang="en-US" sz="2600" b="1" dirty="0" smtClean="0">
                <a:solidFill>
                  <a:srgbClr val="C00000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600" dirty="0" smtClean="0"/>
              <a:t> </a:t>
            </a:r>
            <a:r>
              <a:rPr lang="en-US" altLang="en-US" sz="2600" dirty="0"/>
              <a:t>construct the NFA</a:t>
            </a:r>
          </a:p>
          <a:p>
            <a:pPr algn="justLow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600" dirty="0"/>
              <a:t>For any sub-expression </a:t>
            </a:r>
            <a:r>
              <a:rPr lang="en-US" altLang="en-US" sz="2600" b="1" dirty="0">
                <a:solidFill>
                  <a:srgbClr val="C00000"/>
                </a:solidFill>
              </a:rPr>
              <a:t>a</a:t>
            </a:r>
            <a:r>
              <a:rPr lang="en-US" altLang="en-US" sz="2600" dirty="0"/>
              <a:t> in C, construct the NFA</a:t>
            </a:r>
          </a:p>
          <a:p>
            <a:endParaRPr lang="en-US" altLang="en-US" dirty="0"/>
          </a:p>
        </p:txBody>
      </p:sp>
      <p:pic>
        <p:nvPicPr>
          <p:cNvPr id="757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741" y="4380386"/>
            <a:ext cx="3097212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133" y="5859421"/>
            <a:ext cx="2582862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03782" y="228601"/>
            <a:ext cx="11516369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/>
                <a:ea typeface="+mj-ea"/>
                <a:cs typeface="+mj-cs"/>
              </a:rPr>
              <a:t>Algorithm: The McNaughton-Yamada-Thompson algorithm to </a:t>
            </a:r>
            <a:r>
              <a:rPr kumimoji="0" lang="en-US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/>
                <a:ea typeface="+mj-ea"/>
                <a:cs typeface="+mj-cs"/>
              </a:rPr>
              <a:t>convert 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/>
                <a:ea typeface="+mj-ea"/>
                <a:cs typeface="+mj-cs"/>
              </a:rPr>
              <a:t>a  regular expression to a NFA.</a:t>
            </a:r>
          </a:p>
        </p:txBody>
      </p:sp>
    </p:spTree>
    <p:extLst>
      <p:ext uri="{BB962C8B-B14F-4D97-AF65-F5344CB8AC3E}">
        <p14:creationId xmlns:p14="http://schemas.microsoft.com/office/powerpoint/2010/main" val="347978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7709" y="-430897"/>
            <a:ext cx="10972800" cy="1143000"/>
          </a:xfrm>
        </p:spPr>
        <p:txBody>
          <a:bodyPr/>
          <a:lstStyle/>
          <a:p>
            <a:r>
              <a:rPr lang="en-US" altLang="en-US" sz="3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 to NFA (cont.)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807" y="1432656"/>
            <a:ext cx="10972800" cy="4389437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for the union of two regular expressions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/>
          </a:p>
        </p:txBody>
      </p:sp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142" y="1923824"/>
            <a:ext cx="4167187" cy="216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042" y="4575579"/>
            <a:ext cx="3951287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479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58511" y="103074"/>
            <a:ext cx="8229600" cy="568096"/>
          </a:xfrm>
        </p:spPr>
        <p:txBody>
          <a:bodyPr/>
          <a:lstStyle/>
          <a:p>
            <a:r>
              <a:rPr lang="en-US" altLang="en-US" sz="3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Regular Expressions to NFA </a:t>
            </a:r>
            <a:r>
              <a:rPr lang="en-US" altLang="en-US" sz="360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 Examples</a:t>
            </a:r>
            <a:endParaRPr lang="en-US" altLang="en-US" sz="36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09700"/>
            <a:ext cx="8305800" cy="5334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en-US" dirty="0" smtClean="0"/>
              <a:t>For AB</a:t>
            </a:r>
          </a:p>
        </p:txBody>
      </p:sp>
      <p:grpSp>
        <p:nvGrpSpPr>
          <p:cNvPr id="46085" name="Group 4"/>
          <p:cNvGrpSpPr>
            <a:grpSpLocks/>
          </p:cNvGrpSpPr>
          <p:nvPr/>
        </p:nvGrpSpPr>
        <p:grpSpPr bwMode="auto">
          <a:xfrm>
            <a:off x="2667000" y="2057400"/>
            <a:ext cx="6019800" cy="838200"/>
            <a:chOff x="720" y="1296"/>
            <a:chExt cx="3792" cy="528"/>
          </a:xfrm>
        </p:grpSpPr>
        <p:sp>
          <p:nvSpPr>
            <p:cNvPr id="46107" name="Oval 5"/>
            <p:cNvSpPr>
              <a:spLocks noChangeArrowheads="1"/>
            </p:cNvSpPr>
            <p:nvPr/>
          </p:nvSpPr>
          <p:spPr bwMode="auto">
            <a:xfrm>
              <a:off x="960" y="1344"/>
              <a:ext cx="1536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108" name="Text Box 6"/>
            <p:cNvSpPr txBox="1">
              <a:spLocks noChangeArrowheads="1"/>
            </p:cNvSpPr>
            <p:nvPr/>
          </p:nvSpPr>
          <p:spPr bwMode="auto">
            <a:xfrm>
              <a:off x="1518" y="139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46109" name="Line 7"/>
            <p:cNvSpPr>
              <a:spLocks noChangeShapeType="1"/>
            </p:cNvSpPr>
            <p:nvPr/>
          </p:nvSpPr>
          <p:spPr bwMode="auto">
            <a:xfrm>
              <a:off x="720" y="159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110" name="Oval 8"/>
            <p:cNvSpPr>
              <a:spLocks noChangeArrowheads="1"/>
            </p:cNvSpPr>
            <p:nvPr/>
          </p:nvSpPr>
          <p:spPr bwMode="auto">
            <a:xfrm>
              <a:off x="2094" y="1458"/>
              <a:ext cx="264" cy="2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111" name="Oval 9"/>
            <p:cNvSpPr>
              <a:spLocks noChangeArrowheads="1"/>
            </p:cNvSpPr>
            <p:nvPr/>
          </p:nvSpPr>
          <p:spPr bwMode="auto">
            <a:xfrm>
              <a:off x="2976" y="1344"/>
              <a:ext cx="1536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112" name="Text Box 10"/>
            <p:cNvSpPr txBox="1">
              <a:spLocks noChangeArrowheads="1"/>
            </p:cNvSpPr>
            <p:nvPr/>
          </p:nvSpPr>
          <p:spPr bwMode="auto">
            <a:xfrm>
              <a:off x="3552" y="1440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46113" name="Line 11"/>
            <p:cNvSpPr>
              <a:spLocks noChangeShapeType="1"/>
            </p:cNvSpPr>
            <p:nvPr/>
          </p:nvSpPr>
          <p:spPr bwMode="auto">
            <a:xfrm flipV="1">
              <a:off x="2352" y="1584"/>
              <a:ext cx="624" cy="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46114" name="Group 12"/>
            <p:cNvGrpSpPr>
              <a:grpSpLocks/>
            </p:cNvGrpSpPr>
            <p:nvPr/>
          </p:nvGrpSpPr>
          <p:grpSpPr bwMode="auto">
            <a:xfrm>
              <a:off x="4110" y="1458"/>
              <a:ext cx="264" cy="264"/>
              <a:chOff x="2610" y="2604"/>
              <a:chExt cx="264" cy="264"/>
            </a:xfrm>
          </p:grpSpPr>
          <p:sp>
            <p:nvSpPr>
              <p:cNvPr id="46116" name="Oval 13"/>
              <p:cNvSpPr>
                <a:spLocks noChangeArrowheads="1"/>
              </p:cNvSpPr>
              <p:nvPr/>
            </p:nvSpPr>
            <p:spPr bwMode="auto">
              <a:xfrm>
                <a:off x="2646" y="2640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117" name="Oval 14"/>
              <p:cNvSpPr>
                <a:spLocks noChangeArrowheads="1"/>
              </p:cNvSpPr>
              <p:nvPr/>
            </p:nvSpPr>
            <p:spPr bwMode="auto">
              <a:xfrm>
                <a:off x="2610" y="2604"/>
                <a:ext cx="264" cy="26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115" name="Text Box 15"/>
            <p:cNvSpPr txBox="1">
              <a:spLocks noChangeArrowheads="1"/>
            </p:cNvSpPr>
            <p:nvPr/>
          </p:nvSpPr>
          <p:spPr bwMode="auto">
            <a:xfrm>
              <a:off x="2570" y="1296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46086" name="Rectangle 16"/>
          <p:cNvSpPr>
            <a:spLocks noChangeArrowheads="1"/>
          </p:cNvSpPr>
          <p:nvPr/>
        </p:nvSpPr>
        <p:spPr bwMode="auto">
          <a:xfrm>
            <a:off x="381000" y="3290887"/>
            <a:ext cx="8305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For A | B</a:t>
            </a:r>
          </a:p>
        </p:txBody>
      </p:sp>
      <p:grpSp>
        <p:nvGrpSpPr>
          <p:cNvPr id="46087" name="Group 17"/>
          <p:cNvGrpSpPr>
            <a:grpSpLocks/>
          </p:cNvGrpSpPr>
          <p:nvPr/>
        </p:nvGrpSpPr>
        <p:grpSpPr bwMode="auto">
          <a:xfrm>
            <a:off x="2994025" y="4161065"/>
            <a:ext cx="5219700" cy="1905000"/>
            <a:chOff x="912" y="2400"/>
            <a:chExt cx="3288" cy="1200"/>
          </a:xfrm>
        </p:grpSpPr>
        <p:sp>
          <p:nvSpPr>
            <p:cNvPr id="46088" name="Oval 18"/>
            <p:cNvSpPr>
              <a:spLocks noChangeArrowheads="1"/>
            </p:cNvSpPr>
            <p:nvPr/>
          </p:nvSpPr>
          <p:spPr bwMode="auto">
            <a:xfrm>
              <a:off x="1824" y="3120"/>
              <a:ext cx="1536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089" name="Text Box 19"/>
            <p:cNvSpPr txBox="1">
              <a:spLocks noChangeArrowheads="1"/>
            </p:cNvSpPr>
            <p:nvPr/>
          </p:nvSpPr>
          <p:spPr bwMode="auto">
            <a:xfrm>
              <a:off x="2382" y="317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46090" name="Line 20"/>
            <p:cNvSpPr>
              <a:spLocks noChangeShapeType="1"/>
            </p:cNvSpPr>
            <p:nvPr/>
          </p:nvSpPr>
          <p:spPr bwMode="auto">
            <a:xfrm>
              <a:off x="1536" y="3120"/>
              <a:ext cx="288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091" name="Oval 21"/>
            <p:cNvSpPr>
              <a:spLocks noChangeArrowheads="1"/>
            </p:cNvSpPr>
            <p:nvPr/>
          </p:nvSpPr>
          <p:spPr bwMode="auto">
            <a:xfrm>
              <a:off x="2958" y="3234"/>
              <a:ext cx="264" cy="2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092" name="Oval 22"/>
            <p:cNvSpPr>
              <a:spLocks noChangeArrowheads="1"/>
            </p:cNvSpPr>
            <p:nvPr/>
          </p:nvSpPr>
          <p:spPr bwMode="auto">
            <a:xfrm>
              <a:off x="1824" y="2400"/>
              <a:ext cx="1536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093" name="Text Box 23"/>
            <p:cNvSpPr txBox="1">
              <a:spLocks noChangeArrowheads="1"/>
            </p:cNvSpPr>
            <p:nvPr/>
          </p:nvSpPr>
          <p:spPr bwMode="auto">
            <a:xfrm>
              <a:off x="2400" y="24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46094" name="Line 24"/>
            <p:cNvSpPr>
              <a:spLocks noChangeShapeType="1"/>
            </p:cNvSpPr>
            <p:nvPr/>
          </p:nvSpPr>
          <p:spPr bwMode="auto">
            <a:xfrm flipV="1">
              <a:off x="3216" y="3072"/>
              <a:ext cx="768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095" name="Oval 25"/>
            <p:cNvSpPr>
              <a:spLocks noChangeArrowheads="1"/>
            </p:cNvSpPr>
            <p:nvPr/>
          </p:nvSpPr>
          <p:spPr bwMode="auto">
            <a:xfrm>
              <a:off x="2958" y="2514"/>
              <a:ext cx="264" cy="2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096" name="Text Box 26"/>
            <p:cNvSpPr txBox="1">
              <a:spLocks noChangeArrowheads="1"/>
            </p:cNvSpPr>
            <p:nvPr/>
          </p:nvSpPr>
          <p:spPr bwMode="auto">
            <a:xfrm>
              <a:off x="3504" y="2928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6097" name="Oval 27"/>
            <p:cNvSpPr>
              <a:spLocks noChangeArrowheads="1"/>
            </p:cNvSpPr>
            <p:nvPr/>
          </p:nvSpPr>
          <p:spPr bwMode="auto">
            <a:xfrm>
              <a:off x="1296" y="2880"/>
              <a:ext cx="264" cy="2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098" name="Line 28"/>
            <p:cNvSpPr>
              <a:spLocks noChangeShapeType="1"/>
            </p:cNvSpPr>
            <p:nvPr/>
          </p:nvSpPr>
          <p:spPr bwMode="auto">
            <a:xfrm flipV="1">
              <a:off x="1536" y="2688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099" name="Line 29"/>
            <p:cNvSpPr>
              <a:spLocks noChangeShapeType="1"/>
            </p:cNvSpPr>
            <p:nvPr/>
          </p:nvSpPr>
          <p:spPr bwMode="auto">
            <a:xfrm flipV="1">
              <a:off x="912" y="30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100" name="Text Box 30"/>
            <p:cNvSpPr txBox="1">
              <a:spLocks noChangeArrowheads="1"/>
            </p:cNvSpPr>
            <p:nvPr/>
          </p:nvSpPr>
          <p:spPr bwMode="auto">
            <a:xfrm>
              <a:off x="1536" y="2592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6101" name="Text Box 31"/>
            <p:cNvSpPr txBox="1">
              <a:spLocks noChangeArrowheads="1"/>
            </p:cNvSpPr>
            <p:nvPr/>
          </p:nvSpPr>
          <p:spPr bwMode="auto">
            <a:xfrm>
              <a:off x="1536" y="3120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grpSp>
          <p:nvGrpSpPr>
            <p:cNvPr id="46102" name="Group 32"/>
            <p:cNvGrpSpPr>
              <a:grpSpLocks/>
            </p:cNvGrpSpPr>
            <p:nvPr/>
          </p:nvGrpSpPr>
          <p:grpSpPr bwMode="auto">
            <a:xfrm>
              <a:off x="3936" y="2832"/>
              <a:ext cx="264" cy="264"/>
              <a:chOff x="2610" y="2604"/>
              <a:chExt cx="264" cy="264"/>
            </a:xfrm>
          </p:grpSpPr>
          <p:sp>
            <p:nvSpPr>
              <p:cNvPr id="46105" name="Oval 33"/>
              <p:cNvSpPr>
                <a:spLocks noChangeArrowheads="1"/>
              </p:cNvSpPr>
              <p:nvPr/>
            </p:nvSpPr>
            <p:spPr bwMode="auto">
              <a:xfrm>
                <a:off x="2646" y="2640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6106" name="Oval 34"/>
              <p:cNvSpPr>
                <a:spLocks noChangeArrowheads="1"/>
              </p:cNvSpPr>
              <p:nvPr/>
            </p:nvSpPr>
            <p:spPr bwMode="auto">
              <a:xfrm>
                <a:off x="2610" y="2604"/>
                <a:ext cx="264" cy="26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103" name="Line 35"/>
            <p:cNvSpPr>
              <a:spLocks noChangeShapeType="1"/>
            </p:cNvSpPr>
            <p:nvPr/>
          </p:nvSpPr>
          <p:spPr bwMode="auto">
            <a:xfrm>
              <a:off x="3216" y="2688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104" name="Text Box 36"/>
            <p:cNvSpPr txBox="1">
              <a:spLocks noChangeArrowheads="1"/>
            </p:cNvSpPr>
            <p:nvPr/>
          </p:nvSpPr>
          <p:spPr bwMode="auto">
            <a:xfrm>
              <a:off x="3552" y="2544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654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" y="194469"/>
            <a:ext cx="8229600" cy="513556"/>
          </a:xfrm>
        </p:spPr>
        <p:txBody>
          <a:bodyPr/>
          <a:lstStyle/>
          <a:p>
            <a:r>
              <a:rPr lang="en-US" altLang="en-US" sz="3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Regular Expressions to NFA : Examples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331913"/>
            <a:ext cx="8305800" cy="6096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en-US" dirty="0" smtClean="0"/>
              <a:t>For A*</a:t>
            </a:r>
          </a:p>
        </p:txBody>
      </p:sp>
      <p:sp>
        <p:nvSpPr>
          <p:cNvPr id="47109" name="Oval 4"/>
          <p:cNvSpPr>
            <a:spLocks noChangeArrowheads="1"/>
          </p:cNvSpPr>
          <p:nvPr/>
        </p:nvSpPr>
        <p:spPr bwMode="auto">
          <a:xfrm>
            <a:off x="4762500" y="3033713"/>
            <a:ext cx="24384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110" name="Text Box 5"/>
          <p:cNvSpPr txBox="1">
            <a:spLocks noChangeArrowheads="1"/>
          </p:cNvSpPr>
          <p:nvPr/>
        </p:nvSpPr>
        <p:spPr bwMode="auto">
          <a:xfrm>
            <a:off x="5648326" y="311943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7111" name="Line 6"/>
          <p:cNvSpPr>
            <a:spLocks noChangeShapeType="1"/>
          </p:cNvSpPr>
          <p:nvPr/>
        </p:nvSpPr>
        <p:spPr bwMode="auto">
          <a:xfrm>
            <a:off x="4229100" y="341471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112" name="Oval 7"/>
          <p:cNvSpPr>
            <a:spLocks noChangeArrowheads="1"/>
          </p:cNvSpPr>
          <p:nvPr/>
        </p:nvSpPr>
        <p:spPr bwMode="auto">
          <a:xfrm>
            <a:off x="6562725" y="3186113"/>
            <a:ext cx="419100" cy="4191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113" name="Oval 8"/>
          <p:cNvSpPr>
            <a:spLocks noChangeArrowheads="1"/>
          </p:cNvSpPr>
          <p:nvPr/>
        </p:nvSpPr>
        <p:spPr bwMode="auto">
          <a:xfrm>
            <a:off x="3771900" y="3186113"/>
            <a:ext cx="419100" cy="4191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114" name="Line 9"/>
          <p:cNvSpPr>
            <a:spLocks noChangeShapeType="1"/>
          </p:cNvSpPr>
          <p:nvPr/>
        </p:nvSpPr>
        <p:spPr bwMode="auto">
          <a:xfrm flipV="1">
            <a:off x="3162300" y="34147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115" name="Text Box 10"/>
          <p:cNvSpPr txBox="1">
            <a:spLocks noChangeArrowheads="1"/>
          </p:cNvSpPr>
          <p:nvPr/>
        </p:nvSpPr>
        <p:spPr bwMode="auto">
          <a:xfrm>
            <a:off x="4305301" y="3262313"/>
            <a:ext cx="33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</a:p>
        </p:txBody>
      </p:sp>
      <p:grpSp>
        <p:nvGrpSpPr>
          <p:cNvPr id="47116" name="Group 11"/>
          <p:cNvGrpSpPr>
            <a:grpSpLocks/>
          </p:cNvGrpSpPr>
          <p:nvPr/>
        </p:nvGrpSpPr>
        <p:grpSpPr bwMode="auto">
          <a:xfrm>
            <a:off x="7886700" y="3186113"/>
            <a:ext cx="419100" cy="419100"/>
            <a:chOff x="2610" y="2604"/>
            <a:chExt cx="264" cy="264"/>
          </a:xfrm>
        </p:grpSpPr>
        <p:sp>
          <p:nvSpPr>
            <p:cNvPr id="47121" name="Oval 12"/>
            <p:cNvSpPr>
              <a:spLocks noChangeArrowheads="1"/>
            </p:cNvSpPr>
            <p:nvPr/>
          </p:nvSpPr>
          <p:spPr bwMode="auto">
            <a:xfrm>
              <a:off x="2646" y="26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7122" name="Oval 13"/>
            <p:cNvSpPr>
              <a:spLocks noChangeArrowheads="1"/>
            </p:cNvSpPr>
            <p:nvPr/>
          </p:nvSpPr>
          <p:spPr bwMode="auto">
            <a:xfrm>
              <a:off x="2610" y="2604"/>
              <a:ext cx="264" cy="2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7117" name="Freeform 14"/>
          <p:cNvSpPr>
            <a:spLocks/>
          </p:cNvSpPr>
          <p:nvPr/>
        </p:nvSpPr>
        <p:spPr bwMode="auto">
          <a:xfrm>
            <a:off x="4094164" y="3573463"/>
            <a:ext cx="3944937" cy="831850"/>
          </a:xfrm>
          <a:custGeom>
            <a:avLst/>
            <a:gdLst>
              <a:gd name="T0" fmla="*/ 0 w 2485"/>
              <a:gd name="T1" fmla="*/ 16 h 524"/>
              <a:gd name="T2" fmla="*/ 373 w 2485"/>
              <a:gd name="T3" fmla="*/ 367 h 524"/>
              <a:gd name="T4" fmla="*/ 1333 w 2485"/>
              <a:gd name="T5" fmla="*/ 524 h 524"/>
              <a:gd name="T6" fmla="*/ 2101 w 2485"/>
              <a:gd name="T7" fmla="*/ 367 h 524"/>
              <a:gd name="T8" fmla="*/ 2485 w 2485"/>
              <a:gd name="T9" fmla="*/ 0 h 5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85"/>
              <a:gd name="T16" fmla="*/ 0 h 524"/>
              <a:gd name="T17" fmla="*/ 2485 w 2485"/>
              <a:gd name="T18" fmla="*/ 524 h 5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85" h="524">
                <a:moveTo>
                  <a:pt x="0" y="16"/>
                </a:moveTo>
                <a:cubicBezTo>
                  <a:pt x="63" y="74"/>
                  <a:pt x="151" y="282"/>
                  <a:pt x="373" y="367"/>
                </a:cubicBezTo>
                <a:cubicBezTo>
                  <a:pt x="595" y="452"/>
                  <a:pt x="1045" y="524"/>
                  <a:pt x="1333" y="524"/>
                </a:cubicBezTo>
                <a:cubicBezTo>
                  <a:pt x="1621" y="524"/>
                  <a:pt x="1909" y="454"/>
                  <a:pt x="2101" y="367"/>
                </a:cubicBezTo>
                <a:cubicBezTo>
                  <a:pt x="2293" y="280"/>
                  <a:pt x="2389" y="140"/>
                  <a:pt x="2485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118" name="Text Box 15"/>
          <p:cNvSpPr txBox="1">
            <a:spLocks noChangeArrowheads="1"/>
          </p:cNvSpPr>
          <p:nvPr/>
        </p:nvSpPr>
        <p:spPr bwMode="auto">
          <a:xfrm>
            <a:off x="5946776" y="4252913"/>
            <a:ext cx="33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7119" name="Freeform 16"/>
          <p:cNvSpPr>
            <a:spLocks/>
          </p:cNvSpPr>
          <p:nvPr/>
        </p:nvSpPr>
        <p:spPr bwMode="auto">
          <a:xfrm>
            <a:off x="4076700" y="2474913"/>
            <a:ext cx="3263900" cy="863600"/>
          </a:xfrm>
          <a:custGeom>
            <a:avLst/>
            <a:gdLst>
              <a:gd name="T0" fmla="*/ 1824 w 2056"/>
              <a:gd name="T1" fmla="*/ 544 h 544"/>
              <a:gd name="T2" fmla="*/ 2016 w 2056"/>
              <a:gd name="T3" fmla="*/ 304 h 544"/>
              <a:gd name="T4" fmla="*/ 1584 w 2056"/>
              <a:gd name="T5" fmla="*/ 64 h 544"/>
              <a:gd name="T6" fmla="*/ 432 w 2056"/>
              <a:gd name="T7" fmla="*/ 64 h 544"/>
              <a:gd name="T8" fmla="*/ 0 w 2056"/>
              <a:gd name="T9" fmla="*/ 448 h 5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6"/>
              <a:gd name="T16" fmla="*/ 0 h 544"/>
              <a:gd name="T17" fmla="*/ 2056 w 2056"/>
              <a:gd name="T18" fmla="*/ 544 h 5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6" h="544">
                <a:moveTo>
                  <a:pt x="1824" y="544"/>
                </a:moveTo>
                <a:cubicBezTo>
                  <a:pt x="1940" y="464"/>
                  <a:pt x="2056" y="384"/>
                  <a:pt x="2016" y="304"/>
                </a:cubicBezTo>
                <a:cubicBezTo>
                  <a:pt x="1976" y="224"/>
                  <a:pt x="1848" y="104"/>
                  <a:pt x="1584" y="64"/>
                </a:cubicBezTo>
                <a:cubicBezTo>
                  <a:pt x="1320" y="24"/>
                  <a:pt x="696" y="0"/>
                  <a:pt x="432" y="64"/>
                </a:cubicBezTo>
                <a:cubicBezTo>
                  <a:pt x="168" y="128"/>
                  <a:pt x="84" y="288"/>
                  <a:pt x="0" y="4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120" name="Text Box 17"/>
          <p:cNvSpPr txBox="1">
            <a:spLocks noChangeArrowheads="1"/>
          </p:cNvSpPr>
          <p:nvPr/>
        </p:nvSpPr>
        <p:spPr bwMode="auto">
          <a:xfrm>
            <a:off x="5448301" y="2133601"/>
            <a:ext cx="339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</a:p>
        </p:txBody>
      </p:sp>
    </p:spTree>
    <p:extLst>
      <p:ext uri="{BB962C8B-B14F-4D97-AF65-F5344CB8AC3E}">
        <p14:creationId xmlns:p14="http://schemas.microsoft.com/office/powerpoint/2010/main" val="86551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38897" y="-277704"/>
            <a:ext cx="10972800" cy="1143000"/>
          </a:xfrm>
        </p:spPr>
        <p:txBody>
          <a:bodyPr/>
          <a:lstStyle/>
          <a:p>
            <a:r>
              <a:rPr lang="en-US" altLang="en-US" sz="3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NFA for the closure of a regular expression</a:t>
            </a:r>
          </a:p>
        </p:txBody>
      </p:sp>
      <p:pic>
        <p:nvPicPr>
          <p:cNvPr id="778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5"/>
          <a:stretch>
            <a:fillRect/>
          </a:stretch>
        </p:blipFill>
        <p:spPr bwMode="auto">
          <a:xfrm>
            <a:off x="1992313" y="1484314"/>
            <a:ext cx="4895850" cy="237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78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7"/>
          <a:stretch>
            <a:fillRect/>
          </a:stretch>
        </p:blipFill>
        <p:spPr bwMode="auto">
          <a:xfrm>
            <a:off x="5448300" y="3357563"/>
            <a:ext cx="5111750" cy="290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2566989" y="4292601"/>
            <a:ext cx="2376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(a|b)*</a:t>
            </a:r>
          </a:p>
        </p:txBody>
      </p:sp>
      <p:pic>
        <p:nvPicPr>
          <p:cNvPr id="778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564" y="6156326"/>
            <a:ext cx="206375" cy="22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736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245713" y="2021592"/>
            <a:ext cx="249928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a|b</a:t>
            </a: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)*</a:t>
            </a:r>
            <a:r>
              <a:rPr kumimoji="0" lang="en-US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abb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A*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 | 0)*1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 | 1 (0 | 1)*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97709" y="-430897"/>
            <a:ext cx="10972800" cy="1143000"/>
          </a:xfrm>
        </p:spPr>
        <p:txBody>
          <a:bodyPr/>
          <a:lstStyle/>
          <a:p>
            <a:r>
              <a:rPr lang="en-US" altLang="en-US" sz="3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 to NFA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11" y="1062681"/>
            <a:ext cx="5346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Consider the regular expression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362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771</Words>
  <Application>Microsoft Office PowerPoint</Application>
  <PresentationFormat>Widescreen</PresentationFormat>
  <Paragraphs>193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Comic Sans MS</vt:lpstr>
      <vt:lpstr>Constantia</vt:lpstr>
      <vt:lpstr>Symbol</vt:lpstr>
      <vt:lpstr>Times New Roman</vt:lpstr>
      <vt:lpstr>Wingdings</vt:lpstr>
      <vt:lpstr>Wingdings 2</vt:lpstr>
      <vt:lpstr>Flow</vt:lpstr>
      <vt:lpstr>PowerPoint Presentation</vt:lpstr>
      <vt:lpstr>Finite Automata</vt:lpstr>
      <vt:lpstr>PowerPoint Presentation</vt:lpstr>
      <vt:lpstr>A Finite Automaton…</vt:lpstr>
      <vt:lpstr>Finite Automata</vt:lpstr>
      <vt:lpstr>Finite Automata State Graphs</vt:lpstr>
      <vt:lpstr>A Simple Example</vt:lpstr>
      <vt:lpstr>Representing Finite Automata</vt:lpstr>
      <vt:lpstr>Simple Example</vt:lpstr>
      <vt:lpstr>PowerPoint Presentation</vt:lpstr>
      <vt:lpstr>Another Example</vt:lpstr>
      <vt:lpstr>Deterministic and Nondeterministic Automata</vt:lpstr>
      <vt:lpstr>Execution of Finite Automata</vt:lpstr>
      <vt:lpstr>PowerPoint Presentation</vt:lpstr>
      <vt:lpstr>Acceptance of NFAs</vt:lpstr>
      <vt:lpstr>Algorithm: The McNaughton-Yamada-Thompson algorithm to                     convert a  regular expression to a NFA.</vt:lpstr>
      <vt:lpstr>RE to NFA (cont.)</vt:lpstr>
      <vt:lpstr>Regular Expressions to NFA : Examples</vt:lpstr>
      <vt:lpstr>Regular Expressions to NFA : Examples</vt:lpstr>
      <vt:lpstr>NFA for the closure of a regular expression</vt:lpstr>
      <vt:lpstr>RE to NFA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Barathy</dc:creator>
  <cp:lastModifiedBy>Barathy</cp:lastModifiedBy>
  <cp:revision>1</cp:revision>
  <dcterms:created xsi:type="dcterms:W3CDTF">2021-07-02T06:33:54Z</dcterms:created>
  <dcterms:modified xsi:type="dcterms:W3CDTF">2021-07-02T06:35:05Z</dcterms:modified>
</cp:coreProperties>
</file>